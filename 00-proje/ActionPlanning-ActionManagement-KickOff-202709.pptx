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  <p:sldMasterId id="2147483660" r:id="rId3"/>
  </p:sldMasterIdLst>
  <p:notesMasterIdLst>
    <p:notesMasterId r:id="rId20"/>
  </p:notesMasterIdLst>
  <p:sldIdLst>
    <p:sldId id="256" r:id="rId4"/>
    <p:sldId id="257" r:id="rId5"/>
    <p:sldId id="259" r:id="rId6"/>
    <p:sldId id="258" r:id="rId7"/>
    <p:sldId id="294" r:id="rId8"/>
    <p:sldId id="261" r:id="rId9"/>
    <p:sldId id="295" r:id="rId10"/>
    <p:sldId id="306" r:id="rId11"/>
    <p:sldId id="307" r:id="rId12"/>
    <p:sldId id="309" r:id="rId13"/>
    <p:sldId id="310" r:id="rId14"/>
    <p:sldId id="311" r:id="rId15"/>
    <p:sldId id="312" r:id="rId16"/>
    <p:sldId id="313" r:id="rId17"/>
    <p:sldId id="308" r:id="rId18"/>
    <p:sldId id="290" r:id="rId19"/>
  </p:sldIdLst>
  <p:sldSz cx="12192000" cy="6858000"/>
  <p:notesSz cx="6858000" cy="9144000"/>
  <p:custDataLst>
    <p:tags r:id="rId21"/>
  </p:custData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D7DF"/>
    <a:srgbClr val="34C1D2"/>
    <a:srgbClr val="0165B6"/>
    <a:srgbClr val="905D49"/>
    <a:srgbClr val="DE3B5D"/>
    <a:srgbClr val="049FFE"/>
    <a:srgbClr val="16305D"/>
    <a:srgbClr val="425881"/>
    <a:srgbClr val="215F9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262422958780213E-2"/>
          <c:y val="0.24790190479143057"/>
          <c:w val="0.98756929239303637"/>
          <c:h val="0.71907326217154166"/>
        </c:manualLayout>
      </c:layout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flip="none" rotWithShape="1">
              <a:gsLst>
                <a:gs pos="0">
                  <a:schemeClr val="accent4">
                    <a:lumMod val="20000"/>
                    <a:lumOff val="80000"/>
                    <a:alpha val="37000"/>
                  </a:schemeClr>
                </a:gs>
                <a:gs pos="48000">
                  <a:schemeClr val="accent1">
                    <a:lumMod val="20000"/>
                    <a:lumOff val="80000"/>
                    <a:alpha val="28000"/>
                  </a:schemeClr>
                </a:gs>
                <a:gs pos="100000">
                  <a:schemeClr val="accent1">
                    <a:lumMod val="60000"/>
                    <a:lumOff val="40000"/>
                    <a:alpha val="26000"/>
                  </a:schemeClr>
                </a:gs>
              </a:gsLst>
              <a:lin ang="10800000" scaled="1"/>
              <a:tileRect/>
            </a:gradFill>
            <a:ln w="25400">
              <a:noFill/>
            </a:ln>
            <a:effectLst/>
          </c:spPr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0.2</c:v>
                </c:pt>
                <c:pt idx="2">
                  <c:v>0.8</c:v>
                </c:pt>
                <c:pt idx="3">
                  <c:v>0.8</c:v>
                </c:pt>
                <c:pt idx="4">
                  <c:v>1</c:v>
                </c:pt>
                <c:pt idx="5">
                  <c:v>1.5</c:v>
                </c:pt>
                <c:pt idx="6">
                  <c:v>2.5</c:v>
                </c:pt>
                <c:pt idx="7">
                  <c:v>2.8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96-4E9F-BE0D-DF139397E0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5528288"/>
        <c:axId val="1795529248"/>
      </c:areaChart>
      <c:lineChart>
        <c:grouping val="stacked"/>
        <c:varyColors val="0"/>
        <c:ser>
          <c:idx val="0"/>
          <c:order val="0"/>
          <c:tx>
            <c:strRef>
              <c:f>Sheet1!$B$1:$C$1</c:f>
              <c:strCache>
                <c:ptCount val="1"/>
                <c:pt idx="0">
                  <c:v>Series 1 Series 2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2"/>
            <c:spPr>
              <a:gradFill flip="none" rotWithShape="1"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 w="0">
                <a:solidFill>
                  <a:schemeClr val="accent1">
                    <a:alpha val="50000"/>
                  </a:schemeClr>
                </a:solidFill>
              </a:ln>
              <a:effectLst/>
            </c:spPr>
          </c:marker>
          <c:cat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0.2</c:v>
                </c:pt>
                <c:pt idx="2">
                  <c:v>0.8</c:v>
                </c:pt>
                <c:pt idx="3">
                  <c:v>0.8</c:v>
                </c:pt>
                <c:pt idx="4">
                  <c:v>1</c:v>
                </c:pt>
                <c:pt idx="5">
                  <c:v>1.5</c:v>
                </c:pt>
                <c:pt idx="6">
                  <c:v>2.5</c:v>
                </c:pt>
                <c:pt idx="7">
                  <c:v>2.8</c:v>
                </c:pt>
                <c:pt idx="8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96-4E9F-BE0D-DF139397E0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95528288"/>
        <c:axId val="1795529248"/>
      </c:lineChart>
      <c:catAx>
        <c:axId val="17955282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95529248"/>
        <c:crosses val="autoZero"/>
        <c:auto val="1"/>
        <c:lblAlgn val="ctr"/>
        <c:lblOffset val="100"/>
        <c:noMultiLvlLbl val="0"/>
      </c:catAx>
      <c:valAx>
        <c:axId val="1795529248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79552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981979010613911"/>
          <c:y val="0.21959482802814673"/>
          <c:w val="0.98756929239303637"/>
          <c:h val="0.71907326217154166"/>
        </c:manualLayout>
      </c:layout>
      <c:doughnutChart>
        <c:varyColors val="1"/>
        <c:ser>
          <c:idx val="0"/>
          <c:order val="0"/>
          <c:spPr>
            <a:solidFill>
              <a:schemeClr val="tx2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explosion val="10"/>
          <c:dPt>
            <c:idx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3E7-4804-8B45-E41322C661DA}"/>
              </c:ext>
            </c:extLst>
          </c:dPt>
          <c:dPt>
            <c:idx val="1"/>
            <c:bubble3D val="0"/>
            <c:explosion val="2"/>
            <c:spPr>
              <a:solidFill>
                <a:schemeClr val="tx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0-33E7-4804-8B45-E41322C661DA}"/>
              </c:ext>
            </c:extLst>
          </c:dPt>
          <c:val>
            <c:numRef>
              <c:f>Sheet1!$G$2:$G$3</c:f>
              <c:numCache>
                <c:formatCode>0%</c:formatCode>
                <c:ptCount val="2"/>
                <c:pt idx="0">
                  <c:v>0.64</c:v>
                </c:pt>
                <c:pt idx="1">
                  <c:v>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96-4E9F-BE0D-DF139397E0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3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8756929239303637"/>
          <c:h val="0.973614778784246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Sheet1!$E$2</c:f>
              <c:strCache>
                <c:ptCount val="1"/>
                <c:pt idx="0">
                  <c:v>8</c:v>
                </c:pt>
              </c:strCache>
            </c:strRef>
          </c:tx>
          <c:spPr>
            <a:gradFill>
              <a:gsLst>
                <a:gs pos="0">
                  <a:schemeClr val="accent4">
                    <a:lumMod val="40000"/>
                    <a:lumOff val="60000"/>
                  </a:schemeClr>
                </a:gs>
                <a:gs pos="0">
                  <a:schemeClr val="accent4">
                    <a:lumMod val="95000"/>
                    <a:lumOff val="5000"/>
                    <a:alpha val="77000"/>
                  </a:schemeClr>
                </a:gs>
                <a:gs pos="100000">
                  <a:schemeClr val="accent4">
                    <a:lumMod val="60000"/>
                  </a:schemeClr>
                </a:gs>
              </a:gsLst>
              <a:lin ang="0" scaled="1"/>
            </a:gradFill>
            <a:ln>
              <a:noFill/>
            </a:ln>
            <a:effectLst/>
          </c:spPr>
          <c:invertIfNegative val="0"/>
          <c:val>
            <c:numRef>
              <c:f>Sheet1!$E$3:$E$10</c:f>
              <c:numCache>
                <c:formatCode>General</c:formatCode>
                <c:ptCount val="8"/>
                <c:pt idx="0">
                  <c:v>11.313708498984759</c:v>
                </c:pt>
                <c:pt idx="1">
                  <c:v>16</c:v>
                </c:pt>
                <c:pt idx="2">
                  <c:v>22.627416997969519</c:v>
                </c:pt>
                <c:pt idx="3">
                  <c:v>32</c:v>
                </c:pt>
                <c:pt idx="4">
                  <c:v>45.254833995939045</c:v>
                </c:pt>
                <c:pt idx="5">
                  <c:v>64</c:v>
                </c:pt>
                <c:pt idx="6">
                  <c:v>90.509667991878061</c:v>
                </c:pt>
                <c:pt idx="7">
                  <c:v>128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96-4E9F-BE0D-DF139397E0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"/>
        <c:axId val="1795528288"/>
        <c:axId val="1795529248"/>
      </c:barChart>
      <c:catAx>
        <c:axId val="17955282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95529248"/>
        <c:crosses val="autoZero"/>
        <c:auto val="1"/>
        <c:lblAlgn val="ctr"/>
        <c:lblOffset val="100"/>
        <c:noMultiLvlLbl val="0"/>
      </c:catAx>
      <c:valAx>
        <c:axId val="1795529248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79552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53073237380441E-3"/>
          <c:y val="5.5012410279956854E-2"/>
          <c:w val="0.38041665106964379"/>
          <c:h val="0.93912248708074675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>
                  <a:tint val="54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26F-470D-80AA-10524805A9A1}"/>
              </c:ext>
            </c:extLst>
          </c:dPt>
          <c:dPt>
            <c:idx val="1"/>
            <c:bubble3D val="0"/>
            <c:spPr>
              <a:solidFill>
                <a:schemeClr val="accent1">
                  <a:tint val="7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26F-470D-80AA-10524805A9A1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26F-470D-80AA-10524805A9A1}"/>
              </c:ext>
            </c:extLst>
          </c:dPt>
          <c:dPt>
            <c:idx val="3"/>
            <c:bubble3D val="0"/>
            <c:spPr>
              <a:solidFill>
                <a:schemeClr val="accent1">
                  <a:shade val="7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26F-470D-80AA-10524805A9A1}"/>
              </c:ext>
            </c:extLst>
          </c:dPt>
          <c:dPt>
            <c:idx val="4"/>
            <c:bubble3D val="0"/>
            <c:spPr>
              <a:solidFill>
                <a:schemeClr val="accent1">
                  <a:shade val="5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26F-470D-80AA-10524805A9A1}"/>
              </c:ext>
            </c:extLst>
          </c:dPt>
          <c:cat>
            <c:strRef>
              <c:f>Sheet1!$G$2:$G$6</c:f>
              <c:strCache>
                <c:ptCount val="5"/>
                <c:pt idx="0">
                  <c:v>Perakende</c:v>
                </c:pt>
                <c:pt idx="1">
                  <c:v>Diğer Servisler</c:v>
                </c:pt>
                <c:pt idx="2">
                  <c:v>Ulaşım</c:v>
                </c:pt>
                <c:pt idx="3">
                  <c:v>Gayrimenkul</c:v>
                </c:pt>
                <c:pt idx="4">
                  <c:v>Diğer</c:v>
                </c:pt>
              </c:strCache>
            </c: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120</c:v>
                </c:pt>
                <c:pt idx="1">
                  <c:v>65</c:v>
                </c:pt>
                <c:pt idx="2">
                  <c:v>60</c:v>
                </c:pt>
                <c:pt idx="3">
                  <c:v>57</c:v>
                </c:pt>
                <c:pt idx="4">
                  <c:v>318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D9-4C52-A924-C4B6F6CB85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65907-E777-4E7C-8915-129A641ADA1A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FCD38-CC0C-4C6F-8A3D-34C9AAC3048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558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FCD38-CC0C-4C6F-8A3D-34C9AAC30489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791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0593D4-B878-40E4-B7D8-754377B246B4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689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0593D4-B878-40E4-B7D8-754377B246B4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790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0593D4-B878-40E4-B7D8-754377B246B4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6870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0593D4-B878-40E4-B7D8-754377B246B4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619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0593D4-B878-40E4-B7D8-754377B246B4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8656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0593D4-B878-40E4-B7D8-754377B246B4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6996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0593D4-B878-40E4-B7D8-754377B246B4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5869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0593D4-B878-40E4-B7D8-754377B246B4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1039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CA3E-D984-055C-DF60-367BF1F189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32AAEE-2955-B3D7-0FE0-59F9888AA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3D095-F14C-6C49-9235-E3EACB628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49628-9A2F-4B0E-8D42-51669D86E645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5BBC4-2E40-00DF-08A9-B5E90921C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1171F-5C52-75B9-F875-F2B7B963D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9F08-9A46-4493-98F7-EC00F778F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200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50D42-342A-4F1D-90DF-FB3872D5C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618C4-E7A0-76AD-1B6E-3F759B290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0E434-0B70-5DAB-AEBC-F0CF81734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49628-9A2F-4B0E-8D42-51669D86E645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32B65-417A-60C9-04BD-FB0B04147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18B93-3C78-6AC3-D211-3C20AC51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9F08-9A46-4493-98F7-EC00F778F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5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A760-C36E-A95A-CDA8-D6AA2BC1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322AC-2D0C-7E65-911D-A9FADCC32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DDF01-5D47-02DF-4999-D7B0510A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49628-9A2F-4B0E-8D42-51669D86E645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907FC-8FC8-6CD4-9E7C-88375907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BB7E2-A5EE-0842-6EA5-C7DF3BA1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9F08-9A46-4493-98F7-EC00F778F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53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769B7-0369-531F-5DF4-0B3E4D79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2BA4B-95E9-FA34-3829-664941328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53325-C230-3C3B-6A38-7F7DDD9D7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9DDF7-B590-D439-3FDF-8AFEEA06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49628-9A2F-4B0E-8D42-51669D86E645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59289-FDBB-983F-F233-11146D98A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F0E55-E388-E612-4B5F-C249221B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9F08-9A46-4493-98F7-EC00F778F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11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E6B27-70B9-C698-1531-E721A1D6C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8CCA0-D00E-C6D4-14E5-873CFC569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41659-08EA-8FF5-7949-946C4B4BF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9F217F-1FDC-60B5-9FCD-13BA7D47E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CBE8F4-C2C5-5341-2EE6-E6AD73335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A11C1-730F-90E5-9326-91BF8672F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49628-9A2F-4B0E-8D42-51669D86E645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D3394F-6759-D2A5-3E41-64702B9FF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99D792-0AF3-47E0-909B-57D4A85F9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9F08-9A46-4493-98F7-EC00F778F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7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6F0B-74E9-9AC8-EE96-1C2F48D5D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7D684F-55DB-35A7-96F1-BB93027AE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49628-9A2F-4B0E-8D42-51669D86E645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A67B72-C15D-B4A2-8851-EF0600E9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FE7E7-5A27-9CA3-0DCE-92CA81CA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9F08-9A46-4493-98F7-EC00F778F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933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00E1D-6D3E-CBA8-DC08-CA27F9FB9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49628-9A2F-4B0E-8D42-51669D86E645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B14C2-8B5A-F565-D828-18F070721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319B7-B8B8-3720-66DA-F2C89D46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9F08-9A46-4493-98F7-EC00F778F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22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C767-526B-3113-C978-97064386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5F2D0-9484-CC71-98DB-346B89A07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6CFB-FCA4-F8C5-8118-1D29B2835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58DAC-82FE-9D43-8117-6CDF5C64F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49628-9A2F-4B0E-8D42-51669D86E645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475DB-80C7-151F-7E2A-536B44A9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7E1E5-585F-9FF2-F0A6-634AEE3F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9F08-9A46-4493-98F7-EC00F778F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064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D5A0F-9B9C-8229-3F27-DCE252F8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C1A6E0-958E-885B-583F-55F9D7016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AFD97-E74C-F7E2-B3FB-9D50AF3F5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4A649-B916-75CE-2F38-CFF558F88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49628-9A2F-4B0E-8D42-51669D86E645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31EC7-2818-4A76-E542-7D2269E90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1EC20-515B-888A-E89E-ABBC889B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9F08-9A46-4493-98F7-EC00F778F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3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861C5-2BF3-8B91-8EAE-7C8B523E9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ABAF5-8646-7712-3A0B-96C880A02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508D3-7581-C27D-0689-81A32E4A9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49628-9A2F-4B0E-8D42-51669D86E645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3BE1E-F2B2-926E-913C-6CE12C685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5EE1C-7A21-A379-FC55-FBA418C4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9F08-9A46-4493-98F7-EC00F778F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39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8BD7A-16AE-D202-CE83-DB34D06DB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38C6D-480D-7B25-0137-3F9B40F28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ABD1B-ABD1-DD51-ABFE-765764225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49628-9A2F-4B0E-8D42-51669D86E645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85636-B8AF-D0FD-F713-7BDF30E78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7C8ED-0274-56E3-4F8F-9E489261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D9F08-9A46-4493-98F7-EC00F778F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237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8CF1-D55A-3CD6-BF39-598E59072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8309F-6E72-535A-FFEA-07EB73C8A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40941-D07A-FA43-6012-019DC2D13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0D22-8DA0-40DC-9DC9-29C98228F662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E4FE0-6902-05BD-6F28-B453E87C4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74A68-8C84-8736-AC50-8C5E1948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A973-91FC-4CB0-8B4A-0CCE0F3100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4974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448C-E053-B6A4-FB92-994AF711E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18A3F-275B-4605-CEBC-99CAACFAB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3E0E7-CF54-F86C-2450-2DC58F462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0D22-8DA0-40DC-9DC9-29C98228F662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BB98B-C8F7-9D34-FF09-1465D609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5717F-6669-94E4-E6B7-61DF68D0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A973-91FC-4CB0-8B4A-0CCE0F3100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1754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A8BE-CAD5-B05D-5A79-0AE555D36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0B453-D095-C97F-F372-993BB038A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C5699-22D9-B05F-880A-3AD754C0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0D22-8DA0-40DC-9DC9-29C98228F662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FE2A0-027C-7D14-73C8-B6F8EC44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7552C-882A-5C6E-E5EC-686959A8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A973-91FC-4CB0-8B4A-0CCE0F3100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9591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680C-836A-A9F3-028C-949AEF8AE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8AC3F-E657-2E27-871A-8D4224EE7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F5D03-759A-EE9F-8567-AF0D1AAA4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C66D1-EF55-2A89-3080-C6736E5D4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0D22-8DA0-40DC-9DC9-29C98228F662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1630D-BA32-3DE3-7477-03B1C4D24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C5AEC-BAEB-8D87-5032-2374E3D1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A973-91FC-4CB0-8B4A-0CCE0F3100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3755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CC46B-B207-7D3F-7C81-91F0806B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501B1-AE2B-606A-9642-0978B5B62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4EB05-8F28-80D2-C67A-97DA56854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FDBE5-2AC4-7F53-9175-83A7B8E4A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35C7D0-71C6-CF64-4FCB-EF0775F72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A4D64E-0EE1-0849-C907-BCC8A46E2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0D22-8DA0-40DC-9DC9-29C98228F662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71181-3D5A-ED1F-2F72-DF859FEF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EB8594-9014-7521-AA29-89FEA8D1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A973-91FC-4CB0-8B4A-0CCE0F3100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0998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1F37-9263-B0AF-DDFF-B893587B0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7A956-544A-3EFC-EE96-664AAA7D1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0D22-8DA0-40DC-9DC9-29C98228F662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37ABD-1CBA-D78F-3ACC-35CDD3F86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E3BDB-A10E-100E-FD38-C39D9604B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A973-91FC-4CB0-8B4A-0CCE0F3100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6134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2BE91-A1FD-2324-3555-03645BEA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0D22-8DA0-40DC-9DC9-29C98228F662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079DBB-CA3F-D510-829C-2E59486BA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87688-2AA9-8CA2-3E89-355FF5943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A973-91FC-4CB0-8B4A-0CCE0F3100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96317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08A7-94BB-D769-7B1E-67B2AEEA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E74EB-16D0-591D-5982-5803C347C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BFA45-F067-DF44-48AE-7BD37C771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1A475-7209-A1FA-5BE6-C80C1924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0D22-8DA0-40DC-9DC9-29C98228F662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AE7DE-85C6-5BE4-4312-2AD76AA9A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CA508-8FBD-8344-4FA2-F0B612B8B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A973-91FC-4CB0-8B4A-0CCE0F3100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7334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C2B4-9872-9279-D0B0-F74CF462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E73B31-8550-F4D9-BA67-21C733E20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48077F-9C5A-006E-CC9B-BF89DD800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CE6C5-5122-4DD0-BE1D-8DF6D6176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0D22-8DA0-40DC-9DC9-29C98228F662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FC899-B10B-8F65-DF90-3D190CF1B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BBFA2-53AB-DBCC-62E2-5360CE62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A973-91FC-4CB0-8B4A-0CCE0F3100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53105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3F9C7-1B65-FD07-2714-E52081E5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EC344-33D0-BF11-FCAF-1EA56310C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B20E4-755F-8B86-EF1A-7AD220AF8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0D22-8DA0-40DC-9DC9-29C98228F662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5E489-7060-43D4-A4FF-EB2620C6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4C5D1-ADC8-0040-FDFC-5FF671D55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A973-91FC-4CB0-8B4A-0CCE0F3100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3686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246D33-36C4-CC48-128A-7DC426E94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9135A-8A0E-838E-2C25-09F0066DA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22A36-CBB4-27EB-D99E-A6FC50AE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0D22-8DA0-40DC-9DC9-29C98228F662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DDB3A-1012-74C0-C962-E6CBD1E71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BF21F-C470-2D69-0DF7-8B5060D5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1A973-91FC-4CB0-8B4A-0CCE0F3100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98861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619337" y="1990850"/>
            <a:ext cx="6350877" cy="2592729"/>
          </a:xfrm>
          <a:prstGeom prst="rect">
            <a:avLst/>
          </a:prstGeom>
        </p:spPr>
        <p:txBody>
          <a:bodyPr wrap="square" lIns="0" tIns="0" rIns="0" bIns="0"/>
          <a:lstStyle>
            <a:lvl1pPr algn="l">
              <a:lnSpc>
                <a:spcPct val="110000"/>
              </a:lnSpc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here to modify the style of the master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57CD4E-39F3-894D-832B-DF6ED534A4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6083" y="1097961"/>
            <a:ext cx="2399684" cy="45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53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128A66-4860-3FB2-7A13-82559105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AAA98-2A1A-73D8-80FD-AB493FB44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26419-E8C8-B7C4-E5CC-F016F117A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49628-9A2F-4B0E-8D42-51669D86E645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9D80F-5549-5777-5D5B-3483DAFAC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DD5C3-BE68-28FE-D017-1B1105115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D9F08-9A46-4493-98F7-EC00F778F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98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DF7F29-8334-F37E-1182-3564F2E8A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EB75D-1860-B3DE-13B3-ABB947EF9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53C3B-04E6-BAC9-4E06-C7D46A4F9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C30D22-8DA0-40DC-9DC9-29C98228F662}" type="datetimeFigureOut">
              <a:rPr lang="tr-TR" smtClean="0"/>
              <a:t>28.08.2026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5A6C2-F7E5-614C-2E7A-3DDB662332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5B9B5-4AE0-3EC1-0F9A-1DDDC5674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1A973-91FC-4CB0-8B4A-0CCE0F3100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6244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chart" Target="../charts/chart1.xml"/><Relationship Id="rId1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hyperlink" Target="https://accountplanning.ai/" TargetMode="External"/><Relationship Id="rId2" Type="http://schemas.openxmlformats.org/officeDocument/2006/relationships/notesSlide" Target="../notesSlides/notesSlide2.xml"/><Relationship Id="rId16" Type="http://schemas.openxmlformats.org/officeDocument/2006/relationships/chart" Target="../charts/chart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chart" Target="../charts/chart3.xml"/><Relationship Id="rId10" Type="http://schemas.openxmlformats.org/officeDocument/2006/relationships/image" Target="../media/image16.png"/><Relationship Id="rId19" Type="http://schemas.microsoft.com/office/2007/relationships/hdphoto" Target="../media/hdphoto2.wdp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3.png"/><Relationship Id="rId18" Type="http://schemas.microsoft.com/office/2007/relationships/hdphoto" Target="../media/hdphoto8.wdp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2.png"/><Relationship Id="rId12" Type="http://schemas.microsoft.com/office/2007/relationships/hdphoto" Target="../media/hdphoto5.wdp"/><Relationship Id="rId17" Type="http://schemas.openxmlformats.org/officeDocument/2006/relationships/image" Target="../media/image25.png"/><Relationship Id="rId25" Type="http://schemas.microsoft.com/office/2007/relationships/hdphoto" Target="../media/hdphoto11.wdp"/><Relationship Id="rId2" Type="http://schemas.openxmlformats.org/officeDocument/2006/relationships/notesSlide" Target="../notesSlides/notesSlide3.xml"/><Relationship Id="rId16" Type="http://schemas.microsoft.com/office/2007/relationships/hdphoto" Target="../media/hdphoto7.wdp"/><Relationship Id="rId20" Type="http://schemas.microsoft.com/office/2007/relationships/hdphoto" Target="../media/hdphoto9.wdp"/><Relationship Id="rId1" Type="http://schemas.openxmlformats.org/officeDocument/2006/relationships/slideLayout" Target="../slideLayouts/slideLayout12.xml"/><Relationship Id="rId6" Type="http://schemas.microsoft.com/office/2007/relationships/hdphoto" Target="../media/hdphoto3.wdp"/><Relationship Id="rId11" Type="http://schemas.openxmlformats.org/officeDocument/2006/relationships/image" Target="../media/image22.png"/><Relationship Id="rId24" Type="http://schemas.openxmlformats.org/officeDocument/2006/relationships/image" Target="../media/image29.png"/><Relationship Id="rId5" Type="http://schemas.openxmlformats.org/officeDocument/2006/relationships/image" Target="../media/image20.png"/><Relationship Id="rId15" Type="http://schemas.openxmlformats.org/officeDocument/2006/relationships/image" Target="../media/image24.png"/><Relationship Id="rId23" Type="http://schemas.microsoft.com/office/2007/relationships/hdphoto" Target="../media/hdphoto10.wdp"/><Relationship Id="rId10" Type="http://schemas.microsoft.com/office/2007/relationships/hdphoto" Target="../media/hdphoto4.wdp"/><Relationship Id="rId19" Type="http://schemas.openxmlformats.org/officeDocument/2006/relationships/image" Target="../media/image26.png"/><Relationship Id="rId4" Type="http://schemas.openxmlformats.org/officeDocument/2006/relationships/image" Target="../media/image10.png"/><Relationship Id="rId9" Type="http://schemas.openxmlformats.org/officeDocument/2006/relationships/image" Target="../media/image21.png"/><Relationship Id="rId14" Type="http://schemas.microsoft.com/office/2007/relationships/hdphoto" Target="../media/hdphoto6.wdp"/><Relationship Id="rId22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microsoft.com/office/2007/relationships/hdphoto" Target="../media/hdphoto8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3.wdp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microsoft.com/office/2007/relationships/hdphoto" Target="../media/hdphoto4.wdp"/><Relationship Id="rId4" Type="http://schemas.openxmlformats.org/officeDocument/2006/relationships/image" Target="../media/image10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1.png"/><Relationship Id="rId18" Type="http://schemas.openxmlformats.org/officeDocument/2006/relationships/image" Target="../media/image31.png"/><Relationship Id="rId3" Type="http://schemas.openxmlformats.org/officeDocument/2006/relationships/image" Target="../media/image9.png"/><Relationship Id="rId21" Type="http://schemas.microsoft.com/office/2007/relationships/hdphoto" Target="../media/hdphoto13.wdp"/><Relationship Id="rId7" Type="http://schemas.openxmlformats.org/officeDocument/2006/relationships/image" Target="../media/image12.png"/><Relationship Id="rId12" Type="http://schemas.microsoft.com/office/2007/relationships/hdphoto" Target="../media/hdphoto5.wdp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6" Type="http://schemas.microsoft.com/office/2007/relationships/hdphoto" Target="../media/hdphoto7.wdp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3.wdp"/><Relationship Id="rId11" Type="http://schemas.openxmlformats.org/officeDocument/2006/relationships/image" Target="../media/image22.png"/><Relationship Id="rId5" Type="http://schemas.openxmlformats.org/officeDocument/2006/relationships/image" Target="../media/image20.png"/><Relationship Id="rId15" Type="http://schemas.openxmlformats.org/officeDocument/2006/relationships/image" Target="../media/image24.png"/><Relationship Id="rId10" Type="http://schemas.microsoft.com/office/2007/relationships/hdphoto" Target="../media/hdphoto8.wdp"/><Relationship Id="rId19" Type="http://schemas.microsoft.com/office/2007/relationships/hdphoto" Target="../media/hdphoto12.wdp"/><Relationship Id="rId4" Type="http://schemas.openxmlformats.org/officeDocument/2006/relationships/image" Target="../media/image10.png"/><Relationship Id="rId9" Type="http://schemas.openxmlformats.org/officeDocument/2006/relationships/image" Target="../media/image25.png"/><Relationship Id="rId14" Type="http://schemas.microsoft.com/office/2007/relationships/hdphoto" Target="../media/hdphoto4.wdp"/><Relationship Id="rId22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microsoft.com/office/2007/relationships/hdphoto" Target="../media/hdphoto6.wdp"/><Relationship Id="rId2" Type="http://schemas.openxmlformats.org/officeDocument/2006/relationships/notesSlide" Target="../notesSlides/notesSlide6.xml"/><Relationship Id="rId16" Type="http://schemas.microsoft.com/office/2007/relationships/hdphoto" Target="../media/hdphoto4.wdp"/><Relationship Id="rId1" Type="http://schemas.openxmlformats.org/officeDocument/2006/relationships/slideLayout" Target="../slideLayouts/slideLayout12.xml"/><Relationship Id="rId6" Type="http://schemas.microsoft.com/office/2007/relationships/hdphoto" Target="../media/hdphoto3.wdp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5" Type="http://schemas.openxmlformats.org/officeDocument/2006/relationships/image" Target="../media/image21.png"/><Relationship Id="rId10" Type="http://schemas.microsoft.com/office/2007/relationships/hdphoto" Target="../media/hdphoto8.wdp"/><Relationship Id="rId4" Type="http://schemas.openxmlformats.org/officeDocument/2006/relationships/image" Target="../media/image10.png"/><Relationship Id="rId9" Type="http://schemas.openxmlformats.org/officeDocument/2006/relationships/image" Target="../media/image25.png"/><Relationship Id="rId14" Type="http://schemas.microsoft.com/office/2007/relationships/hdphoto" Target="../media/hdphoto7.wdp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26.png"/><Relationship Id="rId7" Type="http://schemas.openxmlformats.org/officeDocument/2006/relationships/image" Target="../media/image24.png"/><Relationship Id="rId12" Type="http://schemas.openxmlformats.org/officeDocument/2006/relationships/image" Target="../media/image9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4.wdp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microsoft.com/office/2007/relationships/hdphoto" Target="../media/hdphoto3.wdp"/><Relationship Id="rId10" Type="http://schemas.microsoft.com/office/2007/relationships/hdphoto" Target="../media/hdphoto8.wdp"/><Relationship Id="rId19" Type="http://schemas.openxmlformats.org/officeDocument/2006/relationships/image" Target="../media/image34.png"/><Relationship Id="rId4" Type="http://schemas.microsoft.com/office/2007/relationships/hdphoto" Target="../media/hdphoto9.wdp"/><Relationship Id="rId9" Type="http://schemas.openxmlformats.org/officeDocument/2006/relationships/image" Target="../media/image25.png"/><Relationship Id="rId1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openxmlformats.org/officeDocument/2006/relationships/image" Target="../media/image20.png"/><Relationship Id="rId3" Type="http://schemas.openxmlformats.org/officeDocument/2006/relationships/image" Target="../media/image25.png"/><Relationship Id="rId7" Type="http://schemas.openxmlformats.org/officeDocument/2006/relationships/image" Target="../media/image2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10.wdp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2.png"/><Relationship Id="rId10" Type="http://schemas.microsoft.com/office/2007/relationships/hdphoto" Target="../media/hdphoto11.wdp"/><Relationship Id="rId4" Type="http://schemas.microsoft.com/office/2007/relationships/hdphoto" Target="../media/hdphoto8.wdp"/><Relationship Id="rId9" Type="http://schemas.openxmlformats.org/officeDocument/2006/relationships/image" Target="../media/image29.png"/><Relationship Id="rId14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9.png"/><Relationship Id="rId7" Type="http://schemas.openxmlformats.org/officeDocument/2006/relationships/image" Target="../media/image37.png"/><Relationship Id="rId12" Type="http://schemas.microsoft.com/office/2007/relationships/hdphoto" Target="../media/hdphoto16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11" Type="http://schemas.openxmlformats.org/officeDocument/2006/relationships/image" Target="../media/image39.png"/><Relationship Id="rId5" Type="http://schemas.microsoft.com/office/2007/relationships/hdphoto" Target="../media/hdphoto14.wdp"/><Relationship Id="rId10" Type="http://schemas.openxmlformats.org/officeDocument/2006/relationships/image" Target="../media/image12.png"/><Relationship Id="rId4" Type="http://schemas.openxmlformats.org/officeDocument/2006/relationships/image" Target="../media/image35.png"/><Relationship Id="rId9" Type="http://schemas.microsoft.com/office/2007/relationships/hdphoto" Target="../media/hdphoto15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7AB81D-19BC-6716-597A-3BAC60749C9E}"/>
              </a:ext>
            </a:extLst>
          </p:cNvPr>
          <p:cNvSpPr txBox="1"/>
          <p:nvPr/>
        </p:nvSpPr>
        <p:spPr>
          <a:xfrm>
            <a:off x="1541410" y="2044005"/>
            <a:ext cx="910917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5400" dirty="0" err="1">
                <a:solidFill>
                  <a:schemeClr val="bg1">
                    <a:lumMod val="85000"/>
                  </a:schemeClr>
                </a:solidFill>
              </a:rPr>
              <a:t>Account</a:t>
            </a:r>
            <a:r>
              <a:rPr lang="tr-TR" sz="5400" dirty="0">
                <a:solidFill>
                  <a:schemeClr val="bg1">
                    <a:lumMod val="85000"/>
                  </a:schemeClr>
                </a:solidFill>
              </a:rPr>
              <a:t> Planning</a:t>
            </a:r>
          </a:p>
          <a:p>
            <a:pPr algn="ctr"/>
            <a:endParaRPr lang="tr-TR" sz="4000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tr-TR" sz="3600" dirty="0">
                <a:solidFill>
                  <a:schemeClr val="bg1">
                    <a:lumMod val="85000"/>
                  </a:schemeClr>
                </a:solidFill>
              </a:rPr>
              <a:t>AI-</a:t>
            </a:r>
            <a:r>
              <a:rPr lang="tr-TR" sz="3600" dirty="0" err="1">
                <a:solidFill>
                  <a:schemeClr val="bg1">
                    <a:lumMod val="85000"/>
                  </a:schemeClr>
                </a:solidFill>
              </a:rPr>
              <a:t>Native</a:t>
            </a:r>
            <a:r>
              <a:rPr lang="tr-TR" sz="3600" dirty="0">
                <a:solidFill>
                  <a:schemeClr val="bg1">
                    <a:lumMod val="85000"/>
                  </a:schemeClr>
                </a:solidFill>
              </a:rPr>
              <a:t> Portfolio Management Platform</a:t>
            </a:r>
            <a:endParaRPr lang="en-GB" sz="40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07AC3B-2DDA-D53D-C305-E849C97C2E8F}"/>
              </a:ext>
            </a:extLst>
          </p:cNvPr>
          <p:cNvCxnSpPr/>
          <p:nvPr/>
        </p:nvCxnSpPr>
        <p:spPr>
          <a:xfrm>
            <a:off x="2978870" y="3167406"/>
            <a:ext cx="602372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645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00BFB2-5517-874B-5B0D-5CDA0C798927}"/>
              </a:ext>
            </a:extLst>
          </p:cNvPr>
          <p:cNvSpPr/>
          <p:nvPr/>
        </p:nvSpPr>
        <p:spPr>
          <a:xfrm>
            <a:off x="276225" y="3600450"/>
            <a:ext cx="11697239" cy="2551796"/>
          </a:xfrm>
          <a:prstGeom prst="roundRect">
            <a:avLst>
              <a:gd name="adj" fmla="val 3624"/>
            </a:avLst>
          </a:prstGeom>
          <a:solidFill>
            <a:schemeClr val="tx2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F37B01-267E-75DF-892E-CC622E687489}"/>
              </a:ext>
            </a:extLst>
          </p:cNvPr>
          <p:cNvSpPr txBox="1"/>
          <p:nvPr/>
        </p:nvSpPr>
        <p:spPr>
          <a:xfrm>
            <a:off x="0" y="-2132"/>
            <a:ext cx="309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chemeClr val="bg1">
                    <a:lumMod val="75000"/>
                  </a:schemeClr>
                </a:solidFill>
              </a:rPr>
              <a:t>Portföy Yönetimi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D96CA-C362-3B85-D39A-50056003EA20}"/>
              </a:ext>
            </a:extLst>
          </p:cNvPr>
          <p:cNvSpPr txBox="1"/>
          <p:nvPr/>
        </p:nvSpPr>
        <p:spPr>
          <a:xfrm>
            <a:off x="490405" y="3929171"/>
            <a:ext cx="261519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chemeClr val="bg1"/>
                </a:solidFill>
                <a:latin typeface="+mj-lt"/>
              </a:rPr>
              <a:t>Pusula / Özet II:</a:t>
            </a:r>
          </a:p>
          <a:p>
            <a:endParaRPr lang="tr-TR" sz="14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15 Pusula metriği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30 ana üründe </a:t>
            </a:r>
            <a:r>
              <a:rPr lang="tr-TR" sz="1400" dirty="0" err="1">
                <a:solidFill>
                  <a:schemeClr val="bg1">
                    <a:lumMod val="85000"/>
                  </a:schemeClr>
                </a:solidFill>
              </a:rPr>
              <a:t>Benchmark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Sektör/Resmi Segment bazında </a:t>
            </a:r>
            <a:r>
              <a:rPr lang="tr-TR" sz="1400" dirty="0" err="1">
                <a:solidFill>
                  <a:schemeClr val="bg1">
                    <a:lumMod val="85000"/>
                  </a:schemeClr>
                </a:solidFill>
              </a:rPr>
              <a:t>tresholdlar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Adet/Hacim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Stok/</a:t>
            </a:r>
            <a:r>
              <a:rPr lang="tr-TR" sz="1400" dirty="0" err="1">
                <a:solidFill>
                  <a:schemeClr val="bg1">
                    <a:lumMod val="85000"/>
                  </a:schemeClr>
                </a:solidFill>
              </a:rPr>
              <a:t>Flow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 gelişimi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35E67F-A0A3-7200-9E15-EA32D6D0D00F}"/>
              </a:ext>
            </a:extLst>
          </p:cNvPr>
          <p:cNvSpPr txBox="1"/>
          <p:nvPr/>
        </p:nvSpPr>
        <p:spPr>
          <a:xfrm>
            <a:off x="3497344" y="3921551"/>
            <a:ext cx="247924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 err="1">
                <a:solidFill>
                  <a:schemeClr val="bg1"/>
                </a:solidFill>
                <a:latin typeface="+mj-lt"/>
              </a:rPr>
              <a:t>ScaleUp</a:t>
            </a:r>
            <a:r>
              <a:rPr lang="tr-TR" sz="1600" b="1" dirty="0">
                <a:solidFill>
                  <a:schemeClr val="bg1"/>
                </a:solidFill>
                <a:latin typeface="+mj-lt"/>
              </a:rPr>
              <a:t> Enterprise / </a:t>
            </a:r>
            <a:r>
              <a:rPr lang="tr-TR" sz="1600" b="1" dirty="0" err="1">
                <a:solidFill>
                  <a:schemeClr val="bg1"/>
                </a:solidFill>
                <a:latin typeface="+mj-lt"/>
              </a:rPr>
              <a:t>Benchmark</a:t>
            </a:r>
            <a:r>
              <a:rPr lang="tr-TR" sz="1600" b="1" dirty="0">
                <a:solidFill>
                  <a:schemeClr val="bg1"/>
                </a:solidFill>
                <a:latin typeface="+mj-lt"/>
              </a:rPr>
              <a:t> :</a:t>
            </a:r>
          </a:p>
          <a:p>
            <a:endParaRPr lang="tr-TR" sz="14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Yeni müşteriden Ana Banka olana kadar müşteri yolculuğu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Adım bazlı aksiyonlar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Gelişim takibi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619738-93F9-A4A9-D50A-A0684F2CA334}"/>
              </a:ext>
            </a:extLst>
          </p:cNvPr>
          <p:cNvSpPr txBox="1"/>
          <p:nvPr/>
        </p:nvSpPr>
        <p:spPr>
          <a:xfrm>
            <a:off x="6091445" y="3921551"/>
            <a:ext cx="2727174" cy="2062103"/>
          </a:xfrm>
          <a:prstGeom prst="rect">
            <a:avLst/>
          </a:prstGeom>
          <a:noFill/>
        </p:spPr>
        <p:txBody>
          <a:bodyPr wrap="square" rIns="72000" rtlCol="0">
            <a:spAutoFit/>
          </a:bodyPr>
          <a:lstStyle/>
          <a:p>
            <a:r>
              <a:rPr lang="tr-TR" sz="1600" b="1" dirty="0" err="1">
                <a:solidFill>
                  <a:schemeClr val="bg1"/>
                </a:solidFill>
                <a:latin typeface="+mj-lt"/>
              </a:rPr>
              <a:t>PrimaryBank</a:t>
            </a:r>
            <a:r>
              <a:rPr lang="tr-TR" sz="1600" b="1" dirty="0">
                <a:solidFill>
                  <a:schemeClr val="bg1"/>
                </a:solidFill>
                <a:latin typeface="+mj-lt"/>
              </a:rPr>
              <a:t> / </a:t>
            </a:r>
            <a:r>
              <a:rPr lang="tr-TR" sz="1600" b="1" dirty="0" err="1">
                <a:solidFill>
                  <a:schemeClr val="bg1"/>
                </a:solidFill>
                <a:latin typeface="+mj-lt"/>
              </a:rPr>
              <a:t>Principality</a:t>
            </a:r>
            <a:r>
              <a:rPr lang="tr-TR" sz="1600" b="1" dirty="0">
                <a:solidFill>
                  <a:schemeClr val="bg1"/>
                </a:solidFill>
                <a:latin typeface="+mj-lt"/>
              </a:rPr>
              <a:t>:</a:t>
            </a:r>
          </a:p>
          <a:p>
            <a:endParaRPr lang="tr-TR" sz="14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b="1" dirty="0">
                <a:solidFill>
                  <a:schemeClr val="bg1">
                    <a:lumMod val="85000"/>
                  </a:schemeClr>
                </a:solidFill>
              </a:rPr>
              <a:t>Garanti Yaklaşımı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: dış veri ağırlıklı, rakip bazlı aksiyon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b="1" dirty="0">
                <a:solidFill>
                  <a:schemeClr val="bg1">
                    <a:lumMod val="85000"/>
                  </a:schemeClr>
                </a:solidFill>
              </a:rPr>
              <a:t>BBVA Yaklaşımı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: iç veri bazlı, sektör/segment </a:t>
            </a:r>
            <a:r>
              <a:rPr lang="tr-TR" sz="1400" dirty="0" err="1">
                <a:solidFill>
                  <a:schemeClr val="bg1">
                    <a:lumMod val="85000"/>
                  </a:schemeClr>
                </a:solidFill>
              </a:rPr>
              <a:t>treshold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 yaklaşımı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b="1" dirty="0">
                <a:solidFill>
                  <a:schemeClr val="bg1">
                    <a:lumMod val="85000"/>
                  </a:schemeClr>
                </a:solidFill>
              </a:rPr>
              <a:t>Hibrit Hesaplama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: ikili karşılaştırma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D66B8A-5FA2-39F3-DAD6-71A044F8EAB4}"/>
              </a:ext>
            </a:extLst>
          </p:cNvPr>
          <p:cNvSpPr txBox="1"/>
          <p:nvPr/>
        </p:nvSpPr>
        <p:spPr>
          <a:xfrm>
            <a:off x="9016444" y="3921551"/>
            <a:ext cx="292859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chemeClr val="bg1"/>
                </a:solidFill>
                <a:latin typeface="+mj-lt"/>
              </a:rPr>
              <a:t>Müşteri Deneyimi (RCP, ICX):</a:t>
            </a:r>
          </a:p>
          <a:p>
            <a:endParaRPr lang="tr-TR" sz="14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b="1" dirty="0">
                <a:solidFill>
                  <a:schemeClr val="bg1">
                    <a:lumMod val="85000"/>
                  </a:schemeClr>
                </a:solidFill>
              </a:rPr>
              <a:t>Model Tahminleri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: eğilim, </a:t>
            </a:r>
            <a:r>
              <a:rPr lang="tr-TR" sz="1400" dirty="0" err="1">
                <a:solidFill>
                  <a:schemeClr val="bg1">
                    <a:lumMod val="85000"/>
                  </a:schemeClr>
                </a:solidFill>
              </a:rPr>
              <a:t>churn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, fiyat hassasiyeti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b="1" dirty="0">
                <a:solidFill>
                  <a:schemeClr val="bg1">
                    <a:lumMod val="85000"/>
                  </a:schemeClr>
                </a:solidFill>
              </a:rPr>
              <a:t>Excel Listeleri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: İşkolu, Bölgeler tarafından paylaşılan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b="1" dirty="0">
                <a:solidFill>
                  <a:schemeClr val="bg1">
                    <a:lumMod val="85000"/>
                  </a:schemeClr>
                </a:solidFill>
              </a:rPr>
              <a:t>Pusula Listeleri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: pusuladan paylaşılan müşteri listeleri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C4F602-D134-2AF0-7EF0-5B1CCB96D7AA}"/>
              </a:ext>
            </a:extLst>
          </p:cNvPr>
          <p:cNvCxnSpPr/>
          <p:nvPr/>
        </p:nvCxnSpPr>
        <p:spPr>
          <a:xfrm>
            <a:off x="923827" y="4204355"/>
            <a:ext cx="1008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50863-D71D-45E8-B694-E4F857F9A131}"/>
              </a:ext>
            </a:extLst>
          </p:cNvPr>
          <p:cNvCxnSpPr>
            <a:cxnSpLocks/>
          </p:cNvCxnSpPr>
          <p:nvPr/>
        </p:nvCxnSpPr>
        <p:spPr>
          <a:xfrm>
            <a:off x="3601040" y="4204355"/>
            <a:ext cx="16591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81DDC5-3E5B-6871-42A0-22B1987B3B2B}"/>
              </a:ext>
            </a:extLst>
          </p:cNvPr>
          <p:cNvCxnSpPr>
            <a:cxnSpLocks/>
          </p:cNvCxnSpPr>
          <p:nvPr/>
        </p:nvCxnSpPr>
        <p:spPr>
          <a:xfrm>
            <a:off x="6193412" y="4204355"/>
            <a:ext cx="22341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906BAF-EA59-F1C3-990C-2186CDBC7783}"/>
              </a:ext>
            </a:extLst>
          </p:cNvPr>
          <p:cNvCxnSpPr>
            <a:cxnSpLocks/>
          </p:cNvCxnSpPr>
          <p:nvPr/>
        </p:nvCxnSpPr>
        <p:spPr>
          <a:xfrm>
            <a:off x="9002599" y="4204355"/>
            <a:ext cx="11594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458C180-14A4-6C49-2F45-4B6AFDF1A4DE}"/>
              </a:ext>
            </a:extLst>
          </p:cNvPr>
          <p:cNvSpPr txBox="1"/>
          <p:nvPr/>
        </p:nvSpPr>
        <p:spPr>
          <a:xfrm>
            <a:off x="0" y="367200"/>
            <a:ext cx="10318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i="1" dirty="0">
                <a:solidFill>
                  <a:schemeClr val="tx2"/>
                </a:solidFill>
              </a:rPr>
              <a:t>Bu müşterilerin </a:t>
            </a:r>
            <a:r>
              <a:rPr lang="tr-TR" sz="1600" b="1" i="1" dirty="0">
                <a:solidFill>
                  <a:schemeClr val="tx2"/>
                </a:solidFill>
              </a:rPr>
              <a:t>Hizmet Kalitesi</a:t>
            </a:r>
            <a:r>
              <a:rPr lang="tr-TR" sz="1600" i="1" dirty="0">
                <a:solidFill>
                  <a:schemeClr val="tx2"/>
                </a:solidFill>
              </a:rPr>
              <a:t> ve </a:t>
            </a:r>
            <a:r>
              <a:rPr lang="tr-TR" sz="1600" b="1" i="1" dirty="0">
                <a:solidFill>
                  <a:schemeClr val="tx2"/>
                </a:solidFill>
              </a:rPr>
              <a:t>Portföy Performansı </a:t>
            </a:r>
            <a:r>
              <a:rPr lang="tr-TR" sz="1600" i="1" dirty="0">
                <a:solidFill>
                  <a:schemeClr val="tx2"/>
                </a:solidFill>
              </a:rPr>
              <a:t>için kullandığımız ana metriklerimiz</a:t>
            </a:r>
            <a:endParaRPr lang="en-GB" sz="1600" i="1" dirty="0">
              <a:solidFill>
                <a:schemeClr val="tx2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12CE49-40E0-F23D-3FB6-D195FF52ED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760" y="1770186"/>
            <a:ext cx="5757665" cy="7712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7ACD56-7B9E-F2E4-379D-56E9D063B7CC}"/>
              </a:ext>
            </a:extLst>
          </p:cNvPr>
          <p:cNvCxnSpPr/>
          <p:nvPr/>
        </p:nvCxnSpPr>
        <p:spPr>
          <a:xfrm>
            <a:off x="3185222" y="3961910"/>
            <a:ext cx="0" cy="17943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3174867-0AB8-9DB2-A4EF-313B27F6B1B0}"/>
              </a:ext>
            </a:extLst>
          </p:cNvPr>
          <p:cNvCxnSpPr/>
          <p:nvPr/>
        </p:nvCxnSpPr>
        <p:spPr>
          <a:xfrm>
            <a:off x="5823647" y="3961910"/>
            <a:ext cx="0" cy="17943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A80A76-07EF-ADA0-334F-95932D0E6748}"/>
              </a:ext>
            </a:extLst>
          </p:cNvPr>
          <p:cNvCxnSpPr/>
          <p:nvPr/>
        </p:nvCxnSpPr>
        <p:spPr>
          <a:xfrm>
            <a:off x="8889166" y="3961910"/>
            <a:ext cx="0" cy="17943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0E2F999-0A05-6194-B05D-AA1D86B964D9}"/>
              </a:ext>
            </a:extLst>
          </p:cNvPr>
          <p:cNvSpPr txBox="1"/>
          <p:nvPr/>
        </p:nvSpPr>
        <p:spPr>
          <a:xfrm>
            <a:off x="1698733" y="2960714"/>
            <a:ext cx="8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Performans yönetimi için kullandığımız çok farklı sayıda metriklerimiz var</a:t>
            </a:r>
          </a:p>
        </p:txBody>
      </p:sp>
    </p:spTree>
    <p:extLst>
      <p:ext uri="{BB962C8B-B14F-4D97-AF65-F5344CB8AC3E}">
        <p14:creationId xmlns:p14="http://schemas.microsoft.com/office/powerpoint/2010/main" val="3140108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7D0EEC-7CD0-8409-95DE-8A10BF614CF8}"/>
              </a:ext>
            </a:extLst>
          </p:cNvPr>
          <p:cNvSpPr/>
          <p:nvPr/>
        </p:nvSpPr>
        <p:spPr>
          <a:xfrm>
            <a:off x="276225" y="3600450"/>
            <a:ext cx="11697239" cy="2551796"/>
          </a:xfrm>
          <a:prstGeom prst="roundRect">
            <a:avLst>
              <a:gd name="adj" fmla="val 3624"/>
            </a:avLst>
          </a:prstGeom>
          <a:solidFill>
            <a:schemeClr val="tx2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bg1">
                  <a:lumMod val="8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B3C6A3E-829F-D5F5-A1D5-E184BD7A7D41}"/>
              </a:ext>
            </a:extLst>
          </p:cNvPr>
          <p:cNvCxnSpPr/>
          <p:nvPr/>
        </p:nvCxnSpPr>
        <p:spPr>
          <a:xfrm>
            <a:off x="3185222" y="3961910"/>
            <a:ext cx="0" cy="17943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26A0E1-ABF3-F949-719D-AFB104639661}"/>
              </a:ext>
            </a:extLst>
          </p:cNvPr>
          <p:cNvCxnSpPr/>
          <p:nvPr/>
        </p:nvCxnSpPr>
        <p:spPr>
          <a:xfrm>
            <a:off x="5823647" y="3961910"/>
            <a:ext cx="0" cy="17943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ED1848-2072-A142-5E80-6829545B1627}"/>
              </a:ext>
            </a:extLst>
          </p:cNvPr>
          <p:cNvCxnSpPr/>
          <p:nvPr/>
        </p:nvCxnSpPr>
        <p:spPr>
          <a:xfrm>
            <a:off x="8889166" y="3961910"/>
            <a:ext cx="0" cy="17943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3F37B01-267E-75DF-892E-CC622E687489}"/>
              </a:ext>
            </a:extLst>
          </p:cNvPr>
          <p:cNvSpPr txBox="1"/>
          <p:nvPr/>
        </p:nvSpPr>
        <p:spPr>
          <a:xfrm>
            <a:off x="0" y="-2132"/>
            <a:ext cx="1907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chemeClr val="bg1">
                    <a:lumMod val="75000"/>
                  </a:schemeClr>
                </a:solidFill>
              </a:rPr>
              <a:t>Portföy Yönetimi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35E67F-A0A3-7200-9E15-EA32D6D0D00F}"/>
              </a:ext>
            </a:extLst>
          </p:cNvPr>
          <p:cNvSpPr txBox="1"/>
          <p:nvPr/>
        </p:nvSpPr>
        <p:spPr>
          <a:xfrm>
            <a:off x="3497344" y="3939004"/>
            <a:ext cx="24792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 err="1">
                <a:solidFill>
                  <a:schemeClr val="bg1"/>
                </a:solidFill>
                <a:latin typeface="+mj-lt"/>
              </a:rPr>
              <a:t>ScaleUp</a:t>
            </a:r>
            <a:r>
              <a:rPr lang="tr-TR" sz="1600" b="1" dirty="0">
                <a:solidFill>
                  <a:schemeClr val="bg1"/>
                </a:solidFill>
                <a:latin typeface="+mj-lt"/>
              </a:rPr>
              <a:t> Enterprise / </a:t>
            </a:r>
            <a:r>
              <a:rPr lang="tr-TR" sz="1600" b="1" dirty="0" err="1">
                <a:solidFill>
                  <a:schemeClr val="bg1"/>
                </a:solidFill>
                <a:latin typeface="+mj-lt"/>
              </a:rPr>
              <a:t>Benchmark</a:t>
            </a:r>
            <a:r>
              <a:rPr lang="tr-TR" sz="1600" b="1" dirty="0">
                <a:solidFill>
                  <a:schemeClr val="bg1"/>
                </a:solidFill>
                <a:latin typeface="+mj-lt"/>
              </a:rPr>
              <a:t>:</a:t>
            </a:r>
          </a:p>
          <a:p>
            <a:endParaRPr lang="tr-TR" sz="1400" b="1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 err="1">
                <a:solidFill>
                  <a:schemeClr val="bg1">
                    <a:lumMod val="85000"/>
                  </a:schemeClr>
                </a:solidFill>
              </a:rPr>
              <a:t>Qlik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 Dashboard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Pusula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Step / 360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619738-93F9-A4A9-D50A-A0684F2CA334}"/>
              </a:ext>
            </a:extLst>
          </p:cNvPr>
          <p:cNvSpPr txBox="1"/>
          <p:nvPr/>
        </p:nvSpPr>
        <p:spPr>
          <a:xfrm>
            <a:off x="6091445" y="3939004"/>
            <a:ext cx="2727174" cy="1631216"/>
          </a:xfrm>
          <a:prstGeom prst="rect">
            <a:avLst/>
          </a:prstGeom>
          <a:noFill/>
        </p:spPr>
        <p:txBody>
          <a:bodyPr wrap="square" rIns="72000" rtlCol="0">
            <a:spAutoFit/>
          </a:bodyPr>
          <a:lstStyle/>
          <a:p>
            <a:r>
              <a:rPr lang="tr-TR" sz="1600" b="1" dirty="0" err="1">
                <a:solidFill>
                  <a:schemeClr val="bg1"/>
                </a:solidFill>
                <a:latin typeface="+mj-lt"/>
              </a:rPr>
              <a:t>PrimaryBank</a:t>
            </a:r>
            <a:r>
              <a:rPr lang="tr-TR" sz="1600" b="1" dirty="0">
                <a:solidFill>
                  <a:schemeClr val="bg1"/>
                </a:solidFill>
                <a:latin typeface="+mj-lt"/>
              </a:rPr>
              <a:t> / </a:t>
            </a:r>
            <a:r>
              <a:rPr lang="tr-TR" sz="1600" b="1" dirty="0" err="1">
                <a:solidFill>
                  <a:schemeClr val="bg1"/>
                </a:solidFill>
                <a:latin typeface="+mj-lt"/>
              </a:rPr>
              <a:t>Principality</a:t>
            </a:r>
            <a:r>
              <a:rPr lang="tr-TR" sz="1600" b="1" dirty="0">
                <a:solidFill>
                  <a:schemeClr val="bg1"/>
                </a:solidFill>
                <a:latin typeface="+mj-lt"/>
              </a:rPr>
              <a:t>:</a:t>
            </a:r>
          </a:p>
          <a:p>
            <a:endParaRPr lang="tr-TR" sz="1400" b="1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 err="1">
                <a:solidFill>
                  <a:schemeClr val="bg1">
                    <a:lumMod val="85000"/>
                  </a:schemeClr>
                </a:solidFill>
              </a:rPr>
              <a:t>Primary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 Bank </a:t>
            </a:r>
            <a:r>
              <a:rPr lang="tr-TR" sz="1400" dirty="0" err="1">
                <a:solidFill>
                  <a:schemeClr val="bg1">
                    <a:lumMod val="85000"/>
                  </a:schemeClr>
                </a:solidFill>
              </a:rPr>
              <a:t>Datamart</a:t>
            </a:r>
            <a:endParaRPr lang="tr-TR" sz="14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 err="1">
                <a:solidFill>
                  <a:schemeClr val="bg1">
                    <a:lumMod val="85000"/>
                  </a:schemeClr>
                </a:solidFill>
              </a:rPr>
              <a:t>Qlik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 Dashboard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 err="1">
                <a:solidFill>
                  <a:schemeClr val="bg1">
                    <a:lumMod val="85000"/>
                  </a:schemeClr>
                </a:solidFill>
              </a:rPr>
              <a:t>Propensity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Step / 360</a:t>
            </a:r>
          </a:p>
          <a:p>
            <a:pPr marL="285750" indent="-285750">
              <a:buFontTx/>
              <a:buChar char="-"/>
            </a:pPr>
            <a:endParaRPr lang="tr-TR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D66B8A-5FA2-39F3-DAD6-71A044F8EAB4}"/>
              </a:ext>
            </a:extLst>
          </p:cNvPr>
          <p:cNvSpPr txBox="1"/>
          <p:nvPr/>
        </p:nvSpPr>
        <p:spPr>
          <a:xfrm>
            <a:off x="9027363" y="3939004"/>
            <a:ext cx="2727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chemeClr val="bg1"/>
                </a:solidFill>
                <a:latin typeface="+mj-lt"/>
              </a:rPr>
              <a:t>Müşteri Deneyimi (RCP, ICX):</a:t>
            </a:r>
          </a:p>
          <a:p>
            <a:endParaRPr lang="tr-TR" sz="1400" b="1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Pusula Listeleri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Mail / Excel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 err="1">
                <a:solidFill>
                  <a:schemeClr val="bg1">
                    <a:lumMod val="85000"/>
                  </a:schemeClr>
                </a:solidFill>
              </a:rPr>
              <a:t>Qlik</a:t>
            </a:r>
            <a:endParaRPr lang="tr-TR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C4F602-D134-2AF0-7EF0-5B1CCB96D7AA}"/>
              </a:ext>
            </a:extLst>
          </p:cNvPr>
          <p:cNvCxnSpPr/>
          <p:nvPr/>
        </p:nvCxnSpPr>
        <p:spPr>
          <a:xfrm>
            <a:off x="923827" y="4221808"/>
            <a:ext cx="1008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350863-D71D-45E8-B694-E4F857F9A131}"/>
              </a:ext>
            </a:extLst>
          </p:cNvPr>
          <p:cNvCxnSpPr>
            <a:cxnSpLocks/>
          </p:cNvCxnSpPr>
          <p:nvPr/>
        </p:nvCxnSpPr>
        <p:spPr>
          <a:xfrm>
            <a:off x="3601040" y="4221808"/>
            <a:ext cx="16591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81DDC5-3E5B-6871-42A0-22B1987B3B2B}"/>
              </a:ext>
            </a:extLst>
          </p:cNvPr>
          <p:cNvCxnSpPr>
            <a:cxnSpLocks/>
          </p:cNvCxnSpPr>
          <p:nvPr/>
        </p:nvCxnSpPr>
        <p:spPr>
          <a:xfrm>
            <a:off x="6193412" y="4221808"/>
            <a:ext cx="22341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906BAF-EA59-F1C3-990C-2186CDBC7783}"/>
              </a:ext>
            </a:extLst>
          </p:cNvPr>
          <p:cNvCxnSpPr>
            <a:cxnSpLocks/>
          </p:cNvCxnSpPr>
          <p:nvPr/>
        </p:nvCxnSpPr>
        <p:spPr>
          <a:xfrm>
            <a:off x="9002599" y="4221808"/>
            <a:ext cx="11594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458C180-14A4-6C49-2F45-4B6AFDF1A4DE}"/>
              </a:ext>
            </a:extLst>
          </p:cNvPr>
          <p:cNvSpPr txBox="1"/>
          <p:nvPr/>
        </p:nvSpPr>
        <p:spPr>
          <a:xfrm>
            <a:off x="0" y="367200"/>
            <a:ext cx="4741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i="1" dirty="0">
                <a:solidFill>
                  <a:schemeClr val="tx2"/>
                </a:solidFill>
              </a:rPr>
              <a:t>Bu metrikleri takip etmek için </a:t>
            </a:r>
            <a:r>
              <a:rPr lang="tr-TR" sz="1600" b="1" i="1" dirty="0">
                <a:solidFill>
                  <a:schemeClr val="tx2"/>
                </a:solidFill>
              </a:rPr>
              <a:t>kullandığımız araçlar</a:t>
            </a:r>
            <a:endParaRPr lang="en-GB" sz="1600" b="1" i="1" dirty="0">
              <a:solidFill>
                <a:schemeClr val="tx2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DACF74-2811-2BBD-AFA3-AF0FEE905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866" y="1642537"/>
            <a:ext cx="7663453" cy="10265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99D96CA-C362-3B85-D39A-50056003EA20}"/>
              </a:ext>
            </a:extLst>
          </p:cNvPr>
          <p:cNvSpPr txBox="1"/>
          <p:nvPr/>
        </p:nvSpPr>
        <p:spPr>
          <a:xfrm>
            <a:off x="620107" y="3929479"/>
            <a:ext cx="2479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chemeClr val="bg1"/>
                </a:solidFill>
                <a:latin typeface="+mj-lt"/>
              </a:rPr>
              <a:t>Pusula / Özet II:</a:t>
            </a:r>
          </a:p>
          <a:p>
            <a:endParaRPr lang="tr-TR" sz="1400" b="1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Step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 err="1">
                <a:solidFill>
                  <a:schemeClr val="bg1">
                    <a:lumMod val="85000"/>
                  </a:schemeClr>
                </a:solidFill>
              </a:rPr>
              <a:t>Qlik</a:t>
            </a: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 Dashboard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Excel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D5ACC9-0DC3-461C-6F04-99CC51816EDB}"/>
              </a:ext>
            </a:extLst>
          </p:cNvPr>
          <p:cNvSpPr txBox="1"/>
          <p:nvPr/>
        </p:nvSpPr>
        <p:spPr>
          <a:xfrm>
            <a:off x="1698733" y="2960714"/>
            <a:ext cx="8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… ve bunları takip edebilmek için bir çok aracımız …</a:t>
            </a:r>
          </a:p>
        </p:txBody>
      </p:sp>
    </p:spTree>
    <p:extLst>
      <p:ext uri="{BB962C8B-B14F-4D97-AF65-F5344CB8AC3E}">
        <p14:creationId xmlns:p14="http://schemas.microsoft.com/office/powerpoint/2010/main" val="779508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22B18B0-C92E-6D07-86C7-9386B47F78B7}"/>
              </a:ext>
            </a:extLst>
          </p:cNvPr>
          <p:cNvSpPr/>
          <p:nvPr/>
        </p:nvSpPr>
        <p:spPr>
          <a:xfrm>
            <a:off x="276225" y="3600450"/>
            <a:ext cx="11697239" cy="2974746"/>
          </a:xfrm>
          <a:prstGeom prst="roundRect">
            <a:avLst>
              <a:gd name="adj" fmla="val 3624"/>
            </a:avLst>
          </a:prstGeom>
          <a:solidFill>
            <a:schemeClr val="tx2">
              <a:lumMod val="75000"/>
              <a:lumOff val="2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bg1">
                  <a:lumMod val="8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328D8D-CB89-E66E-596F-8B82D6646575}"/>
              </a:ext>
            </a:extLst>
          </p:cNvPr>
          <p:cNvSpPr txBox="1"/>
          <p:nvPr/>
        </p:nvSpPr>
        <p:spPr>
          <a:xfrm>
            <a:off x="0" y="0"/>
            <a:ext cx="318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chemeClr val="tx2"/>
                </a:solidFill>
              </a:rPr>
              <a:t>Portföy Yönetimi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58E617-9622-C2EA-27C8-6C564E957DBC}"/>
              </a:ext>
            </a:extLst>
          </p:cNvPr>
          <p:cNvSpPr txBox="1"/>
          <p:nvPr/>
        </p:nvSpPr>
        <p:spPr>
          <a:xfrm>
            <a:off x="0" y="369332"/>
            <a:ext cx="3185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i="1" dirty="0">
                <a:solidFill>
                  <a:schemeClr val="tx2"/>
                </a:solidFill>
              </a:rPr>
              <a:t>Yapamadıklarımız…</a:t>
            </a:r>
            <a:endParaRPr lang="en-GB" sz="1600" i="1" dirty="0">
              <a:solidFill>
                <a:schemeClr val="tx2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F456A2-2F5B-2134-0E3E-D0C42E4C3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204" y="1552231"/>
            <a:ext cx="9272778" cy="12421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4A68A3-DEA0-8581-7BA5-2BED0782247E}"/>
              </a:ext>
            </a:extLst>
          </p:cNvPr>
          <p:cNvSpPr txBox="1"/>
          <p:nvPr/>
        </p:nvSpPr>
        <p:spPr>
          <a:xfrm>
            <a:off x="1698733" y="3027389"/>
            <a:ext cx="855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… ve bir o kadar da yapamadıklarımız var!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391F33-CE5C-D85F-8470-E652A8042024}"/>
              </a:ext>
            </a:extLst>
          </p:cNvPr>
          <p:cNvSpPr txBox="1"/>
          <p:nvPr/>
        </p:nvSpPr>
        <p:spPr>
          <a:xfrm>
            <a:off x="791557" y="3935610"/>
            <a:ext cx="247924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chemeClr val="bg1"/>
                </a:solidFill>
                <a:latin typeface="+mj-lt"/>
              </a:rPr>
              <a:t>Önceliklendirme:</a:t>
            </a:r>
          </a:p>
          <a:p>
            <a:endParaRPr lang="tr-TR" sz="14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/>
                </a:solidFill>
              </a:rPr>
              <a:t>Hangi ürün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/>
                </a:solidFill>
              </a:rPr>
              <a:t>Hangi aksiyon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/>
                </a:solidFill>
              </a:rPr>
              <a:t>Kar/Hacim/Cüzdan Payı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/>
                </a:solidFill>
              </a:rPr>
              <a:t>Uzun vadeli ilişki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 err="1">
                <a:solidFill>
                  <a:schemeClr val="bg1"/>
                </a:solidFill>
              </a:rPr>
              <a:t>Churn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prevention</a:t>
            </a:r>
            <a:endParaRPr lang="tr-TR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/>
                </a:solidFill>
              </a:rPr>
              <a:t>Stratejik öncelikler, APKO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/>
                </a:solidFill>
              </a:rPr>
              <a:t>İç kontrol / uyum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A34F78-A0F8-A621-B555-FE6480827DEA}"/>
              </a:ext>
            </a:extLst>
          </p:cNvPr>
          <p:cNvSpPr txBox="1"/>
          <p:nvPr/>
        </p:nvSpPr>
        <p:spPr>
          <a:xfrm>
            <a:off x="3297319" y="3935610"/>
            <a:ext cx="247924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chemeClr val="bg1"/>
                </a:solidFill>
                <a:latin typeface="+mj-lt"/>
              </a:rPr>
              <a:t>Takip:</a:t>
            </a:r>
          </a:p>
          <a:p>
            <a:endParaRPr lang="tr-TR" sz="14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 err="1">
                <a:solidFill>
                  <a:schemeClr val="bg1"/>
                </a:solidFill>
              </a:rPr>
              <a:t>Qlik</a:t>
            </a:r>
            <a:r>
              <a:rPr lang="tr-TR" sz="1400" dirty="0">
                <a:solidFill>
                  <a:schemeClr val="bg1"/>
                </a:solidFill>
              </a:rPr>
              <a:t> </a:t>
            </a:r>
            <a:r>
              <a:rPr lang="tr-TR" sz="1400" dirty="0" err="1">
                <a:solidFill>
                  <a:schemeClr val="bg1"/>
                </a:solidFill>
              </a:rPr>
              <a:t>Dashboard’lar</a:t>
            </a:r>
            <a:r>
              <a:rPr lang="tr-TR" sz="1400" dirty="0">
                <a:solidFill>
                  <a:schemeClr val="bg1"/>
                </a:solidFill>
              </a:rPr>
              <a:t> üzerinden </a:t>
            </a:r>
            <a:r>
              <a:rPr lang="tr-TR" sz="1400" b="1" dirty="0">
                <a:solidFill>
                  <a:schemeClr val="bg1"/>
                </a:solidFill>
              </a:rPr>
              <a:t>tek yönlü </a:t>
            </a:r>
            <a:r>
              <a:rPr lang="tr-TR" sz="1400" dirty="0">
                <a:solidFill>
                  <a:schemeClr val="bg1"/>
                </a:solidFill>
              </a:rPr>
              <a:t>paylaşım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/>
                </a:solidFill>
              </a:rPr>
              <a:t>Önerilen aksiyonların sonucu bilinmiyor</a:t>
            </a:r>
          </a:p>
          <a:p>
            <a:endParaRPr lang="tr-TR" sz="14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2F34D4-3296-72FD-27B9-7BC1B7FDEA5D}"/>
              </a:ext>
            </a:extLst>
          </p:cNvPr>
          <p:cNvSpPr txBox="1"/>
          <p:nvPr/>
        </p:nvSpPr>
        <p:spPr>
          <a:xfrm>
            <a:off x="5891420" y="3935610"/>
            <a:ext cx="2727174" cy="1846659"/>
          </a:xfrm>
          <a:prstGeom prst="rect">
            <a:avLst/>
          </a:prstGeom>
          <a:noFill/>
        </p:spPr>
        <p:txBody>
          <a:bodyPr wrap="square" rIns="72000" rtlCol="0">
            <a:spAutoFit/>
          </a:bodyPr>
          <a:lstStyle/>
          <a:p>
            <a:r>
              <a:rPr lang="tr-TR" sz="1600" b="1" dirty="0">
                <a:solidFill>
                  <a:schemeClr val="bg1"/>
                </a:solidFill>
                <a:latin typeface="+mj-lt"/>
              </a:rPr>
              <a:t>Geri Bildirim:</a:t>
            </a:r>
          </a:p>
          <a:p>
            <a:endParaRPr lang="tr-TR" sz="14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/>
                </a:solidFill>
              </a:rPr>
              <a:t>Bu öneri / aksiyon müşteri için gerçekten </a:t>
            </a:r>
            <a:r>
              <a:rPr lang="tr-TR" sz="1400" b="1" dirty="0">
                <a:solidFill>
                  <a:schemeClr val="bg1"/>
                </a:solidFill>
              </a:rPr>
              <a:t>uygun mu</a:t>
            </a:r>
            <a:r>
              <a:rPr lang="tr-TR" sz="1400" dirty="0">
                <a:solidFill>
                  <a:schemeClr val="bg1"/>
                </a:solidFill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/>
                </a:solidFill>
              </a:rPr>
              <a:t>Öneri müşteriye </a:t>
            </a:r>
            <a:r>
              <a:rPr lang="tr-TR" sz="1400" b="1" dirty="0">
                <a:solidFill>
                  <a:schemeClr val="bg1"/>
                </a:solidFill>
              </a:rPr>
              <a:t>ulaştı mı</a:t>
            </a:r>
            <a:r>
              <a:rPr lang="tr-TR" sz="1400" dirty="0">
                <a:solidFill>
                  <a:schemeClr val="bg1"/>
                </a:solidFill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/>
                </a:solidFill>
              </a:rPr>
              <a:t>Müşterinin </a:t>
            </a:r>
            <a:r>
              <a:rPr lang="tr-TR" sz="1400" b="1" dirty="0">
                <a:solidFill>
                  <a:schemeClr val="bg1"/>
                </a:solidFill>
              </a:rPr>
              <a:t>cevabı ne oldu</a:t>
            </a:r>
            <a:r>
              <a:rPr lang="tr-TR" sz="1400" dirty="0">
                <a:solidFill>
                  <a:schemeClr val="bg1"/>
                </a:solidFill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/>
                </a:solidFill>
              </a:rPr>
              <a:t>Çoktan seçmeli mi </a:t>
            </a:r>
            <a:r>
              <a:rPr lang="tr-TR" sz="1400" b="1" dirty="0">
                <a:solidFill>
                  <a:schemeClr val="bg1"/>
                </a:solidFill>
              </a:rPr>
              <a:t>açık uçlu </a:t>
            </a:r>
            <a:r>
              <a:rPr lang="tr-TR" sz="1400" dirty="0">
                <a:solidFill>
                  <a:schemeClr val="bg1"/>
                </a:solidFill>
              </a:rPr>
              <a:t>mu?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5E27CC-B90B-8A48-A023-25BFE1E17245}"/>
              </a:ext>
            </a:extLst>
          </p:cNvPr>
          <p:cNvSpPr txBox="1"/>
          <p:nvPr/>
        </p:nvSpPr>
        <p:spPr>
          <a:xfrm>
            <a:off x="8864044" y="3935610"/>
            <a:ext cx="3201971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1" dirty="0">
                <a:solidFill>
                  <a:schemeClr val="bg1"/>
                </a:solidFill>
                <a:latin typeface="+mj-lt"/>
              </a:rPr>
              <a:t>Aksiyon Planlama:</a:t>
            </a:r>
          </a:p>
          <a:p>
            <a:endParaRPr lang="tr-TR" sz="14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tr-TR" sz="1400" b="1" dirty="0">
                <a:solidFill>
                  <a:schemeClr val="bg1"/>
                </a:solidFill>
              </a:rPr>
              <a:t>Bugün ne yapmalıyım</a:t>
            </a:r>
            <a:r>
              <a:rPr lang="tr-TR" sz="1400" dirty="0">
                <a:solidFill>
                  <a:schemeClr val="bg1"/>
                </a:solidFill>
              </a:rPr>
              <a:t>: portföylerin hedefleri ile ilişkili aksiyon planı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tr-TR" sz="1400" b="1" dirty="0">
                <a:solidFill>
                  <a:schemeClr val="bg1"/>
                </a:solidFill>
              </a:rPr>
              <a:t>En kolay / En değerli</a:t>
            </a:r>
            <a:r>
              <a:rPr lang="tr-TR" sz="1400" dirty="0">
                <a:solidFill>
                  <a:schemeClr val="bg1"/>
                </a:solidFill>
              </a:rPr>
              <a:t>: hangi aksiyon benim için / banka için daha değerli?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tr-TR" sz="1400" b="1" dirty="0">
                <a:solidFill>
                  <a:schemeClr val="bg1"/>
                </a:solidFill>
              </a:rPr>
              <a:t>Bu hafta/bu ay yeterince verimli miydi?</a:t>
            </a:r>
            <a:r>
              <a:rPr lang="tr-TR" sz="1400" dirty="0">
                <a:solidFill>
                  <a:schemeClr val="bg1"/>
                </a:solidFill>
              </a:rPr>
              <a:t>: self-</a:t>
            </a:r>
            <a:r>
              <a:rPr lang="tr-TR" sz="1400" dirty="0" err="1">
                <a:solidFill>
                  <a:schemeClr val="bg1"/>
                </a:solidFill>
              </a:rPr>
              <a:t>assessment</a:t>
            </a:r>
            <a:endParaRPr lang="tr-TR" sz="14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tr-TR" sz="1400" dirty="0">
                <a:solidFill>
                  <a:schemeClr val="bg1"/>
                </a:solidFill>
              </a:rPr>
              <a:t>Bekleyen işlemlerim neler?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DA1728-A6C5-C52F-121B-16E326A6CDFD}"/>
              </a:ext>
            </a:extLst>
          </p:cNvPr>
          <p:cNvCxnSpPr>
            <a:cxnSpLocks/>
          </p:cNvCxnSpPr>
          <p:nvPr/>
        </p:nvCxnSpPr>
        <p:spPr>
          <a:xfrm>
            <a:off x="895252" y="4218414"/>
            <a:ext cx="14328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992A498-B605-E852-558B-C1AD13739C1A}"/>
              </a:ext>
            </a:extLst>
          </p:cNvPr>
          <p:cNvCxnSpPr>
            <a:cxnSpLocks/>
          </p:cNvCxnSpPr>
          <p:nvPr/>
        </p:nvCxnSpPr>
        <p:spPr>
          <a:xfrm>
            <a:off x="3572465" y="4218414"/>
            <a:ext cx="461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2685210-946B-E779-994F-515CAA68E0B1}"/>
              </a:ext>
            </a:extLst>
          </p:cNvPr>
          <p:cNvCxnSpPr>
            <a:cxnSpLocks/>
          </p:cNvCxnSpPr>
          <p:nvPr/>
        </p:nvCxnSpPr>
        <p:spPr>
          <a:xfrm>
            <a:off x="6164837" y="4218414"/>
            <a:ext cx="10746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011600-FA8D-F1D8-5198-96238D528526}"/>
              </a:ext>
            </a:extLst>
          </p:cNvPr>
          <p:cNvCxnSpPr>
            <a:cxnSpLocks/>
          </p:cNvCxnSpPr>
          <p:nvPr/>
        </p:nvCxnSpPr>
        <p:spPr>
          <a:xfrm>
            <a:off x="8974024" y="4218414"/>
            <a:ext cx="15365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EEF48D-8CCA-2BF2-FFB4-46BDF80C35D3}"/>
              </a:ext>
            </a:extLst>
          </p:cNvPr>
          <p:cNvCxnSpPr/>
          <p:nvPr/>
        </p:nvCxnSpPr>
        <p:spPr>
          <a:xfrm>
            <a:off x="3185222" y="4030680"/>
            <a:ext cx="0" cy="21711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0453939-D6CC-99EF-B4C1-90A070CB48E5}"/>
              </a:ext>
            </a:extLst>
          </p:cNvPr>
          <p:cNvCxnSpPr/>
          <p:nvPr/>
        </p:nvCxnSpPr>
        <p:spPr>
          <a:xfrm>
            <a:off x="5728397" y="4030680"/>
            <a:ext cx="0" cy="21711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088DDC-DE3A-BCD7-4AFB-849BB10E8207}"/>
              </a:ext>
            </a:extLst>
          </p:cNvPr>
          <p:cNvCxnSpPr/>
          <p:nvPr/>
        </p:nvCxnSpPr>
        <p:spPr>
          <a:xfrm>
            <a:off x="8651041" y="4030680"/>
            <a:ext cx="0" cy="21711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08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volved whirlpool whirlwind design element – Royalty-Free Vector |  VectorStock">
            <a:extLst>
              <a:ext uri="{FF2B5EF4-FFF2-40B4-BE49-F238E27FC236}">
                <a16:creationId xmlns:a16="http://schemas.microsoft.com/office/drawing/2014/main" id="{5309FE35-A03D-9133-2CAB-2E8050473F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87"/>
          <a:stretch/>
        </p:blipFill>
        <p:spPr bwMode="auto">
          <a:xfrm>
            <a:off x="3064125" y="512273"/>
            <a:ext cx="5994977" cy="57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255DA0-34C2-8D13-CAC0-7017C5C09BC9}"/>
              </a:ext>
            </a:extLst>
          </p:cNvPr>
          <p:cNvSpPr txBox="1"/>
          <p:nvPr/>
        </p:nvSpPr>
        <p:spPr>
          <a:xfrm>
            <a:off x="0" y="29144"/>
            <a:ext cx="2468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chemeClr val="bg1">
                    <a:lumMod val="75000"/>
                  </a:schemeClr>
                </a:solidFill>
              </a:rPr>
              <a:t>Tüzel Müşteri Dünyası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884512-E35E-715F-CFCE-2C30701A6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188" y="1804146"/>
            <a:ext cx="4159624" cy="41596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0095DF-222C-0446-E6A9-C1C70DC02326}"/>
              </a:ext>
            </a:extLst>
          </p:cNvPr>
          <p:cNvSpPr txBox="1"/>
          <p:nvPr/>
        </p:nvSpPr>
        <p:spPr>
          <a:xfrm>
            <a:off x="7162802" y="1476045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50650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52676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16281" y="-27164"/>
                  <a:pt x="328835" y="49661"/>
                  <a:pt x="506506" y="0"/>
                </a:cubicBezTo>
                <a:cubicBezTo>
                  <a:pt x="684177" y="-49661"/>
                  <a:pt x="887417" y="21756"/>
                  <a:pt x="1013012" y="0"/>
                </a:cubicBezTo>
                <a:cubicBezTo>
                  <a:pt x="1045270" y="114940"/>
                  <a:pt x="986392" y="224509"/>
                  <a:pt x="1013012" y="369332"/>
                </a:cubicBezTo>
                <a:cubicBezTo>
                  <a:pt x="837601" y="418338"/>
                  <a:pt x="624835" y="342105"/>
                  <a:pt x="526766" y="369332"/>
                </a:cubicBezTo>
                <a:cubicBezTo>
                  <a:pt x="428697" y="396559"/>
                  <a:pt x="141203" y="316957"/>
                  <a:pt x="0" y="369332"/>
                </a:cubicBezTo>
                <a:cubicBezTo>
                  <a:pt x="-3970" y="236566"/>
                  <a:pt x="7703" y="107267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99585" y="-18232"/>
                  <a:pt x="249173" y="37439"/>
                  <a:pt x="476116" y="0"/>
                </a:cubicBezTo>
                <a:cubicBezTo>
                  <a:pt x="703059" y="-37439"/>
                  <a:pt x="869780" y="18266"/>
                  <a:pt x="1013012" y="0"/>
                </a:cubicBezTo>
                <a:cubicBezTo>
                  <a:pt x="1051959" y="181076"/>
                  <a:pt x="990150" y="224714"/>
                  <a:pt x="1013012" y="369332"/>
                </a:cubicBezTo>
                <a:cubicBezTo>
                  <a:pt x="786330" y="386944"/>
                  <a:pt x="759007" y="348623"/>
                  <a:pt x="526766" y="369332"/>
                </a:cubicBezTo>
                <a:cubicBezTo>
                  <a:pt x="294525" y="390041"/>
                  <a:pt x="126997" y="325111"/>
                  <a:pt x="0" y="369332"/>
                </a:cubicBezTo>
                <a:cubicBezTo>
                  <a:pt x="-22126" y="236033"/>
                  <a:pt x="33323" y="171498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28508029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Qlik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7FF31B-4F4E-BC2F-962B-8D2462605001}"/>
              </a:ext>
            </a:extLst>
          </p:cNvPr>
          <p:cNvSpPr txBox="1"/>
          <p:nvPr/>
        </p:nvSpPr>
        <p:spPr>
          <a:xfrm>
            <a:off x="1491092" y="2273647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49637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48624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30441" y="-975"/>
                  <a:pt x="356771" y="58531"/>
                  <a:pt x="496376" y="0"/>
                </a:cubicBezTo>
                <a:cubicBezTo>
                  <a:pt x="635981" y="-58531"/>
                  <a:pt x="802180" y="29937"/>
                  <a:pt x="1013012" y="0"/>
                </a:cubicBezTo>
                <a:cubicBezTo>
                  <a:pt x="1029862" y="74455"/>
                  <a:pt x="992587" y="283847"/>
                  <a:pt x="1013012" y="369332"/>
                </a:cubicBezTo>
                <a:cubicBezTo>
                  <a:pt x="809725" y="376968"/>
                  <a:pt x="639486" y="337937"/>
                  <a:pt x="486246" y="369332"/>
                </a:cubicBezTo>
                <a:cubicBezTo>
                  <a:pt x="333006" y="400727"/>
                  <a:pt x="108104" y="336838"/>
                  <a:pt x="0" y="369332"/>
                </a:cubicBezTo>
                <a:cubicBezTo>
                  <a:pt x="-22479" y="294221"/>
                  <a:pt x="18717" y="79307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138761" y="-47680"/>
                  <a:pt x="286547" y="52239"/>
                  <a:pt x="476116" y="0"/>
                </a:cubicBezTo>
                <a:cubicBezTo>
                  <a:pt x="665685" y="-52239"/>
                  <a:pt x="863141" y="60712"/>
                  <a:pt x="1013012" y="0"/>
                </a:cubicBezTo>
                <a:cubicBezTo>
                  <a:pt x="1037925" y="140207"/>
                  <a:pt x="968913" y="217777"/>
                  <a:pt x="1013012" y="369332"/>
                </a:cubicBezTo>
                <a:cubicBezTo>
                  <a:pt x="904708" y="404043"/>
                  <a:pt x="676829" y="354604"/>
                  <a:pt x="486246" y="369332"/>
                </a:cubicBezTo>
                <a:cubicBezTo>
                  <a:pt x="295663" y="384060"/>
                  <a:pt x="136793" y="362868"/>
                  <a:pt x="0" y="369332"/>
                </a:cubicBezTo>
                <a:cubicBezTo>
                  <a:pt x="-15135" y="186041"/>
                  <a:pt x="10599" y="80419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28383645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EVAM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074BB-F6E4-65F7-3364-A3954B8C2EDA}"/>
              </a:ext>
            </a:extLst>
          </p:cNvPr>
          <p:cNvSpPr txBox="1"/>
          <p:nvPr/>
        </p:nvSpPr>
        <p:spPr>
          <a:xfrm>
            <a:off x="2088776" y="3364004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51663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52676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229445" y="-3327"/>
                  <a:pt x="412943" y="12983"/>
                  <a:pt x="516636" y="0"/>
                </a:cubicBezTo>
                <a:cubicBezTo>
                  <a:pt x="620329" y="-12983"/>
                  <a:pt x="899277" y="9893"/>
                  <a:pt x="1013012" y="0"/>
                </a:cubicBezTo>
                <a:cubicBezTo>
                  <a:pt x="1014301" y="139842"/>
                  <a:pt x="993228" y="205637"/>
                  <a:pt x="1013012" y="369332"/>
                </a:cubicBezTo>
                <a:cubicBezTo>
                  <a:pt x="830455" y="392162"/>
                  <a:pt x="626117" y="322238"/>
                  <a:pt x="526766" y="369332"/>
                </a:cubicBezTo>
                <a:cubicBezTo>
                  <a:pt x="427415" y="416426"/>
                  <a:pt x="215220" y="355444"/>
                  <a:pt x="0" y="369332"/>
                </a:cubicBezTo>
                <a:cubicBezTo>
                  <a:pt x="-40108" y="202717"/>
                  <a:pt x="26240" y="160701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225801" y="-21424"/>
                  <a:pt x="321831" y="56915"/>
                  <a:pt x="486246" y="0"/>
                </a:cubicBezTo>
                <a:cubicBezTo>
                  <a:pt x="650661" y="-56915"/>
                  <a:pt x="869665" y="59155"/>
                  <a:pt x="1013012" y="0"/>
                </a:cubicBezTo>
                <a:cubicBezTo>
                  <a:pt x="1049069" y="167807"/>
                  <a:pt x="969130" y="196178"/>
                  <a:pt x="1013012" y="369332"/>
                </a:cubicBezTo>
                <a:cubicBezTo>
                  <a:pt x="897326" y="418832"/>
                  <a:pt x="712400" y="361585"/>
                  <a:pt x="516636" y="369332"/>
                </a:cubicBezTo>
                <a:cubicBezTo>
                  <a:pt x="320872" y="377079"/>
                  <a:pt x="240922" y="318064"/>
                  <a:pt x="0" y="369332"/>
                </a:cubicBezTo>
                <a:cubicBezTo>
                  <a:pt x="-6634" y="283079"/>
                  <a:pt x="33788" y="151128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60128489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Email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FEFBA3-F081-B0B3-8F1F-A5672E73B532}"/>
              </a:ext>
            </a:extLst>
          </p:cNvPr>
          <p:cNvSpPr txBox="1"/>
          <p:nvPr/>
        </p:nvSpPr>
        <p:spPr>
          <a:xfrm>
            <a:off x="4016188" y="1476045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47611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53689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21044" y="-33606"/>
                  <a:pt x="242559" y="2108"/>
                  <a:pt x="476116" y="0"/>
                </a:cubicBezTo>
                <a:cubicBezTo>
                  <a:pt x="709673" y="-2108"/>
                  <a:pt x="878117" y="11574"/>
                  <a:pt x="1013012" y="0"/>
                </a:cubicBezTo>
                <a:cubicBezTo>
                  <a:pt x="1052984" y="147387"/>
                  <a:pt x="975528" y="185826"/>
                  <a:pt x="1013012" y="369332"/>
                </a:cubicBezTo>
                <a:cubicBezTo>
                  <a:pt x="885603" y="406045"/>
                  <a:pt x="705880" y="314232"/>
                  <a:pt x="536896" y="369332"/>
                </a:cubicBezTo>
                <a:cubicBezTo>
                  <a:pt x="367912" y="424432"/>
                  <a:pt x="139381" y="347753"/>
                  <a:pt x="0" y="369332"/>
                </a:cubicBezTo>
                <a:cubicBezTo>
                  <a:pt x="-16099" y="234486"/>
                  <a:pt x="34079" y="146011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119922" y="-32135"/>
                  <a:pt x="252941" y="52116"/>
                  <a:pt x="476116" y="0"/>
                </a:cubicBezTo>
                <a:cubicBezTo>
                  <a:pt x="699291" y="-52116"/>
                  <a:pt x="882439" y="20820"/>
                  <a:pt x="1013012" y="0"/>
                </a:cubicBezTo>
                <a:cubicBezTo>
                  <a:pt x="1024322" y="85721"/>
                  <a:pt x="990070" y="235430"/>
                  <a:pt x="1013012" y="369332"/>
                </a:cubicBezTo>
                <a:cubicBezTo>
                  <a:pt x="891785" y="380639"/>
                  <a:pt x="717485" y="354606"/>
                  <a:pt x="496376" y="369332"/>
                </a:cubicBezTo>
                <a:cubicBezTo>
                  <a:pt x="275267" y="384058"/>
                  <a:pt x="152052" y="343802"/>
                  <a:pt x="0" y="369332"/>
                </a:cubicBezTo>
                <a:cubicBezTo>
                  <a:pt x="-4366" y="290540"/>
                  <a:pt x="42960" y="139326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58555497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Step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A3080D-7406-94D6-0094-0AA835810DF6}"/>
              </a:ext>
            </a:extLst>
          </p:cNvPr>
          <p:cNvSpPr txBox="1"/>
          <p:nvPr/>
        </p:nvSpPr>
        <p:spPr>
          <a:xfrm>
            <a:off x="10363201" y="3364004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52676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50650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60906" y="-32635"/>
                  <a:pt x="395745" y="28528"/>
                  <a:pt x="526766" y="0"/>
                </a:cubicBezTo>
                <a:cubicBezTo>
                  <a:pt x="657787" y="-28528"/>
                  <a:pt x="839572" y="56468"/>
                  <a:pt x="1013012" y="0"/>
                </a:cubicBezTo>
                <a:cubicBezTo>
                  <a:pt x="1049542" y="135200"/>
                  <a:pt x="1010102" y="193400"/>
                  <a:pt x="1013012" y="369332"/>
                </a:cubicBezTo>
                <a:cubicBezTo>
                  <a:pt x="902315" y="381360"/>
                  <a:pt x="753269" y="318247"/>
                  <a:pt x="506506" y="369332"/>
                </a:cubicBezTo>
                <a:cubicBezTo>
                  <a:pt x="259743" y="420417"/>
                  <a:pt x="113232" y="329550"/>
                  <a:pt x="0" y="369332"/>
                </a:cubicBezTo>
                <a:cubicBezTo>
                  <a:pt x="-35908" y="206799"/>
                  <a:pt x="7130" y="139917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224575" y="-13014"/>
                  <a:pt x="289548" y="29681"/>
                  <a:pt x="516636" y="0"/>
                </a:cubicBezTo>
                <a:cubicBezTo>
                  <a:pt x="743724" y="-29681"/>
                  <a:pt x="851441" y="47024"/>
                  <a:pt x="1013012" y="0"/>
                </a:cubicBezTo>
                <a:cubicBezTo>
                  <a:pt x="1023491" y="175995"/>
                  <a:pt x="982083" y="237633"/>
                  <a:pt x="1013012" y="369332"/>
                </a:cubicBezTo>
                <a:cubicBezTo>
                  <a:pt x="759582" y="421192"/>
                  <a:pt x="602429" y="310170"/>
                  <a:pt x="496376" y="369332"/>
                </a:cubicBezTo>
                <a:cubicBezTo>
                  <a:pt x="390323" y="428494"/>
                  <a:pt x="209085" y="368497"/>
                  <a:pt x="0" y="369332"/>
                </a:cubicBezTo>
                <a:cubicBezTo>
                  <a:pt x="-5459" y="291138"/>
                  <a:pt x="9490" y="179262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6907352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Excel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A477CA53-DF8F-A410-EE72-8C74B460F99A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2504104" y="1660711"/>
            <a:ext cx="1512084" cy="79760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8C34E5E-E65D-CB17-4B26-5F926B0DD53E}"/>
              </a:ext>
            </a:extLst>
          </p:cNvPr>
          <p:cNvCxnSpPr>
            <a:stCxn id="6" idx="3"/>
            <a:endCxn id="7" idx="0"/>
          </p:cNvCxnSpPr>
          <p:nvPr/>
        </p:nvCxnSpPr>
        <p:spPr>
          <a:xfrm>
            <a:off x="2504104" y="2458313"/>
            <a:ext cx="91178" cy="90569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DAAB179F-FDFA-7135-7D5E-1995D5AFC25F}"/>
              </a:ext>
            </a:extLst>
          </p:cNvPr>
          <p:cNvCxnSpPr>
            <a:stCxn id="7" idx="3"/>
            <a:endCxn id="4" idx="1"/>
          </p:cNvCxnSpPr>
          <p:nvPr/>
        </p:nvCxnSpPr>
        <p:spPr>
          <a:xfrm>
            <a:off x="3101788" y="3548670"/>
            <a:ext cx="914400" cy="33528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AB116F24-815B-B6CE-B71A-8C6BB8AF67A6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029200" y="1660711"/>
            <a:ext cx="715704" cy="79785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5F20100-B568-A6D7-BD7E-DD4BC947BFD5}"/>
              </a:ext>
            </a:extLst>
          </p:cNvPr>
          <p:cNvCxnSpPr>
            <a:stCxn id="5" idx="1"/>
          </p:cNvCxnSpPr>
          <p:nvPr/>
        </p:nvCxnSpPr>
        <p:spPr>
          <a:xfrm rot="10800000" flipV="1">
            <a:off x="6450106" y="1660711"/>
            <a:ext cx="712696" cy="73062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925476EC-B801-0B7C-7A3C-6DB9C73EC171}"/>
              </a:ext>
            </a:extLst>
          </p:cNvPr>
          <p:cNvCxnSpPr>
            <a:stCxn id="9" idx="1"/>
            <a:endCxn id="4" idx="3"/>
          </p:cNvCxnSpPr>
          <p:nvPr/>
        </p:nvCxnSpPr>
        <p:spPr>
          <a:xfrm rot="10800000" flipV="1">
            <a:off x="8175813" y="3548670"/>
            <a:ext cx="2187389" cy="33528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489F1A1-1392-6349-891B-44D66BE74CF9}"/>
              </a:ext>
            </a:extLst>
          </p:cNvPr>
          <p:cNvSpPr txBox="1"/>
          <p:nvPr/>
        </p:nvSpPr>
        <p:spPr>
          <a:xfrm>
            <a:off x="5522258" y="784874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48624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49637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57136" y="-55920"/>
                  <a:pt x="289208" y="50930"/>
                  <a:pt x="486246" y="0"/>
                </a:cubicBezTo>
                <a:cubicBezTo>
                  <a:pt x="683284" y="-50930"/>
                  <a:pt x="838247" y="8177"/>
                  <a:pt x="1013012" y="0"/>
                </a:cubicBezTo>
                <a:cubicBezTo>
                  <a:pt x="1022682" y="130799"/>
                  <a:pt x="972183" y="238060"/>
                  <a:pt x="1013012" y="369332"/>
                </a:cubicBezTo>
                <a:cubicBezTo>
                  <a:pt x="883811" y="383111"/>
                  <a:pt x="679225" y="329862"/>
                  <a:pt x="496376" y="369332"/>
                </a:cubicBezTo>
                <a:cubicBezTo>
                  <a:pt x="313527" y="408802"/>
                  <a:pt x="142105" y="350751"/>
                  <a:pt x="0" y="369332"/>
                </a:cubicBezTo>
                <a:cubicBezTo>
                  <a:pt x="-8043" y="264747"/>
                  <a:pt x="29093" y="166258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230501" y="-16182"/>
                  <a:pt x="367497" y="54068"/>
                  <a:pt x="496376" y="0"/>
                </a:cubicBezTo>
                <a:cubicBezTo>
                  <a:pt x="625255" y="-54068"/>
                  <a:pt x="785171" y="35304"/>
                  <a:pt x="1013012" y="0"/>
                </a:cubicBezTo>
                <a:cubicBezTo>
                  <a:pt x="1020261" y="86221"/>
                  <a:pt x="974489" y="273075"/>
                  <a:pt x="1013012" y="369332"/>
                </a:cubicBezTo>
                <a:cubicBezTo>
                  <a:pt x="851056" y="405987"/>
                  <a:pt x="603139" y="342481"/>
                  <a:pt x="486246" y="369332"/>
                </a:cubicBezTo>
                <a:cubicBezTo>
                  <a:pt x="369353" y="396183"/>
                  <a:pt x="220649" y="351804"/>
                  <a:pt x="0" y="369332"/>
                </a:cubicBezTo>
                <a:cubicBezTo>
                  <a:pt x="-27824" y="252687"/>
                  <a:pt x="485" y="175799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94830490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35CD8F-194C-3EFF-352E-06630E353927}"/>
              </a:ext>
            </a:extLst>
          </p:cNvPr>
          <p:cNvSpPr txBox="1"/>
          <p:nvPr/>
        </p:nvSpPr>
        <p:spPr>
          <a:xfrm>
            <a:off x="1075764" y="4296332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49637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52676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61054" y="-6294"/>
                  <a:pt x="321455" y="10844"/>
                  <a:pt x="496376" y="0"/>
                </a:cubicBezTo>
                <a:cubicBezTo>
                  <a:pt x="671297" y="-10844"/>
                  <a:pt x="818788" y="31111"/>
                  <a:pt x="1013012" y="0"/>
                </a:cubicBezTo>
                <a:cubicBezTo>
                  <a:pt x="1047175" y="173264"/>
                  <a:pt x="986968" y="278686"/>
                  <a:pt x="1013012" y="369332"/>
                </a:cubicBezTo>
                <a:cubicBezTo>
                  <a:pt x="803398" y="425679"/>
                  <a:pt x="715870" y="336798"/>
                  <a:pt x="526766" y="369332"/>
                </a:cubicBezTo>
                <a:cubicBezTo>
                  <a:pt x="337662" y="401866"/>
                  <a:pt x="262026" y="309934"/>
                  <a:pt x="0" y="369332"/>
                </a:cubicBezTo>
                <a:cubicBezTo>
                  <a:pt x="-29681" y="219265"/>
                  <a:pt x="36720" y="119101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117355" y="-37963"/>
                  <a:pt x="293252" y="24831"/>
                  <a:pt x="486246" y="0"/>
                </a:cubicBezTo>
                <a:cubicBezTo>
                  <a:pt x="679240" y="-24831"/>
                  <a:pt x="759865" y="50892"/>
                  <a:pt x="1013012" y="0"/>
                </a:cubicBezTo>
                <a:cubicBezTo>
                  <a:pt x="1020265" y="131065"/>
                  <a:pt x="995944" y="259929"/>
                  <a:pt x="1013012" y="369332"/>
                </a:cubicBezTo>
                <a:cubicBezTo>
                  <a:pt x="804327" y="375308"/>
                  <a:pt x="658582" y="314202"/>
                  <a:pt x="526766" y="369332"/>
                </a:cubicBezTo>
                <a:cubicBezTo>
                  <a:pt x="394950" y="424462"/>
                  <a:pt x="248886" y="327006"/>
                  <a:pt x="0" y="369332"/>
                </a:cubicBezTo>
                <a:cubicBezTo>
                  <a:pt x="-14530" y="254239"/>
                  <a:pt x="8372" y="9050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42114265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APKO</a:t>
            </a:r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050ED86E-BBA4-DE05-9B72-789C87F553A0}"/>
              </a:ext>
            </a:extLst>
          </p:cNvPr>
          <p:cNvCxnSpPr>
            <a:stCxn id="31" idx="3"/>
            <a:endCxn id="7" idx="2"/>
          </p:cNvCxnSpPr>
          <p:nvPr/>
        </p:nvCxnSpPr>
        <p:spPr>
          <a:xfrm flipV="1">
            <a:off x="2088776" y="3733336"/>
            <a:ext cx="506506" cy="74766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E2360AA-E2EC-78DF-D767-B63124BEC4B3}"/>
              </a:ext>
            </a:extLst>
          </p:cNvPr>
          <p:cNvSpPr txBox="1"/>
          <p:nvPr/>
        </p:nvSpPr>
        <p:spPr>
          <a:xfrm>
            <a:off x="9090212" y="1721223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49637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52676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72329" y="-31653"/>
                  <a:pt x="322441" y="32892"/>
                  <a:pt x="496376" y="0"/>
                </a:cubicBezTo>
                <a:cubicBezTo>
                  <a:pt x="670311" y="-32892"/>
                  <a:pt x="828976" y="1850"/>
                  <a:pt x="1013012" y="0"/>
                </a:cubicBezTo>
                <a:cubicBezTo>
                  <a:pt x="1049569" y="76118"/>
                  <a:pt x="978073" y="216791"/>
                  <a:pt x="1013012" y="369332"/>
                </a:cubicBezTo>
                <a:cubicBezTo>
                  <a:pt x="841825" y="393890"/>
                  <a:pt x="639979" y="350508"/>
                  <a:pt x="526766" y="369332"/>
                </a:cubicBezTo>
                <a:cubicBezTo>
                  <a:pt x="413553" y="388156"/>
                  <a:pt x="129068" y="340602"/>
                  <a:pt x="0" y="369332"/>
                </a:cubicBezTo>
                <a:cubicBezTo>
                  <a:pt x="-39364" y="288393"/>
                  <a:pt x="30793" y="170085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156438" y="-44681"/>
                  <a:pt x="395322" y="15269"/>
                  <a:pt x="496376" y="0"/>
                </a:cubicBezTo>
                <a:cubicBezTo>
                  <a:pt x="597430" y="-15269"/>
                  <a:pt x="887532" y="22069"/>
                  <a:pt x="1013012" y="0"/>
                </a:cubicBezTo>
                <a:cubicBezTo>
                  <a:pt x="1035745" y="112214"/>
                  <a:pt x="1009763" y="249577"/>
                  <a:pt x="1013012" y="369332"/>
                </a:cubicBezTo>
                <a:cubicBezTo>
                  <a:pt x="842919" y="409778"/>
                  <a:pt x="708137" y="365550"/>
                  <a:pt x="536896" y="369332"/>
                </a:cubicBezTo>
                <a:cubicBezTo>
                  <a:pt x="365655" y="373114"/>
                  <a:pt x="146120" y="337722"/>
                  <a:pt x="0" y="369332"/>
                </a:cubicBezTo>
                <a:cubicBezTo>
                  <a:pt x="-13627" y="277997"/>
                  <a:pt x="17936" y="13291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322741049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Pusula</a:t>
            </a:r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E8692C7C-E957-E5AF-5E19-DB9C0665F597}"/>
              </a:ext>
            </a:extLst>
          </p:cNvPr>
          <p:cNvCxnSpPr>
            <a:stCxn id="35" idx="1"/>
            <a:endCxn id="5" idx="3"/>
          </p:cNvCxnSpPr>
          <p:nvPr/>
        </p:nvCxnSpPr>
        <p:spPr>
          <a:xfrm rot="10800000">
            <a:off x="8175814" y="1660711"/>
            <a:ext cx="914398" cy="24517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651D3437-94FA-8A68-CC62-366C6D5C52D1}"/>
              </a:ext>
            </a:extLst>
          </p:cNvPr>
          <p:cNvCxnSpPr>
            <a:stCxn id="9" idx="0"/>
            <a:endCxn id="35" idx="3"/>
          </p:cNvCxnSpPr>
          <p:nvPr/>
        </p:nvCxnSpPr>
        <p:spPr>
          <a:xfrm rot="16200000" flipV="1">
            <a:off x="9757409" y="2251705"/>
            <a:ext cx="1458115" cy="76648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609578F3-3027-4CCB-23E9-4F45B7BC6BBD}"/>
              </a:ext>
            </a:extLst>
          </p:cNvPr>
          <p:cNvCxnSpPr>
            <a:stCxn id="35" idx="2"/>
          </p:cNvCxnSpPr>
          <p:nvPr/>
        </p:nvCxnSpPr>
        <p:spPr>
          <a:xfrm rot="5400000">
            <a:off x="8405195" y="1475690"/>
            <a:ext cx="576658" cy="180638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7799413-69FE-A615-CE77-16AC8DEE9C3D}"/>
              </a:ext>
            </a:extLst>
          </p:cNvPr>
          <p:cNvSpPr txBox="1"/>
          <p:nvPr/>
        </p:nvSpPr>
        <p:spPr>
          <a:xfrm>
            <a:off x="8633011" y="4378493"/>
            <a:ext cx="1290917" cy="369332"/>
          </a:xfrm>
          <a:custGeom>
            <a:avLst/>
            <a:gdLst>
              <a:gd name="connsiteX0" fmla="*/ 0 w 1290917"/>
              <a:gd name="connsiteY0" fmla="*/ 0 h 369332"/>
              <a:gd name="connsiteX1" fmla="*/ 430306 w 1290917"/>
              <a:gd name="connsiteY1" fmla="*/ 0 h 369332"/>
              <a:gd name="connsiteX2" fmla="*/ 886430 w 1290917"/>
              <a:gd name="connsiteY2" fmla="*/ 0 h 369332"/>
              <a:gd name="connsiteX3" fmla="*/ 1290917 w 1290917"/>
              <a:gd name="connsiteY3" fmla="*/ 0 h 369332"/>
              <a:gd name="connsiteX4" fmla="*/ 1290917 w 1290917"/>
              <a:gd name="connsiteY4" fmla="*/ 369332 h 369332"/>
              <a:gd name="connsiteX5" fmla="*/ 847702 w 1290917"/>
              <a:gd name="connsiteY5" fmla="*/ 369332 h 369332"/>
              <a:gd name="connsiteX6" fmla="*/ 456124 w 1290917"/>
              <a:gd name="connsiteY6" fmla="*/ 369332 h 369332"/>
              <a:gd name="connsiteX7" fmla="*/ 0 w 1290917"/>
              <a:gd name="connsiteY7" fmla="*/ 369332 h 369332"/>
              <a:gd name="connsiteX8" fmla="*/ 0 w 1290917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0917" h="369332" fill="none" extrusionOk="0">
                <a:moveTo>
                  <a:pt x="0" y="0"/>
                </a:moveTo>
                <a:cubicBezTo>
                  <a:pt x="115134" y="-30832"/>
                  <a:pt x="329248" y="41203"/>
                  <a:pt x="430306" y="0"/>
                </a:cubicBezTo>
                <a:cubicBezTo>
                  <a:pt x="531364" y="-41203"/>
                  <a:pt x="763107" y="46332"/>
                  <a:pt x="886430" y="0"/>
                </a:cubicBezTo>
                <a:cubicBezTo>
                  <a:pt x="1009753" y="-46332"/>
                  <a:pt x="1103743" y="29033"/>
                  <a:pt x="1290917" y="0"/>
                </a:cubicBezTo>
                <a:cubicBezTo>
                  <a:pt x="1330187" y="93277"/>
                  <a:pt x="1259146" y="228879"/>
                  <a:pt x="1290917" y="369332"/>
                </a:cubicBezTo>
                <a:cubicBezTo>
                  <a:pt x="1075721" y="381208"/>
                  <a:pt x="993973" y="355192"/>
                  <a:pt x="847702" y="369332"/>
                </a:cubicBezTo>
                <a:cubicBezTo>
                  <a:pt x="701431" y="383472"/>
                  <a:pt x="636462" y="365841"/>
                  <a:pt x="456124" y="369332"/>
                </a:cubicBezTo>
                <a:cubicBezTo>
                  <a:pt x="275786" y="372823"/>
                  <a:pt x="195508" y="349683"/>
                  <a:pt x="0" y="369332"/>
                </a:cubicBezTo>
                <a:cubicBezTo>
                  <a:pt x="-4895" y="217030"/>
                  <a:pt x="43463" y="169776"/>
                  <a:pt x="0" y="0"/>
                </a:cubicBezTo>
                <a:close/>
              </a:path>
              <a:path w="1290917" h="369332" stroke="0" extrusionOk="0">
                <a:moveTo>
                  <a:pt x="0" y="0"/>
                </a:moveTo>
                <a:cubicBezTo>
                  <a:pt x="128227" y="-21548"/>
                  <a:pt x="342409" y="27629"/>
                  <a:pt x="443215" y="0"/>
                </a:cubicBezTo>
                <a:cubicBezTo>
                  <a:pt x="544021" y="-27629"/>
                  <a:pt x="799979" y="12564"/>
                  <a:pt x="899339" y="0"/>
                </a:cubicBezTo>
                <a:cubicBezTo>
                  <a:pt x="998699" y="-12564"/>
                  <a:pt x="1167302" y="1194"/>
                  <a:pt x="1290917" y="0"/>
                </a:cubicBezTo>
                <a:cubicBezTo>
                  <a:pt x="1305249" y="135504"/>
                  <a:pt x="1282005" y="249616"/>
                  <a:pt x="1290917" y="369332"/>
                </a:cubicBezTo>
                <a:cubicBezTo>
                  <a:pt x="1104421" y="370616"/>
                  <a:pt x="952606" y="359361"/>
                  <a:pt x="834793" y="369332"/>
                </a:cubicBezTo>
                <a:cubicBezTo>
                  <a:pt x="716980" y="379303"/>
                  <a:pt x="622819" y="359089"/>
                  <a:pt x="443215" y="369332"/>
                </a:cubicBezTo>
                <a:cubicBezTo>
                  <a:pt x="263611" y="379575"/>
                  <a:pt x="134565" y="355153"/>
                  <a:pt x="0" y="369332"/>
                </a:cubicBezTo>
                <a:cubicBezTo>
                  <a:pt x="-1554" y="208067"/>
                  <a:pt x="22005" y="103751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6907352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Intranet</a:t>
            </a:r>
          </a:p>
        </p:txBody>
      </p: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FF7BFB0C-79A6-75EB-7652-E5BA864E98C7}"/>
              </a:ext>
            </a:extLst>
          </p:cNvPr>
          <p:cNvCxnSpPr>
            <a:cxnSpLocks/>
            <a:stCxn id="44" idx="1"/>
          </p:cNvCxnSpPr>
          <p:nvPr/>
        </p:nvCxnSpPr>
        <p:spPr>
          <a:xfrm rot="10800000">
            <a:off x="7933769" y="4476517"/>
            <a:ext cx="699242" cy="86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01B57920-D58C-52C0-9D93-FCE2DDAACD06}"/>
              </a:ext>
            </a:extLst>
          </p:cNvPr>
          <p:cNvCxnSpPr>
            <a:stCxn id="28" idx="2"/>
          </p:cNvCxnSpPr>
          <p:nvPr/>
        </p:nvCxnSpPr>
        <p:spPr>
          <a:xfrm rot="16200000" flipH="1">
            <a:off x="5481918" y="1701052"/>
            <a:ext cx="1160929" cy="6723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1F0E255-E252-E61B-7E90-8D2567987B8F}"/>
              </a:ext>
            </a:extLst>
          </p:cNvPr>
          <p:cNvSpPr txBox="1"/>
          <p:nvPr/>
        </p:nvSpPr>
        <p:spPr>
          <a:xfrm>
            <a:off x="5354425" y="6296209"/>
            <a:ext cx="1483150" cy="491581"/>
          </a:xfrm>
          <a:custGeom>
            <a:avLst/>
            <a:gdLst>
              <a:gd name="connsiteX0" fmla="*/ 0 w 1483150"/>
              <a:gd name="connsiteY0" fmla="*/ 0 h 491581"/>
              <a:gd name="connsiteX1" fmla="*/ 449889 w 1483150"/>
              <a:gd name="connsiteY1" fmla="*/ 0 h 491581"/>
              <a:gd name="connsiteX2" fmla="*/ 973935 w 1483150"/>
              <a:gd name="connsiteY2" fmla="*/ 0 h 491581"/>
              <a:gd name="connsiteX3" fmla="*/ 1483150 w 1483150"/>
              <a:gd name="connsiteY3" fmla="*/ 0 h 491581"/>
              <a:gd name="connsiteX4" fmla="*/ 1483150 w 1483150"/>
              <a:gd name="connsiteY4" fmla="*/ 491581 h 491581"/>
              <a:gd name="connsiteX5" fmla="*/ 1003598 w 1483150"/>
              <a:gd name="connsiteY5" fmla="*/ 491581 h 491581"/>
              <a:gd name="connsiteX6" fmla="*/ 509215 w 1483150"/>
              <a:gd name="connsiteY6" fmla="*/ 491581 h 491581"/>
              <a:gd name="connsiteX7" fmla="*/ 0 w 1483150"/>
              <a:gd name="connsiteY7" fmla="*/ 491581 h 491581"/>
              <a:gd name="connsiteX8" fmla="*/ 0 w 1483150"/>
              <a:gd name="connsiteY8" fmla="*/ 0 h 49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83150" h="491581" fill="none" extrusionOk="0">
                <a:moveTo>
                  <a:pt x="0" y="0"/>
                </a:moveTo>
                <a:cubicBezTo>
                  <a:pt x="120576" y="-9487"/>
                  <a:pt x="273890" y="7081"/>
                  <a:pt x="449889" y="0"/>
                </a:cubicBezTo>
                <a:cubicBezTo>
                  <a:pt x="625888" y="-7081"/>
                  <a:pt x="769639" y="37484"/>
                  <a:pt x="973935" y="0"/>
                </a:cubicBezTo>
                <a:cubicBezTo>
                  <a:pt x="1178231" y="-37484"/>
                  <a:pt x="1257339" y="40734"/>
                  <a:pt x="1483150" y="0"/>
                </a:cubicBezTo>
                <a:cubicBezTo>
                  <a:pt x="1515276" y="149337"/>
                  <a:pt x="1442027" y="381528"/>
                  <a:pt x="1483150" y="491581"/>
                </a:cubicBezTo>
                <a:cubicBezTo>
                  <a:pt x="1377031" y="493700"/>
                  <a:pt x="1124733" y="465543"/>
                  <a:pt x="1003598" y="491581"/>
                </a:cubicBezTo>
                <a:cubicBezTo>
                  <a:pt x="882463" y="517619"/>
                  <a:pt x="713484" y="476121"/>
                  <a:pt x="509215" y="491581"/>
                </a:cubicBezTo>
                <a:cubicBezTo>
                  <a:pt x="304946" y="507041"/>
                  <a:pt x="114084" y="440269"/>
                  <a:pt x="0" y="491581"/>
                </a:cubicBezTo>
                <a:cubicBezTo>
                  <a:pt x="-29716" y="306525"/>
                  <a:pt x="16856" y="124616"/>
                  <a:pt x="0" y="0"/>
                </a:cubicBezTo>
                <a:close/>
              </a:path>
              <a:path w="1483150" h="491581" stroke="0" extrusionOk="0">
                <a:moveTo>
                  <a:pt x="0" y="0"/>
                </a:moveTo>
                <a:cubicBezTo>
                  <a:pt x="145066" y="-32782"/>
                  <a:pt x="272822" y="43252"/>
                  <a:pt x="464720" y="0"/>
                </a:cubicBezTo>
                <a:cubicBezTo>
                  <a:pt x="656618" y="-43252"/>
                  <a:pt x="773947" y="26422"/>
                  <a:pt x="914609" y="0"/>
                </a:cubicBezTo>
                <a:cubicBezTo>
                  <a:pt x="1055271" y="-26422"/>
                  <a:pt x="1261091" y="10257"/>
                  <a:pt x="1483150" y="0"/>
                </a:cubicBezTo>
                <a:cubicBezTo>
                  <a:pt x="1483913" y="206053"/>
                  <a:pt x="1428325" y="349261"/>
                  <a:pt x="1483150" y="491581"/>
                </a:cubicBezTo>
                <a:cubicBezTo>
                  <a:pt x="1286553" y="546134"/>
                  <a:pt x="1201647" y="475384"/>
                  <a:pt x="1003598" y="491581"/>
                </a:cubicBezTo>
                <a:cubicBezTo>
                  <a:pt x="805549" y="507778"/>
                  <a:pt x="672831" y="472532"/>
                  <a:pt x="553709" y="491581"/>
                </a:cubicBezTo>
                <a:cubicBezTo>
                  <a:pt x="434587" y="510630"/>
                  <a:pt x="146517" y="450648"/>
                  <a:pt x="0" y="491581"/>
                </a:cubicBezTo>
                <a:cubicBezTo>
                  <a:pt x="-6294" y="372873"/>
                  <a:pt x="38037" y="230936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42114265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Performans</a:t>
            </a: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09DB769F-020E-D7C9-3E95-DC2BE30E07C0}"/>
              </a:ext>
            </a:extLst>
          </p:cNvPr>
          <p:cNvCxnSpPr>
            <a:cxnSpLocks/>
            <a:endCxn id="53" idx="0"/>
          </p:cNvCxnSpPr>
          <p:nvPr/>
        </p:nvCxnSpPr>
        <p:spPr>
          <a:xfrm rot="16200000" flipH="1">
            <a:off x="5713893" y="5914102"/>
            <a:ext cx="413118" cy="35109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521A820D-3828-87E1-FC1D-BEF886291CF6}"/>
              </a:ext>
            </a:extLst>
          </p:cNvPr>
          <p:cNvCxnSpPr>
            <a:cxnSpLocks/>
            <a:endCxn id="53" idx="0"/>
          </p:cNvCxnSpPr>
          <p:nvPr/>
        </p:nvCxnSpPr>
        <p:spPr>
          <a:xfrm rot="5400000">
            <a:off x="6034748" y="5944341"/>
            <a:ext cx="413120" cy="29061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EA6C3083-D7BD-A99E-184D-386F16C34D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61222" y="5801668"/>
            <a:ext cx="794015" cy="46330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29" name="Connector: Curved 1028">
            <a:extLst>
              <a:ext uri="{FF2B5EF4-FFF2-40B4-BE49-F238E27FC236}">
                <a16:creationId xmlns:a16="http://schemas.microsoft.com/office/drawing/2014/main" id="{44958DC2-6A4D-A681-4321-61562E0BE70F}"/>
              </a:ext>
            </a:extLst>
          </p:cNvPr>
          <p:cNvCxnSpPr>
            <a:cxnSpLocks/>
          </p:cNvCxnSpPr>
          <p:nvPr/>
        </p:nvCxnSpPr>
        <p:spPr>
          <a:xfrm>
            <a:off x="5293945" y="5801668"/>
            <a:ext cx="734819" cy="46330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34" name="TextBox 1033">
            <a:extLst>
              <a:ext uri="{FF2B5EF4-FFF2-40B4-BE49-F238E27FC236}">
                <a16:creationId xmlns:a16="http://schemas.microsoft.com/office/drawing/2014/main" id="{60C28688-3906-4EFA-B6B6-25C0ECD15650}"/>
              </a:ext>
            </a:extLst>
          </p:cNvPr>
          <p:cNvSpPr txBox="1"/>
          <p:nvPr/>
        </p:nvSpPr>
        <p:spPr>
          <a:xfrm>
            <a:off x="0" y="369332"/>
            <a:ext cx="3185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i="1" dirty="0">
                <a:solidFill>
                  <a:schemeClr val="tx2"/>
                </a:solidFill>
              </a:rPr>
              <a:t>Günün sonunda…</a:t>
            </a:r>
            <a:endParaRPr lang="en-GB" sz="1600" i="1" dirty="0">
              <a:solidFill>
                <a:schemeClr val="tx2"/>
              </a:solidFill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A0C2053D-CDA0-763A-F472-6C06C2D50018}"/>
              </a:ext>
            </a:extLst>
          </p:cNvPr>
          <p:cNvSpPr txBox="1"/>
          <p:nvPr/>
        </p:nvSpPr>
        <p:spPr>
          <a:xfrm>
            <a:off x="10632135" y="4769009"/>
            <a:ext cx="1290917" cy="369332"/>
          </a:xfrm>
          <a:custGeom>
            <a:avLst/>
            <a:gdLst>
              <a:gd name="connsiteX0" fmla="*/ 0 w 1290917"/>
              <a:gd name="connsiteY0" fmla="*/ 0 h 369332"/>
              <a:gd name="connsiteX1" fmla="*/ 430306 w 1290917"/>
              <a:gd name="connsiteY1" fmla="*/ 0 h 369332"/>
              <a:gd name="connsiteX2" fmla="*/ 886430 w 1290917"/>
              <a:gd name="connsiteY2" fmla="*/ 0 h 369332"/>
              <a:gd name="connsiteX3" fmla="*/ 1290917 w 1290917"/>
              <a:gd name="connsiteY3" fmla="*/ 0 h 369332"/>
              <a:gd name="connsiteX4" fmla="*/ 1290917 w 1290917"/>
              <a:gd name="connsiteY4" fmla="*/ 369332 h 369332"/>
              <a:gd name="connsiteX5" fmla="*/ 847702 w 1290917"/>
              <a:gd name="connsiteY5" fmla="*/ 369332 h 369332"/>
              <a:gd name="connsiteX6" fmla="*/ 456124 w 1290917"/>
              <a:gd name="connsiteY6" fmla="*/ 369332 h 369332"/>
              <a:gd name="connsiteX7" fmla="*/ 0 w 1290917"/>
              <a:gd name="connsiteY7" fmla="*/ 369332 h 369332"/>
              <a:gd name="connsiteX8" fmla="*/ 0 w 1290917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0917" h="369332" fill="none" extrusionOk="0">
                <a:moveTo>
                  <a:pt x="0" y="0"/>
                </a:moveTo>
                <a:cubicBezTo>
                  <a:pt x="115134" y="-30832"/>
                  <a:pt x="329248" y="41203"/>
                  <a:pt x="430306" y="0"/>
                </a:cubicBezTo>
                <a:cubicBezTo>
                  <a:pt x="531364" y="-41203"/>
                  <a:pt x="763107" y="46332"/>
                  <a:pt x="886430" y="0"/>
                </a:cubicBezTo>
                <a:cubicBezTo>
                  <a:pt x="1009753" y="-46332"/>
                  <a:pt x="1103743" y="29033"/>
                  <a:pt x="1290917" y="0"/>
                </a:cubicBezTo>
                <a:cubicBezTo>
                  <a:pt x="1330187" y="93277"/>
                  <a:pt x="1259146" y="228879"/>
                  <a:pt x="1290917" y="369332"/>
                </a:cubicBezTo>
                <a:cubicBezTo>
                  <a:pt x="1075721" y="381208"/>
                  <a:pt x="993973" y="355192"/>
                  <a:pt x="847702" y="369332"/>
                </a:cubicBezTo>
                <a:cubicBezTo>
                  <a:pt x="701431" y="383472"/>
                  <a:pt x="636462" y="365841"/>
                  <a:pt x="456124" y="369332"/>
                </a:cubicBezTo>
                <a:cubicBezTo>
                  <a:pt x="275786" y="372823"/>
                  <a:pt x="195508" y="349683"/>
                  <a:pt x="0" y="369332"/>
                </a:cubicBezTo>
                <a:cubicBezTo>
                  <a:pt x="-4895" y="217030"/>
                  <a:pt x="43463" y="169776"/>
                  <a:pt x="0" y="0"/>
                </a:cubicBezTo>
                <a:close/>
              </a:path>
              <a:path w="1290917" h="369332" stroke="0" extrusionOk="0">
                <a:moveTo>
                  <a:pt x="0" y="0"/>
                </a:moveTo>
                <a:cubicBezTo>
                  <a:pt x="128227" y="-21548"/>
                  <a:pt x="342409" y="27629"/>
                  <a:pt x="443215" y="0"/>
                </a:cubicBezTo>
                <a:cubicBezTo>
                  <a:pt x="544021" y="-27629"/>
                  <a:pt x="799979" y="12564"/>
                  <a:pt x="899339" y="0"/>
                </a:cubicBezTo>
                <a:cubicBezTo>
                  <a:pt x="998699" y="-12564"/>
                  <a:pt x="1167302" y="1194"/>
                  <a:pt x="1290917" y="0"/>
                </a:cubicBezTo>
                <a:cubicBezTo>
                  <a:pt x="1305249" y="135504"/>
                  <a:pt x="1282005" y="249616"/>
                  <a:pt x="1290917" y="369332"/>
                </a:cubicBezTo>
                <a:cubicBezTo>
                  <a:pt x="1104421" y="370616"/>
                  <a:pt x="952606" y="359361"/>
                  <a:pt x="834793" y="369332"/>
                </a:cubicBezTo>
                <a:cubicBezTo>
                  <a:pt x="716980" y="379303"/>
                  <a:pt x="622819" y="359089"/>
                  <a:pt x="443215" y="369332"/>
                </a:cubicBezTo>
                <a:cubicBezTo>
                  <a:pt x="263611" y="379575"/>
                  <a:pt x="134565" y="355153"/>
                  <a:pt x="0" y="369332"/>
                </a:cubicBezTo>
                <a:cubicBezTo>
                  <a:pt x="-1554" y="208067"/>
                  <a:pt x="22005" y="103751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6907352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Bölgeler</a:t>
            </a:r>
          </a:p>
        </p:txBody>
      </p:sp>
      <p:cxnSp>
        <p:nvCxnSpPr>
          <p:cNvPr id="1037" name="Connector: Curved 1036">
            <a:extLst>
              <a:ext uri="{FF2B5EF4-FFF2-40B4-BE49-F238E27FC236}">
                <a16:creationId xmlns:a16="http://schemas.microsoft.com/office/drawing/2014/main" id="{B5B3979D-54D9-5F4B-BB8C-F48D2B465887}"/>
              </a:ext>
            </a:extLst>
          </p:cNvPr>
          <p:cNvCxnSpPr>
            <a:cxnSpLocks/>
            <a:stCxn id="1035" idx="0"/>
            <a:endCxn id="9" idx="3"/>
          </p:cNvCxnSpPr>
          <p:nvPr/>
        </p:nvCxnSpPr>
        <p:spPr>
          <a:xfrm rot="5400000" flipH="1" flipV="1">
            <a:off x="10716734" y="4109531"/>
            <a:ext cx="1220339" cy="98619"/>
          </a:xfrm>
          <a:prstGeom prst="curvedConnector4">
            <a:avLst>
              <a:gd name="adj1" fmla="val 42434"/>
              <a:gd name="adj2" fmla="val 331801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39" name="TextBox 1038">
            <a:extLst>
              <a:ext uri="{FF2B5EF4-FFF2-40B4-BE49-F238E27FC236}">
                <a16:creationId xmlns:a16="http://schemas.microsoft.com/office/drawing/2014/main" id="{E5DF4F9D-CDBE-4D73-4CA6-C852F774FB6F}"/>
              </a:ext>
            </a:extLst>
          </p:cNvPr>
          <p:cNvSpPr txBox="1"/>
          <p:nvPr/>
        </p:nvSpPr>
        <p:spPr>
          <a:xfrm>
            <a:off x="10885372" y="1767440"/>
            <a:ext cx="1290917" cy="369332"/>
          </a:xfrm>
          <a:custGeom>
            <a:avLst/>
            <a:gdLst>
              <a:gd name="connsiteX0" fmla="*/ 0 w 1290917"/>
              <a:gd name="connsiteY0" fmla="*/ 0 h 369332"/>
              <a:gd name="connsiteX1" fmla="*/ 430306 w 1290917"/>
              <a:gd name="connsiteY1" fmla="*/ 0 h 369332"/>
              <a:gd name="connsiteX2" fmla="*/ 886430 w 1290917"/>
              <a:gd name="connsiteY2" fmla="*/ 0 h 369332"/>
              <a:gd name="connsiteX3" fmla="*/ 1290917 w 1290917"/>
              <a:gd name="connsiteY3" fmla="*/ 0 h 369332"/>
              <a:gd name="connsiteX4" fmla="*/ 1290917 w 1290917"/>
              <a:gd name="connsiteY4" fmla="*/ 369332 h 369332"/>
              <a:gd name="connsiteX5" fmla="*/ 847702 w 1290917"/>
              <a:gd name="connsiteY5" fmla="*/ 369332 h 369332"/>
              <a:gd name="connsiteX6" fmla="*/ 456124 w 1290917"/>
              <a:gd name="connsiteY6" fmla="*/ 369332 h 369332"/>
              <a:gd name="connsiteX7" fmla="*/ 0 w 1290917"/>
              <a:gd name="connsiteY7" fmla="*/ 369332 h 369332"/>
              <a:gd name="connsiteX8" fmla="*/ 0 w 1290917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0917" h="369332" fill="none" extrusionOk="0">
                <a:moveTo>
                  <a:pt x="0" y="0"/>
                </a:moveTo>
                <a:cubicBezTo>
                  <a:pt x="115134" y="-30832"/>
                  <a:pt x="329248" y="41203"/>
                  <a:pt x="430306" y="0"/>
                </a:cubicBezTo>
                <a:cubicBezTo>
                  <a:pt x="531364" y="-41203"/>
                  <a:pt x="763107" y="46332"/>
                  <a:pt x="886430" y="0"/>
                </a:cubicBezTo>
                <a:cubicBezTo>
                  <a:pt x="1009753" y="-46332"/>
                  <a:pt x="1103743" y="29033"/>
                  <a:pt x="1290917" y="0"/>
                </a:cubicBezTo>
                <a:cubicBezTo>
                  <a:pt x="1330187" y="93277"/>
                  <a:pt x="1259146" y="228879"/>
                  <a:pt x="1290917" y="369332"/>
                </a:cubicBezTo>
                <a:cubicBezTo>
                  <a:pt x="1075721" y="381208"/>
                  <a:pt x="993973" y="355192"/>
                  <a:pt x="847702" y="369332"/>
                </a:cubicBezTo>
                <a:cubicBezTo>
                  <a:pt x="701431" y="383472"/>
                  <a:pt x="636462" y="365841"/>
                  <a:pt x="456124" y="369332"/>
                </a:cubicBezTo>
                <a:cubicBezTo>
                  <a:pt x="275786" y="372823"/>
                  <a:pt x="195508" y="349683"/>
                  <a:pt x="0" y="369332"/>
                </a:cubicBezTo>
                <a:cubicBezTo>
                  <a:pt x="-4895" y="217030"/>
                  <a:pt x="43463" y="169776"/>
                  <a:pt x="0" y="0"/>
                </a:cubicBezTo>
                <a:close/>
              </a:path>
              <a:path w="1290917" h="369332" stroke="0" extrusionOk="0">
                <a:moveTo>
                  <a:pt x="0" y="0"/>
                </a:moveTo>
                <a:cubicBezTo>
                  <a:pt x="128227" y="-21548"/>
                  <a:pt x="342409" y="27629"/>
                  <a:pt x="443215" y="0"/>
                </a:cubicBezTo>
                <a:cubicBezTo>
                  <a:pt x="544021" y="-27629"/>
                  <a:pt x="799979" y="12564"/>
                  <a:pt x="899339" y="0"/>
                </a:cubicBezTo>
                <a:cubicBezTo>
                  <a:pt x="998699" y="-12564"/>
                  <a:pt x="1167302" y="1194"/>
                  <a:pt x="1290917" y="0"/>
                </a:cubicBezTo>
                <a:cubicBezTo>
                  <a:pt x="1305249" y="135504"/>
                  <a:pt x="1282005" y="249616"/>
                  <a:pt x="1290917" y="369332"/>
                </a:cubicBezTo>
                <a:cubicBezTo>
                  <a:pt x="1104421" y="370616"/>
                  <a:pt x="952606" y="359361"/>
                  <a:pt x="834793" y="369332"/>
                </a:cubicBezTo>
                <a:cubicBezTo>
                  <a:pt x="716980" y="379303"/>
                  <a:pt x="622819" y="359089"/>
                  <a:pt x="443215" y="369332"/>
                </a:cubicBezTo>
                <a:cubicBezTo>
                  <a:pt x="263611" y="379575"/>
                  <a:pt x="134565" y="355153"/>
                  <a:pt x="0" y="369332"/>
                </a:cubicBezTo>
                <a:cubicBezTo>
                  <a:pt x="-1554" y="208067"/>
                  <a:pt x="22005" y="103751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6907352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İşkolları</a:t>
            </a:r>
          </a:p>
        </p:txBody>
      </p:sp>
      <p:cxnSp>
        <p:nvCxnSpPr>
          <p:cNvPr id="1041" name="Connector: Curved 1040">
            <a:extLst>
              <a:ext uri="{FF2B5EF4-FFF2-40B4-BE49-F238E27FC236}">
                <a16:creationId xmlns:a16="http://schemas.microsoft.com/office/drawing/2014/main" id="{5A2CC160-3772-AA96-1D76-A874E9C9053B}"/>
              </a:ext>
            </a:extLst>
          </p:cNvPr>
          <p:cNvCxnSpPr>
            <a:cxnSpLocks/>
            <a:endCxn id="9" idx="3"/>
          </p:cNvCxnSpPr>
          <p:nvPr/>
        </p:nvCxnSpPr>
        <p:spPr>
          <a:xfrm rot="5400000">
            <a:off x="10978586" y="2554166"/>
            <a:ext cx="1392131" cy="59687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48" name="TextBox 1047">
            <a:extLst>
              <a:ext uri="{FF2B5EF4-FFF2-40B4-BE49-F238E27FC236}">
                <a16:creationId xmlns:a16="http://schemas.microsoft.com/office/drawing/2014/main" id="{EF722327-2B0D-8A44-1935-540C2EA62704}"/>
              </a:ext>
            </a:extLst>
          </p:cNvPr>
          <p:cNvSpPr txBox="1"/>
          <p:nvPr/>
        </p:nvSpPr>
        <p:spPr>
          <a:xfrm>
            <a:off x="101024" y="799201"/>
            <a:ext cx="2129113" cy="531603"/>
          </a:xfrm>
          <a:custGeom>
            <a:avLst/>
            <a:gdLst>
              <a:gd name="connsiteX0" fmla="*/ 0 w 2129113"/>
              <a:gd name="connsiteY0" fmla="*/ 0 h 531603"/>
              <a:gd name="connsiteX1" fmla="*/ 574861 w 2129113"/>
              <a:gd name="connsiteY1" fmla="*/ 0 h 531603"/>
              <a:gd name="connsiteX2" fmla="*/ 1085848 w 2129113"/>
              <a:gd name="connsiteY2" fmla="*/ 0 h 531603"/>
              <a:gd name="connsiteX3" fmla="*/ 1660708 w 2129113"/>
              <a:gd name="connsiteY3" fmla="*/ 0 h 531603"/>
              <a:gd name="connsiteX4" fmla="*/ 2129113 w 2129113"/>
              <a:gd name="connsiteY4" fmla="*/ 0 h 531603"/>
              <a:gd name="connsiteX5" fmla="*/ 2129113 w 2129113"/>
              <a:gd name="connsiteY5" fmla="*/ 531603 h 531603"/>
              <a:gd name="connsiteX6" fmla="*/ 1618126 w 2129113"/>
              <a:gd name="connsiteY6" fmla="*/ 531603 h 531603"/>
              <a:gd name="connsiteX7" fmla="*/ 1043265 w 2129113"/>
              <a:gd name="connsiteY7" fmla="*/ 531603 h 531603"/>
              <a:gd name="connsiteX8" fmla="*/ 510987 w 2129113"/>
              <a:gd name="connsiteY8" fmla="*/ 531603 h 531603"/>
              <a:gd name="connsiteX9" fmla="*/ 0 w 2129113"/>
              <a:gd name="connsiteY9" fmla="*/ 531603 h 531603"/>
              <a:gd name="connsiteX10" fmla="*/ 0 w 2129113"/>
              <a:gd name="connsiteY10" fmla="*/ 0 h 53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29113" h="531603" fill="none" extrusionOk="0">
                <a:moveTo>
                  <a:pt x="0" y="0"/>
                </a:moveTo>
                <a:cubicBezTo>
                  <a:pt x="248515" y="-35032"/>
                  <a:pt x="456746" y="48240"/>
                  <a:pt x="574861" y="0"/>
                </a:cubicBezTo>
                <a:cubicBezTo>
                  <a:pt x="692976" y="-48240"/>
                  <a:pt x="897374" y="20720"/>
                  <a:pt x="1085848" y="0"/>
                </a:cubicBezTo>
                <a:cubicBezTo>
                  <a:pt x="1274322" y="-20720"/>
                  <a:pt x="1391920" y="56626"/>
                  <a:pt x="1660708" y="0"/>
                </a:cubicBezTo>
                <a:cubicBezTo>
                  <a:pt x="1929496" y="-56626"/>
                  <a:pt x="1975505" y="1766"/>
                  <a:pt x="2129113" y="0"/>
                </a:cubicBezTo>
                <a:cubicBezTo>
                  <a:pt x="2135020" y="138628"/>
                  <a:pt x="2072636" y="390075"/>
                  <a:pt x="2129113" y="531603"/>
                </a:cubicBezTo>
                <a:cubicBezTo>
                  <a:pt x="1948267" y="569915"/>
                  <a:pt x="1781136" y="495895"/>
                  <a:pt x="1618126" y="531603"/>
                </a:cubicBezTo>
                <a:cubicBezTo>
                  <a:pt x="1455116" y="567311"/>
                  <a:pt x="1165587" y="469761"/>
                  <a:pt x="1043265" y="531603"/>
                </a:cubicBezTo>
                <a:cubicBezTo>
                  <a:pt x="920943" y="593445"/>
                  <a:pt x="668852" y="516966"/>
                  <a:pt x="510987" y="531603"/>
                </a:cubicBezTo>
                <a:cubicBezTo>
                  <a:pt x="353122" y="546240"/>
                  <a:pt x="240319" y="501279"/>
                  <a:pt x="0" y="531603"/>
                </a:cubicBezTo>
                <a:cubicBezTo>
                  <a:pt x="-8060" y="365340"/>
                  <a:pt x="42914" y="231594"/>
                  <a:pt x="0" y="0"/>
                </a:cubicBezTo>
                <a:close/>
              </a:path>
              <a:path w="2129113" h="531603" stroke="0" extrusionOk="0">
                <a:moveTo>
                  <a:pt x="0" y="0"/>
                </a:moveTo>
                <a:cubicBezTo>
                  <a:pt x="209512" y="-15366"/>
                  <a:pt x="316243" y="47151"/>
                  <a:pt x="468405" y="0"/>
                </a:cubicBezTo>
                <a:cubicBezTo>
                  <a:pt x="620568" y="-47151"/>
                  <a:pt x="739529" y="17701"/>
                  <a:pt x="936810" y="0"/>
                </a:cubicBezTo>
                <a:cubicBezTo>
                  <a:pt x="1134092" y="-17701"/>
                  <a:pt x="1239959" y="21642"/>
                  <a:pt x="1426506" y="0"/>
                </a:cubicBezTo>
                <a:cubicBezTo>
                  <a:pt x="1613053" y="-21642"/>
                  <a:pt x="1801482" y="46678"/>
                  <a:pt x="2129113" y="0"/>
                </a:cubicBezTo>
                <a:cubicBezTo>
                  <a:pt x="2192323" y="153748"/>
                  <a:pt x="2091838" y="389772"/>
                  <a:pt x="2129113" y="531603"/>
                </a:cubicBezTo>
                <a:cubicBezTo>
                  <a:pt x="2028850" y="535369"/>
                  <a:pt x="1868764" y="496728"/>
                  <a:pt x="1639417" y="531603"/>
                </a:cubicBezTo>
                <a:cubicBezTo>
                  <a:pt x="1410070" y="566478"/>
                  <a:pt x="1325179" y="504284"/>
                  <a:pt x="1064557" y="531603"/>
                </a:cubicBezTo>
                <a:cubicBezTo>
                  <a:pt x="803935" y="558922"/>
                  <a:pt x="705015" y="530045"/>
                  <a:pt x="574861" y="531603"/>
                </a:cubicBezTo>
                <a:cubicBezTo>
                  <a:pt x="444707" y="533161"/>
                  <a:pt x="239085" y="512859"/>
                  <a:pt x="0" y="531603"/>
                </a:cubicBezTo>
                <a:cubicBezTo>
                  <a:pt x="-14873" y="287121"/>
                  <a:pt x="56302" y="109169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28383645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İç Veri Kaynakları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F5DA5B41-8A32-D295-A570-5C55B7493F6C}"/>
              </a:ext>
            </a:extLst>
          </p:cNvPr>
          <p:cNvSpPr txBox="1"/>
          <p:nvPr/>
        </p:nvSpPr>
        <p:spPr>
          <a:xfrm>
            <a:off x="169563" y="6120193"/>
            <a:ext cx="2235644" cy="531603"/>
          </a:xfrm>
          <a:custGeom>
            <a:avLst/>
            <a:gdLst>
              <a:gd name="connsiteX0" fmla="*/ 0 w 2235644"/>
              <a:gd name="connsiteY0" fmla="*/ 0 h 531603"/>
              <a:gd name="connsiteX1" fmla="*/ 603624 w 2235644"/>
              <a:gd name="connsiteY1" fmla="*/ 0 h 531603"/>
              <a:gd name="connsiteX2" fmla="*/ 1140178 w 2235644"/>
              <a:gd name="connsiteY2" fmla="*/ 0 h 531603"/>
              <a:gd name="connsiteX3" fmla="*/ 1743802 w 2235644"/>
              <a:gd name="connsiteY3" fmla="*/ 0 h 531603"/>
              <a:gd name="connsiteX4" fmla="*/ 2235644 w 2235644"/>
              <a:gd name="connsiteY4" fmla="*/ 0 h 531603"/>
              <a:gd name="connsiteX5" fmla="*/ 2235644 w 2235644"/>
              <a:gd name="connsiteY5" fmla="*/ 531603 h 531603"/>
              <a:gd name="connsiteX6" fmla="*/ 1699089 w 2235644"/>
              <a:gd name="connsiteY6" fmla="*/ 531603 h 531603"/>
              <a:gd name="connsiteX7" fmla="*/ 1095466 w 2235644"/>
              <a:gd name="connsiteY7" fmla="*/ 531603 h 531603"/>
              <a:gd name="connsiteX8" fmla="*/ 536555 w 2235644"/>
              <a:gd name="connsiteY8" fmla="*/ 531603 h 531603"/>
              <a:gd name="connsiteX9" fmla="*/ 0 w 2235644"/>
              <a:gd name="connsiteY9" fmla="*/ 531603 h 531603"/>
              <a:gd name="connsiteX10" fmla="*/ 0 w 2235644"/>
              <a:gd name="connsiteY10" fmla="*/ 0 h 53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35644" h="531603" fill="none" extrusionOk="0">
                <a:moveTo>
                  <a:pt x="0" y="0"/>
                </a:moveTo>
                <a:cubicBezTo>
                  <a:pt x="258153" y="-54380"/>
                  <a:pt x="383553" y="60787"/>
                  <a:pt x="603624" y="0"/>
                </a:cubicBezTo>
                <a:cubicBezTo>
                  <a:pt x="823695" y="-60787"/>
                  <a:pt x="915670" y="4580"/>
                  <a:pt x="1140178" y="0"/>
                </a:cubicBezTo>
                <a:cubicBezTo>
                  <a:pt x="1364686" y="-4580"/>
                  <a:pt x="1481303" y="4176"/>
                  <a:pt x="1743802" y="0"/>
                </a:cubicBezTo>
                <a:cubicBezTo>
                  <a:pt x="2006301" y="-4176"/>
                  <a:pt x="2050086" y="12484"/>
                  <a:pt x="2235644" y="0"/>
                </a:cubicBezTo>
                <a:cubicBezTo>
                  <a:pt x="2241551" y="138628"/>
                  <a:pt x="2179167" y="390075"/>
                  <a:pt x="2235644" y="531603"/>
                </a:cubicBezTo>
                <a:cubicBezTo>
                  <a:pt x="2027524" y="583314"/>
                  <a:pt x="1841080" y="472674"/>
                  <a:pt x="1699089" y="531603"/>
                </a:cubicBezTo>
                <a:cubicBezTo>
                  <a:pt x="1557098" y="590532"/>
                  <a:pt x="1306946" y="463050"/>
                  <a:pt x="1095466" y="531603"/>
                </a:cubicBezTo>
                <a:cubicBezTo>
                  <a:pt x="883986" y="600156"/>
                  <a:pt x="649232" y="484178"/>
                  <a:pt x="536555" y="531603"/>
                </a:cubicBezTo>
                <a:cubicBezTo>
                  <a:pt x="423878" y="579028"/>
                  <a:pt x="116145" y="488423"/>
                  <a:pt x="0" y="531603"/>
                </a:cubicBezTo>
                <a:cubicBezTo>
                  <a:pt x="-8060" y="365340"/>
                  <a:pt x="42914" y="231594"/>
                  <a:pt x="0" y="0"/>
                </a:cubicBezTo>
                <a:close/>
              </a:path>
              <a:path w="2235644" h="531603" stroke="0" extrusionOk="0">
                <a:moveTo>
                  <a:pt x="0" y="0"/>
                </a:moveTo>
                <a:cubicBezTo>
                  <a:pt x="107238" y="-27160"/>
                  <a:pt x="251843" y="32992"/>
                  <a:pt x="491842" y="0"/>
                </a:cubicBezTo>
                <a:cubicBezTo>
                  <a:pt x="731841" y="-32992"/>
                  <a:pt x="839865" y="16862"/>
                  <a:pt x="983683" y="0"/>
                </a:cubicBezTo>
                <a:cubicBezTo>
                  <a:pt x="1127501" y="-16862"/>
                  <a:pt x="1330452" y="2479"/>
                  <a:pt x="1497881" y="0"/>
                </a:cubicBezTo>
                <a:cubicBezTo>
                  <a:pt x="1665310" y="-2479"/>
                  <a:pt x="1948055" y="78702"/>
                  <a:pt x="2235644" y="0"/>
                </a:cubicBezTo>
                <a:cubicBezTo>
                  <a:pt x="2298854" y="153748"/>
                  <a:pt x="2198369" y="389772"/>
                  <a:pt x="2235644" y="531603"/>
                </a:cubicBezTo>
                <a:cubicBezTo>
                  <a:pt x="2107697" y="538532"/>
                  <a:pt x="1934521" y="528428"/>
                  <a:pt x="1721446" y="531603"/>
                </a:cubicBezTo>
                <a:cubicBezTo>
                  <a:pt x="1508371" y="534778"/>
                  <a:pt x="1309155" y="528652"/>
                  <a:pt x="1117822" y="531603"/>
                </a:cubicBezTo>
                <a:cubicBezTo>
                  <a:pt x="926489" y="534554"/>
                  <a:pt x="831555" y="524617"/>
                  <a:pt x="603624" y="531603"/>
                </a:cubicBezTo>
                <a:cubicBezTo>
                  <a:pt x="375693" y="538589"/>
                  <a:pt x="254567" y="465019"/>
                  <a:pt x="0" y="531603"/>
                </a:cubicBezTo>
                <a:cubicBezTo>
                  <a:pt x="-14873" y="287121"/>
                  <a:pt x="56302" y="109169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28383645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Dış Veri Kaynakları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26466A00-BF61-E6A9-EEEC-7FB1ED56BB24}"/>
              </a:ext>
            </a:extLst>
          </p:cNvPr>
          <p:cNvSpPr txBox="1"/>
          <p:nvPr/>
        </p:nvSpPr>
        <p:spPr>
          <a:xfrm>
            <a:off x="9718021" y="6120192"/>
            <a:ext cx="2255068" cy="531603"/>
          </a:xfrm>
          <a:custGeom>
            <a:avLst/>
            <a:gdLst>
              <a:gd name="connsiteX0" fmla="*/ 0 w 2255068"/>
              <a:gd name="connsiteY0" fmla="*/ 0 h 531603"/>
              <a:gd name="connsiteX1" fmla="*/ 608868 w 2255068"/>
              <a:gd name="connsiteY1" fmla="*/ 0 h 531603"/>
              <a:gd name="connsiteX2" fmla="*/ 1150085 w 2255068"/>
              <a:gd name="connsiteY2" fmla="*/ 0 h 531603"/>
              <a:gd name="connsiteX3" fmla="*/ 1758953 w 2255068"/>
              <a:gd name="connsiteY3" fmla="*/ 0 h 531603"/>
              <a:gd name="connsiteX4" fmla="*/ 2255068 w 2255068"/>
              <a:gd name="connsiteY4" fmla="*/ 0 h 531603"/>
              <a:gd name="connsiteX5" fmla="*/ 2255068 w 2255068"/>
              <a:gd name="connsiteY5" fmla="*/ 531603 h 531603"/>
              <a:gd name="connsiteX6" fmla="*/ 1713852 w 2255068"/>
              <a:gd name="connsiteY6" fmla="*/ 531603 h 531603"/>
              <a:gd name="connsiteX7" fmla="*/ 1104983 w 2255068"/>
              <a:gd name="connsiteY7" fmla="*/ 531603 h 531603"/>
              <a:gd name="connsiteX8" fmla="*/ 541216 w 2255068"/>
              <a:gd name="connsiteY8" fmla="*/ 531603 h 531603"/>
              <a:gd name="connsiteX9" fmla="*/ 0 w 2255068"/>
              <a:gd name="connsiteY9" fmla="*/ 531603 h 531603"/>
              <a:gd name="connsiteX10" fmla="*/ 0 w 2255068"/>
              <a:gd name="connsiteY10" fmla="*/ 0 h 53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5068" h="531603" fill="none" extrusionOk="0">
                <a:moveTo>
                  <a:pt x="0" y="0"/>
                </a:moveTo>
                <a:cubicBezTo>
                  <a:pt x="158963" y="-68771"/>
                  <a:pt x="380402" y="4830"/>
                  <a:pt x="608868" y="0"/>
                </a:cubicBezTo>
                <a:cubicBezTo>
                  <a:pt x="837334" y="-4830"/>
                  <a:pt x="928967" y="32969"/>
                  <a:pt x="1150085" y="0"/>
                </a:cubicBezTo>
                <a:cubicBezTo>
                  <a:pt x="1371203" y="-32969"/>
                  <a:pt x="1635646" y="39928"/>
                  <a:pt x="1758953" y="0"/>
                </a:cubicBezTo>
                <a:cubicBezTo>
                  <a:pt x="1882260" y="-39928"/>
                  <a:pt x="2039112" y="35347"/>
                  <a:pt x="2255068" y="0"/>
                </a:cubicBezTo>
                <a:cubicBezTo>
                  <a:pt x="2260975" y="138628"/>
                  <a:pt x="2198591" y="390075"/>
                  <a:pt x="2255068" y="531603"/>
                </a:cubicBezTo>
                <a:cubicBezTo>
                  <a:pt x="2062915" y="565896"/>
                  <a:pt x="1837918" y="470665"/>
                  <a:pt x="1713852" y="531603"/>
                </a:cubicBezTo>
                <a:cubicBezTo>
                  <a:pt x="1589786" y="592541"/>
                  <a:pt x="1292997" y="524963"/>
                  <a:pt x="1104983" y="531603"/>
                </a:cubicBezTo>
                <a:cubicBezTo>
                  <a:pt x="916969" y="538243"/>
                  <a:pt x="698636" y="475960"/>
                  <a:pt x="541216" y="531603"/>
                </a:cubicBezTo>
                <a:cubicBezTo>
                  <a:pt x="383796" y="587246"/>
                  <a:pt x="210600" y="491871"/>
                  <a:pt x="0" y="531603"/>
                </a:cubicBezTo>
                <a:cubicBezTo>
                  <a:pt x="-8060" y="365340"/>
                  <a:pt x="42914" y="231594"/>
                  <a:pt x="0" y="0"/>
                </a:cubicBezTo>
                <a:close/>
              </a:path>
              <a:path w="2255068" h="531603" stroke="0" extrusionOk="0">
                <a:moveTo>
                  <a:pt x="0" y="0"/>
                </a:moveTo>
                <a:cubicBezTo>
                  <a:pt x="228475" y="-25166"/>
                  <a:pt x="362699" y="33198"/>
                  <a:pt x="496115" y="0"/>
                </a:cubicBezTo>
                <a:cubicBezTo>
                  <a:pt x="629532" y="-33198"/>
                  <a:pt x="839615" y="28155"/>
                  <a:pt x="992230" y="0"/>
                </a:cubicBezTo>
                <a:cubicBezTo>
                  <a:pt x="1144845" y="-28155"/>
                  <a:pt x="1266494" y="20039"/>
                  <a:pt x="1510896" y="0"/>
                </a:cubicBezTo>
                <a:cubicBezTo>
                  <a:pt x="1755298" y="-20039"/>
                  <a:pt x="1920156" y="59776"/>
                  <a:pt x="2255068" y="0"/>
                </a:cubicBezTo>
                <a:cubicBezTo>
                  <a:pt x="2318278" y="153748"/>
                  <a:pt x="2217793" y="389772"/>
                  <a:pt x="2255068" y="531603"/>
                </a:cubicBezTo>
                <a:cubicBezTo>
                  <a:pt x="2118826" y="587175"/>
                  <a:pt x="1875818" y="481725"/>
                  <a:pt x="1736402" y="531603"/>
                </a:cubicBezTo>
                <a:cubicBezTo>
                  <a:pt x="1596986" y="581481"/>
                  <a:pt x="1396023" y="491686"/>
                  <a:pt x="1127534" y="531603"/>
                </a:cubicBezTo>
                <a:cubicBezTo>
                  <a:pt x="859045" y="571520"/>
                  <a:pt x="747562" y="477135"/>
                  <a:pt x="608868" y="531603"/>
                </a:cubicBezTo>
                <a:cubicBezTo>
                  <a:pt x="470174" y="586071"/>
                  <a:pt x="217625" y="509403"/>
                  <a:pt x="0" y="531603"/>
                </a:cubicBezTo>
                <a:cubicBezTo>
                  <a:pt x="-14873" y="287121"/>
                  <a:pt x="56302" y="109169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28383645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İşkolu Öncelikleri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C6B8825B-B01A-D38D-EA53-20483850E605}"/>
              </a:ext>
            </a:extLst>
          </p:cNvPr>
          <p:cNvSpPr txBox="1"/>
          <p:nvPr/>
        </p:nvSpPr>
        <p:spPr>
          <a:xfrm>
            <a:off x="9923929" y="685550"/>
            <a:ext cx="2167048" cy="531603"/>
          </a:xfrm>
          <a:custGeom>
            <a:avLst/>
            <a:gdLst>
              <a:gd name="connsiteX0" fmla="*/ 0 w 2167048"/>
              <a:gd name="connsiteY0" fmla="*/ 0 h 531603"/>
              <a:gd name="connsiteX1" fmla="*/ 585103 w 2167048"/>
              <a:gd name="connsiteY1" fmla="*/ 0 h 531603"/>
              <a:gd name="connsiteX2" fmla="*/ 1105194 w 2167048"/>
              <a:gd name="connsiteY2" fmla="*/ 0 h 531603"/>
              <a:gd name="connsiteX3" fmla="*/ 1690297 w 2167048"/>
              <a:gd name="connsiteY3" fmla="*/ 0 h 531603"/>
              <a:gd name="connsiteX4" fmla="*/ 2167048 w 2167048"/>
              <a:gd name="connsiteY4" fmla="*/ 0 h 531603"/>
              <a:gd name="connsiteX5" fmla="*/ 2167048 w 2167048"/>
              <a:gd name="connsiteY5" fmla="*/ 531603 h 531603"/>
              <a:gd name="connsiteX6" fmla="*/ 1646956 w 2167048"/>
              <a:gd name="connsiteY6" fmla="*/ 531603 h 531603"/>
              <a:gd name="connsiteX7" fmla="*/ 1061854 w 2167048"/>
              <a:gd name="connsiteY7" fmla="*/ 531603 h 531603"/>
              <a:gd name="connsiteX8" fmla="*/ 520092 w 2167048"/>
              <a:gd name="connsiteY8" fmla="*/ 531603 h 531603"/>
              <a:gd name="connsiteX9" fmla="*/ 0 w 2167048"/>
              <a:gd name="connsiteY9" fmla="*/ 531603 h 531603"/>
              <a:gd name="connsiteX10" fmla="*/ 0 w 2167048"/>
              <a:gd name="connsiteY10" fmla="*/ 0 h 53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67048" h="531603" fill="none" extrusionOk="0">
                <a:moveTo>
                  <a:pt x="0" y="0"/>
                </a:moveTo>
                <a:cubicBezTo>
                  <a:pt x="279397" y="-39220"/>
                  <a:pt x="394312" y="16586"/>
                  <a:pt x="585103" y="0"/>
                </a:cubicBezTo>
                <a:cubicBezTo>
                  <a:pt x="775894" y="-16586"/>
                  <a:pt x="903303" y="33059"/>
                  <a:pt x="1105194" y="0"/>
                </a:cubicBezTo>
                <a:cubicBezTo>
                  <a:pt x="1307085" y="-33059"/>
                  <a:pt x="1560321" y="9502"/>
                  <a:pt x="1690297" y="0"/>
                </a:cubicBezTo>
                <a:cubicBezTo>
                  <a:pt x="1820273" y="-9502"/>
                  <a:pt x="2050562" y="43917"/>
                  <a:pt x="2167048" y="0"/>
                </a:cubicBezTo>
                <a:cubicBezTo>
                  <a:pt x="2172955" y="138628"/>
                  <a:pt x="2110571" y="390075"/>
                  <a:pt x="2167048" y="531603"/>
                </a:cubicBezTo>
                <a:cubicBezTo>
                  <a:pt x="1919958" y="545558"/>
                  <a:pt x="1800797" y="509955"/>
                  <a:pt x="1646956" y="531603"/>
                </a:cubicBezTo>
                <a:cubicBezTo>
                  <a:pt x="1493115" y="553251"/>
                  <a:pt x="1344740" y="488690"/>
                  <a:pt x="1061854" y="531603"/>
                </a:cubicBezTo>
                <a:cubicBezTo>
                  <a:pt x="778968" y="574516"/>
                  <a:pt x="718725" y="522887"/>
                  <a:pt x="520092" y="531603"/>
                </a:cubicBezTo>
                <a:cubicBezTo>
                  <a:pt x="321459" y="540319"/>
                  <a:pt x="145205" y="511740"/>
                  <a:pt x="0" y="531603"/>
                </a:cubicBezTo>
                <a:cubicBezTo>
                  <a:pt x="-8060" y="365340"/>
                  <a:pt x="42914" y="231594"/>
                  <a:pt x="0" y="0"/>
                </a:cubicBezTo>
                <a:close/>
              </a:path>
              <a:path w="2167048" h="531603" stroke="0" extrusionOk="0">
                <a:moveTo>
                  <a:pt x="0" y="0"/>
                </a:moveTo>
                <a:cubicBezTo>
                  <a:pt x="149994" y="-8353"/>
                  <a:pt x="303904" y="33299"/>
                  <a:pt x="476751" y="0"/>
                </a:cubicBezTo>
                <a:cubicBezTo>
                  <a:pt x="649598" y="-33299"/>
                  <a:pt x="792748" y="52368"/>
                  <a:pt x="953501" y="0"/>
                </a:cubicBezTo>
                <a:cubicBezTo>
                  <a:pt x="1114254" y="-52368"/>
                  <a:pt x="1248924" y="52229"/>
                  <a:pt x="1451922" y="0"/>
                </a:cubicBezTo>
                <a:cubicBezTo>
                  <a:pt x="1654920" y="-52229"/>
                  <a:pt x="1866272" y="64066"/>
                  <a:pt x="2167048" y="0"/>
                </a:cubicBezTo>
                <a:cubicBezTo>
                  <a:pt x="2230258" y="153748"/>
                  <a:pt x="2129773" y="389772"/>
                  <a:pt x="2167048" y="531603"/>
                </a:cubicBezTo>
                <a:cubicBezTo>
                  <a:pt x="2059052" y="545588"/>
                  <a:pt x="1823577" y="474365"/>
                  <a:pt x="1668627" y="531603"/>
                </a:cubicBezTo>
                <a:cubicBezTo>
                  <a:pt x="1513677" y="588841"/>
                  <a:pt x="1330694" y="475152"/>
                  <a:pt x="1083524" y="531603"/>
                </a:cubicBezTo>
                <a:cubicBezTo>
                  <a:pt x="836354" y="588054"/>
                  <a:pt x="687870" y="499527"/>
                  <a:pt x="585103" y="531603"/>
                </a:cubicBezTo>
                <a:cubicBezTo>
                  <a:pt x="482336" y="563679"/>
                  <a:pt x="292428" y="516675"/>
                  <a:pt x="0" y="531603"/>
                </a:cubicBezTo>
                <a:cubicBezTo>
                  <a:pt x="-14873" y="287121"/>
                  <a:pt x="56302" y="109169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28383645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tr-TR" dirty="0">
                <a:solidFill>
                  <a:schemeClr val="bg1"/>
                </a:solidFill>
              </a:rPr>
              <a:t>MİY Öncelikleri</a:t>
            </a:r>
          </a:p>
        </p:txBody>
      </p:sp>
      <p:cxnSp>
        <p:nvCxnSpPr>
          <p:cNvPr id="1055" name="Connector: Curved 1054">
            <a:extLst>
              <a:ext uri="{FF2B5EF4-FFF2-40B4-BE49-F238E27FC236}">
                <a16:creationId xmlns:a16="http://schemas.microsoft.com/office/drawing/2014/main" id="{CBAA0F44-395A-9BBD-6D67-30358253EFCC}"/>
              </a:ext>
            </a:extLst>
          </p:cNvPr>
          <p:cNvCxnSpPr>
            <a:stCxn id="6" idx="3"/>
            <a:endCxn id="28" idx="1"/>
          </p:cNvCxnSpPr>
          <p:nvPr/>
        </p:nvCxnSpPr>
        <p:spPr>
          <a:xfrm flipV="1">
            <a:off x="2504104" y="969540"/>
            <a:ext cx="3018154" cy="1488773"/>
          </a:xfrm>
          <a:prstGeom prst="curvedConnector3">
            <a:avLst>
              <a:gd name="adj1" fmla="val 13391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E853C8AB-D646-82C7-54F2-1E264D8B3692}"/>
              </a:ext>
            </a:extLst>
          </p:cNvPr>
          <p:cNvSpPr txBox="1"/>
          <p:nvPr/>
        </p:nvSpPr>
        <p:spPr>
          <a:xfrm>
            <a:off x="231136" y="1597292"/>
            <a:ext cx="2014315" cy="369332"/>
          </a:xfrm>
          <a:custGeom>
            <a:avLst/>
            <a:gdLst>
              <a:gd name="connsiteX0" fmla="*/ 0 w 2014315"/>
              <a:gd name="connsiteY0" fmla="*/ 0 h 369332"/>
              <a:gd name="connsiteX1" fmla="*/ 483436 w 2014315"/>
              <a:gd name="connsiteY1" fmla="*/ 0 h 369332"/>
              <a:gd name="connsiteX2" fmla="*/ 966871 w 2014315"/>
              <a:gd name="connsiteY2" fmla="*/ 0 h 369332"/>
              <a:gd name="connsiteX3" fmla="*/ 1430164 w 2014315"/>
              <a:gd name="connsiteY3" fmla="*/ 0 h 369332"/>
              <a:gd name="connsiteX4" fmla="*/ 2014315 w 2014315"/>
              <a:gd name="connsiteY4" fmla="*/ 0 h 369332"/>
              <a:gd name="connsiteX5" fmla="*/ 2014315 w 2014315"/>
              <a:gd name="connsiteY5" fmla="*/ 369332 h 369332"/>
              <a:gd name="connsiteX6" fmla="*/ 1571166 w 2014315"/>
              <a:gd name="connsiteY6" fmla="*/ 369332 h 369332"/>
              <a:gd name="connsiteX7" fmla="*/ 1107873 w 2014315"/>
              <a:gd name="connsiteY7" fmla="*/ 369332 h 369332"/>
              <a:gd name="connsiteX8" fmla="*/ 664724 w 2014315"/>
              <a:gd name="connsiteY8" fmla="*/ 369332 h 369332"/>
              <a:gd name="connsiteX9" fmla="*/ 0 w 2014315"/>
              <a:gd name="connsiteY9" fmla="*/ 369332 h 369332"/>
              <a:gd name="connsiteX10" fmla="*/ 0 w 2014315"/>
              <a:gd name="connsiteY10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4315" h="369332" fill="none" extrusionOk="0">
                <a:moveTo>
                  <a:pt x="0" y="0"/>
                </a:moveTo>
                <a:cubicBezTo>
                  <a:pt x="130086" y="-49986"/>
                  <a:pt x="369471" y="3296"/>
                  <a:pt x="483436" y="0"/>
                </a:cubicBezTo>
                <a:cubicBezTo>
                  <a:pt x="597401" y="-3296"/>
                  <a:pt x="768469" y="24109"/>
                  <a:pt x="966871" y="0"/>
                </a:cubicBezTo>
                <a:cubicBezTo>
                  <a:pt x="1165273" y="-24109"/>
                  <a:pt x="1264471" y="33228"/>
                  <a:pt x="1430164" y="0"/>
                </a:cubicBezTo>
                <a:cubicBezTo>
                  <a:pt x="1595857" y="-33228"/>
                  <a:pt x="1843952" y="36845"/>
                  <a:pt x="2014315" y="0"/>
                </a:cubicBezTo>
                <a:cubicBezTo>
                  <a:pt x="2038838" y="100925"/>
                  <a:pt x="1980070" y="220317"/>
                  <a:pt x="2014315" y="369332"/>
                </a:cubicBezTo>
                <a:cubicBezTo>
                  <a:pt x="1818929" y="387031"/>
                  <a:pt x="1780470" y="361705"/>
                  <a:pt x="1571166" y="369332"/>
                </a:cubicBezTo>
                <a:cubicBezTo>
                  <a:pt x="1361862" y="376959"/>
                  <a:pt x="1318288" y="350277"/>
                  <a:pt x="1107873" y="369332"/>
                </a:cubicBezTo>
                <a:cubicBezTo>
                  <a:pt x="897458" y="388387"/>
                  <a:pt x="867661" y="356723"/>
                  <a:pt x="664724" y="369332"/>
                </a:cubicBezTo>
                <a:cubicBezTo>
                  <a:pt x="461787" y="381941"/>
                  <a:pt x="234655" y="335980"/>
                  <a:pt x="0" y="369332"/>
                </a:cubicBezTo>
                <a:cubicBezTo>
                  <a:pt x="-2542" y="244282"/>
                  <a:pt x="34377" y="111405"/>
                  <a:pt x="0" y="0"/>
                </a:cubicBezTo>
                <a:close/>
              </a:path>
              <a:path w="2014315" h="369332" stroke="0" extrusionOk="0">
                <a:moveTo>
                  <a:pt x="0" y="0"/>
                </a:moveTo>
                <a:cubicBezTo>
                  <a:pt x="190507" y="-28857"/>
                  <a:pt x="370473" y="32181"/>
                  <a:pt x="463292" y="0"/>
                </a:cubicBezTo>
                <a:cubicBezTo>
                  <a:pt x="556111" y="-32181"/>
                  <a:pt x="771347" y="784"/>
                  <a:pt x="906442" y="0"/>
                </a:cubicBezTo>
                <a:cubicBezTo>
                  <a:pt x="1041537" y="-784"/>
                  <a:pt x="1130768" y="30332"/>
                  <a:pt x="1349591" y="0"/>
                </a:cubicBezTo>
                <a:cubicBezTo>
                  <a:pt x="1568414" y="-30332"/>
                  <a:pt x="1742991" y="55203"/>
                  <a:pt x="2014315" y="0"/>
                </a:cubicBezTo>
                <a:cubicBezTo>
                  <a:pt x="2037504" y="141812"/>
                  <a:pt x="1996955" y="184931"/>
                  <a:pt x="2014315" y="369332"/>
                </a:cubicBezTo>
                <a:cubicBezTo>
                  <a:pt x="1822791" y="416072"/>
                  <a:pt x="1704549" y="366383"/>
                  <a:pt x="1551023" y="369332"/>
                </a:cubicBezTo>
                <a:cubicBezTo>
                  <a:pt x="1397497" y="372281"/>
                  <a:pt x="1160626" y="315586"/>
                  <a:pt x="1047444" y="369332"/>
                </a:cubicBezTo>
                <a:cubicBezTo>
                  <a:pt x="934262" y="423078"/>
                  <a:pt x="762592" y="339666"/>
                  <a:pt x="604295" y="369332"/>
                </a:cubicBezTo>
                <a:cubicBezTo>
                  <a:pt x="445998" y="398998"/>
                  <a:pt x="276944" y="299608"/>
                  <a:pt x="0" y="369332"/>
                </a:cubicBezTo>
                <a:cubicBezTo>
                  <a:pt x="-10121" y="225450"/>
                  <a:pt x="59" y="117776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42114265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Analitik Modeller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51431EBB-C9D3-9664-19C0-F6F470FCDB91}"/>
              </a:ext>
            </a:extLst>
          </p:cNvPr>
          <p:cNvSpPr txBox="1"/>
          <p:nvPr/>
        </p:nvSpPr>
        <p:spPr>
          <a:xfrm>
            <a:off x="208451" y="5138341"/>
            <a:ext cx="2014315" cy="646331"/>
          </a:xfrm>
          <a:custGeom>
            <a:avLst/>
            <a:gdLst>
              <a:gd name="connsiteX0" fmla="*/ 0 w 2014315"/>
              <a:gd name="connsiteY0" fmla="*/ 0 h 646331"/>
              <a:gd name="connsiteX1" fmla="*/ 523722 w 2014315"/>
              <a:gd name="connsiteY1" fmla="*/ 0 h 646331"/>
              <a:gd name="connsiteX2" fmla="*/ 1007158 w 2014315"/>
              <a:gd name="connsiteY2" fmla="*/ 0 h 646331"/>
              <a:gd name="connsiteX3" fmla="*/ 1450307 w 2014315"/>
              <a:gd name="connsiteY3" fmla="*/ 0 h 646331"/>
              <a:gd name="connsiteX4" fmla="*/ 2014315 w 2014315"/>
              <a:gd name="connsiteY4" fmla="*/ 0 h 646331"/>
              <a:gd name="connsiteX5" fmla="*/ 2014315 w 2014315"/>
              <a:gd name="connsiteY5" fmla="*/ 323166 h 646331"/>
              <a:gd name="connsiteX6" fmla="*/ 2014315 w 2014315"/>
              <a:gd name="connsiteY6" fmla="*/ 646331 h 646331"/>
              <a:gd name="connsiteX7" fmla="*/ 1551023 w 2014315"/>
              <a:gd name="connsiteY7" fmla="*/ 646331 h 646331"/>
              <a:gd name="connsiteX8" fmla="*/ 1067587 w 2014315"/>
              <a:gd name="connsiteY8" fmla="*/ 646331 h 646331"/>
              <a:gd name="connsiteX9" fmla="*/ 584151 w 2014315"/>
              <a:gd name="connsiteY9" fmla="*/ 646331 h 646331"/>
              <a:gd name="connsiteX10" fmla="*/ 0 w 2014315"/>
              <a:gd name="connsiteY10" fmla="*/ 646331 h 646331"/>
              <a:gd name="connsiteX11" fmla="*/ 0 w 2014315"/>
              <a:gd name="connsiteY11" fmla="*/ 336092 h 646331"/>
              <a:gd name="connsiteX12" fmla="*/ 0 w 2014315"/>
              <a:gd name="connsiteY12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14315" h="646331" fill="none" extrusionOk="0">
                <a:moveTo>
                  <a:pt x="0" y="0"/>
                </a:moveTo>
                <a:cubicBezTo>
                  <a:pt x="137041" y="-54685"/>
                  <a:pt x="417295" y="11817"/>
                  <a:pt x="523722" y="0"/>
                </a:cubicBezTo>
                <a:cubicBezTo>
                  <a:pt x="630149" y="-11817"/>
                  <a:pt x="855729" y="45232"/>
                  <a:pt x="1007158" y="0"/>
                </a:cubicBezTo>
                <a:cubicBezTo>
                  <a:pt x="1158587" y="-45232"/>
                  <a:pt x="1350173" y="49061"/>
                  <a:pt x="1450307" y="0"/>
                </a:cubicBezTo>
                <a:cubicBezTo>
                  <a:pt x="1550441" y="-49061"/>
                  <a:pt x="1772706" y="57662"/>
                  <a:pt x="2014315" y="0"/>
                </a:cubicBezTo>
                <a:cubicBezTo>
                  <a:pt x="2050779" y="111821"/>
                  <a:pt x="1982320" y="171371"/>
                  <a:pt x="2014315" y="323166"/>
                </a:cubicBezTo>
                <a:cubicBezTo>
                  <a:pt x="2046310" y="474961"/>
                  <a:pt x="2009431" y="527871"/>
                  <a:pt x="2014315" y="646331"/>
                </a:cubicBezTo>
                <a:cubicBezTo>
                  <a:pt x="1874346" y="665925"/>
                  <a:pt x="1682836" y="613590"/>
                  <a:pt x="1551023" y="646331"/>
                </a:cubicBezTo>
                <a:cubicBezTo>
                  <a:pt x="1419210" y="679072"/>
                  <a:pt x="1168651" y="589103"/>
                  <a:pt x="1067587" y="646331"/>
                </a:cubicBezTo>
                <a:cubicBezTo>
                  <a:pt x="966523" y="703559"/>
                  <a:pt x="745258" y="633893"/>
                  <a:pt x="584151" y="646331"/>
                </a:cubicBezTo>
                <a:cubicBezTo>
                  <a:pt x="423044" y="658769"/>
                  <a:pt x="255204" y="621729"/>
                  <a:pt x="0" y="646331"/>
                </a:cubicBezTo>
                <a:cubicBezTo>
                  <a:pt x="-16312" y="555098"/>
                  <a:pt x="14980" y="428518"/>
                  <a:pt x="0" y="336092"/>
                </a:cubicBezTo>
                <a:cubicBezTo>
                  <a:pt x="-14980" y="243666"/>
                  <a:pt x="18223" y="84914"/>
                  <a:pt x="0" y="0"/>
                </a:cubicBezTo>
                <a:close/>
              </a:path>
              <a:path w="2014315" h="646331" stroke="0" extrusionOk="0">
                <a:moveTo>
                  <a:pt x="0" y="0"/>
                </a:moveTo>
                <a:cubicBezTo>
                  <a:pt x="190507" y="-28857"/>
                  <a:pt x="370473" y="32181"/>
                  <a:pt x="463292" y="0"/>
                </a:cubicBezTo>
                <a:cubicBezTo>
                  <a:pt x="556111" y="-32181"/>
                  <a:pt x="771347" y="784"/>
                  <a:pt x="906442" y="0"/>
                </a:cubicBezTo>
                <a:cubicBezTo>
                  <a:pt x="1041537" y="-784"/>
                  <a:pt x="1130768" y="30332"/>
                  <a:pt x="1349591" y="0"/>
                </a:cubicBezTo>
                <a:cubicBezTo>
                  <a:pt x="1568414" y="-30332"/>
                  <a:pt x="1742991" y="55203"/>
                  <a:pt x="2014315" y="0"/>
                </a:cubicBezTo>
                <a:cubicBezTo>
                  <a:pt x="2030299" y="108309"/>
                  <a:pt x="1999952" y="175203"/>
                  <a:pt x="2014315" y="303776"/>
                </a:cubicBezTo>
                <a:cubicBezTo>
                  <a:pt x="2028678" y="432349"/>
                  <a:pt x="2003411" y="502281"/>
                  <a:pt x="2014315" y="646331"/>
                </a:cubicBezTo>
                <a:cubicBezTo>
                  <a:pt x="1820988" y="694439"/>
                  <a:pt x="1732043" y="618314"/>
                  <a:pt x="1551023" y="646331"/>
                </a:cubicBezTo>
                <a:cubicBezTo>
                  <a:pt x="1370003" y="674348"/>
                  <a:pt x="1266680" y="623456"/>
                  <a:pt x="1107873" y="646331"/>
                </a:cubicBezTo>
                <a:cubicBezTo>
                  <a:pt x="949066" y="669206"/>
                  <a:pt x="730482" y="628971"/>
                  <a:pt x="624438" y="646331"/>
                </a:cubicBezTo>
                <a:cubicBezTo>
                  <a:pt x="518395" y="663691"/>
                  <a:pt x="127338" y="608566"/>
                  <a:pt x="0" y="646331"/>
                </a:cubicBezTo>
                <a:cubicBezTo>
                  <a:pt x="-33309" y="565942"/>
                  <a:pt x="36944" y="455905"/>
                  <a:pt x="0" y="316702"/>
                </a:cubicBezTo>
                <a:cubicBezTo>
                  <a:pt x="-36944" y="177499"/>
                  <a:pt x="18234" y="141529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42114265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Kural Bazlı İçgörüler</a:t>
            </a:r>
          </a:p>
        </p:txBody>
      </p:sp>
      <p:cxnSp>
        <p:nvCxnSpPr>
          <p:cNvPr id="1061" name="Connector: Curved 1060">
            <a:extLst>
              <a:ext uri="{FF2B5EF4-FFF2-40B4-BE49-F238E27FC236}">
                <a16:creationId xmlns:a16="http://schemas.microsoft.com/office/drawing/2014/main" id="{1652868A-82F1-4B2C-66DD-F01ABFC71FA2}"/>
              </a:ext>
            </a:extLst>
          </p:cNvPr>
          <p:cNvCxnSpPr>
            <a:cxnSpLocks/>
            <a:stCxn id="1058" idx="3"/>
            <a:endCxn id="8" idx="1"/>
          </p:cNvCxnSpPr>
          <p:nvPr/>
        </p:nvCxnSpPr>
        <p:spPr>
          <a:xfrm flipV="1">
            <a:off x="2245451" y="1660711"/>
            <a:ext cx="1770737" cy="12124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67" name="Connector: Curved 1066">
            <a:extLst>
              <a:ext uri="{FF2B5EF4-FFF2-40B4-BE49-F238E27FC236}">
                <a16:creationId xmlns:a16="http://schemas.microsoft.com/office/drawing/2014/main" id="{505867C6-B175-0EB8-1C77-D3072AAA3891}"/>
              </a:ext>
            </a:extLst>
          </p:cNvPr>
          <p:cNvCxnSpPr>
            <a:cxnSpLocks/>
            <a:stCxn id="1059" idx="3"/>
          </p:cNvCxnSpPr>
          <p:nvPr/>
        </p:nvCxnSpPr>
        <p:spPr>
          <a:xfrm flipV="1">
            <a:off x="2222766" y="4802820"/>
            <a:ext cx="1793420" cy="65868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71" name="Connector: Curved 1070">
            <a:extLst>
              <a:ext uri="{FF2B5EF4-FFF2-40B4-BE49-F238E27FC236}">
                <a16:creationId xmlns:a16="http://schemas.microsoft.com/office/drawing/2014/main" id="{090FF98C-E9E6-E8B9-8E3F-13ABF8B3565A}"/>
              </a:ext>
            </a:extLst>
          </p:cNvPr>
          <p:cNvCxnSpPr>
            <a:cxnSpLocks/>
            <a:endCxn id="7" idx="1"/>
          </p:cNvCxnSpPr>
          <p:nvPr/>
        </p:nvCxnSpPr>
        <p:spPr>
          <a:xfrm rot="16200000" flipH="1">
            <a:off x="643912" y="2103806"/>
            <a:ext cx="1582046" cy="130768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77" name="Connector: Curved 1076">
            <a:extLst>
              <a:ext uri="{FF2B5EF4-FFF2-40B4-BE49-F238E27FC236}">
                <a16:creationId xmlns:a16="http://schemas.microsoft.com/office/drawing/2014/main" id="{BBA602E2-3277-F747-C65F-DA7679E9DFE1}"/>
              </a:ext>
            </a:extLst>
          </p:cNvPr>
          <p:cNvCxnSpPr>
            <a:cxnSpLocks/>
            <a:endCxn id="6" idx="1"/>
          </p:cNvCxnSpPr>
          <p:nvPr/>
        </p:nvCxnSpPr>
        <p:spPr>
          <a:xfrm rot="5400000" flipH="1" flipV="1">
            <a:off x="-306749" y="3334322"/>
            <a:ext cx="2673850" cy="92183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63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F3BE6D9-2053-D859-64C8-DD82A408C1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8" b="28926"/>
          <a:stretch/>
        </p:blipFill>
        <p:spPr>
          <a:xfrm>
            <a:off x="720642" y="1348917"/>
            <a:ext cx="10750715" cy="52309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1D19C8-A953-74F9-FD92-AD544C74F47B}"/>
              </a:ext>
            </a:extLst>
          </p:cNvPr>
          <p:cNvSpPr txBox="1"/>
          <p:nvPr/>
        </p:nvSpPr>
        <p:spPr>
          <a:xfrm>
            <a:off x="0" y="3402"/>
            <a:ext cx="1907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>
                <a:solidFill>
                  <a:schemeClr val="bg1">
                    <a:lumMod val="75000"/>
                  </a:schemeClr>
                </a:solidFill>
              </a:rPr>
              <a:t>Portföy Yönetimi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098BC-370D-91DD-3E83-BC934626FDA0}"/>
              </a:ext>
            </a:extLst>
          </p:cNvPr>
          <p:cNvSpPr txBox="1"/>
          <p:nvPr/>
        </p:nvSpPr>
        <p:spPr>
          <a:xfrm>
            <a:off x="0" y="372734"/>
            <a:ext cx="4677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i="1" dirty="0">
                <a:solidFill>
                  <a:schemeClr val="tx2"/>
                </a:solidFill>
              </a:rPr>
              <a:t>Bu karmaşayı yönetmek için </a:t>
            </a:r>
            <a:r>
              <a:rPr lang="tr-TR" sz="1600" b="1" i="1" dirty="0">
                <a:solidFill>
                  <a:schemeClr val="tx2"/>
                </a:solidFill>
              </a:rPr>
              <a:t>neye</a:t>
            </a:r>
            <a:r>
              <a:rPr lang="tr-TR" sz="1600" i="1" dirty="0">
                <a:solidFill>
                  <a:schemeClr val="tx2"/>
                </a:solidFill>
              </a:rPr>
              <a:t> </a:t>
            </a:r>
            <a:r>
              <a:rPr lang="tr-TR" sz="1600" b="1" i="1" dirty="0">
                <a:solidFill>
                  <a:schemeClr val="tx2"/>
                </a:solidFill>
              </a:rPr>
              <a:t>ihtiyacımız var</a:t>
            </a:r>
            <a:r>
              <a:rPr lang="tr-TR" sz="1600" i="1" dirty="0">
                <a:solidFill>
                  <a:schemeClr val="tx2"/>
                </a:solidFill>
              </a:rPr>
              <a:t>…</a:t>
            </a:r>
            <a:endParaRPr lang="en-GB" sz="1600" i="1" dirty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44F96E-0E60-38B5-6286-2645AE7119AC}"/>
              </a:ext>
            </a:extLst>
          </p:cNvPr>
          <p:cNvSpPr/>
          <p:nvPr/>
        </p:nvSpPr>
        <p:spPr>
          <a:xfrm>
            <a:off x="716437" y="1348916"/>
            <a:ext cx="10765410" cy="5230996"/>
          </a:xfrm>
          <a:prstGeom prst="rect">
            <a:avLst/>
          </a:prstGeom>
          <a:gradFill>
            <a:gsLst>
              <a:gs pos="0">
                <a:schemeClr val="bg1">
                  <a:alpha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7AB6F0-E9E1-1AD4-2D3D-6F1ED0A4E1F2}"/>
              </a:ext>
            </a:extLst>
          </p:cNvPr>
          <p:cNvSpPr txBox="1"/>
          <p:nvPr/>
        </p:nvSpPr>
        <p:spPr>
          <a:xfrm>
            <a:off x="2054748" y="1413611"/>
            <a:ext cx="3205113" cy="2015389"/>
          </a:xfrm>
          <a:prstGeom prst="rect">
            <a:avLst/>
          </a:prstGeom>
          <a:solidFill>
            <a:srgbClr val="215F9A"/>
          </a:solidFill>
          <a:ln>
            <a:solidFill>
              <a:schemeClr val="accent2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tr-TR" sz="2400" u="sng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Bütüncül</a:t>
            </a:r>
          </a:p>
          <a:p>
            <a:pPr algn="ctr">
              <a:spcBef>
                <a:spcPts val="600"/>
              </a:spcBef>
            </a:pPr>
            <a:endParaRPr lang="tr-TR" sz="2000" i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tr-TR" sz="20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Portföye bütünsel </a:t>
            </a:r>
          </a:p>
          <a:p>
            <a:pPr algn="ctr">
              <a:spcBef>
                <a:spcPts val="600"/>
              </a:spcBef>
            </a:pPr>
            <a:r>
              <a:rPr lang="tr-TR" sz="20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bakan</a:t>
            </a:r>
            <a:endParaRPr lang="en-GB" sz="2000" i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AFCE6F-8930-F48F-691A-CB9927E49DF3}"/>
              </a:ext>
            </a:extLst>
          </p:cNvPr>
          <p:cNvSpPr txBox="1"/>
          <p:nvPr/>
        </p:nvSpPr>
        <p:spPr>
          <a:xfrm>
            <a:off x="6874989" y="1413611"/>
            <a:ext cx="3205113" cy="2015389"/>
          </a:xfrm>
          <a:prstGeom prst="rect">
            <a:avLst/>
          </a:prstGeom>
          <a:solidFill>
            <a:srgbClr val="215F9A"/>
          </a:solidFill>
          <a:ln>
            <a:solidFill>
              <a:schemeClr val="accent2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tr-TR" sz="2400" u="sng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Entegre</a:t>
            </a:r>
          </a:p>
          <a:p>
            <a:pPr algn="ctr">
              <a:spcBef>
                <a:spcPts val="600"/>
              </a:spcBef>
            </a:pPr>
            <a:endParaRPr lang="tr-TR" sz="2000" i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tr-TR" sz="2000" i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</a:t>
            </a:r>
            <a:r>
              <a:rPr lang="tr-TR" sz="20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Sistem, Strateji, Analitik, Saha, Aksiyon</a:t>
            </a:r>
            <a:endParaRPr lang="en-GB" sz="2000" i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9E47A7-4BF9-8788-2F5A-9B02A40F53B6}"/>
              </a:ext>
            </a:extLst>
          </p:cNvPr>
          <p:cNvSpPr txBox="1"/>
          <p:nvPr/>
        </p:nvSpPr>
        <p:spPr>
          <a:xfrm>
            <a:off x="4493442" y="3953916"/>
            <a:ext cx="3205113" cy="2560006"/>
          </a:xfrm>
          <a:prstGeom prst="rect">
            <a:avLst/>
          </a:prstGeom>
          <a:solidFill>
            <a:srgbClr val="215F9A"/>
          </a:solidFill>
          <a:ln>
            <a:solidFill>
              <a:schemeClr val="accent2"/>
            </a:solidFill>
          </a:ln>
        </p:spPr>
        <p:txBody>
          <a:bodyPr wrap="square" tIns="144000" rtlCol="0" anchor="t" anchorCtr="0">
            <a:noAutofit/>
          </a:bodyPr>
          <a:lstStyle/>
          <a:p>
            <a:pPr algn="ctr"/>
            <a:r>
              <a:rPr lang="tr-TR" sz="2400" u="sng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Akıllı</a:t>
            </a:r>
            <a:endParaRPr lang="tr-TR" sz="2000" i="1" u="sng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endParaRPr lang="tr-TR" sz="2400" u="sng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tr-TR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«AI-</a:t>
            </a:r>
            <a:r>
              <a:rPr lang="tr-TR" sz="24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Native</a:t>
            </a:r>
            <a:r>
              <a:rPr lang="tr-TR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» olarak tasarlanmış bir yönetim platformu</a:t>
            </a:r>
          </a:p>
        </p:txBody>
      </p:sp>
    </p:spTree>
    <p:extLst>
      <p:ext uri="{BB962C8B-B14F-4D97-AF65-F5344CB8AC3E}">
        <p14:creationId xmlns:p14="http://schemas.microsoft.com/office/powerpoint/2010/main" val="377895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8ADE83-09A7-2FC1-AA76-4A7E557563A4}"/>
              </a:ext>
            </a:extLst>
          </p:cNvPr>
          <p:cNvSpPr txBox="1"/>
          <p:nvPr/>
        </p:nvSpPr>
        <p:spPr>
          <a:xfrm>
            <a:off x="-1" y="3402"/>
            <a:ext cx="488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err="1">
                <a:solidFill>
                  <a:schemeClr val="bg1">
                    <a:lumMod val="75000"/>
                  </a:schemeClr>
                </a:solidFill>
              </a:rPr>
              <a:t>Account</a:t>
            </a:r>
            <a:r>
              <a:rPr lang="tr-TR" b="1" dirty="0">
                <a:solidFill>
                  <a:schemeClr val="bg1">
                    <a:lumMod val="75000"/>
                  </a:schemeClr>
                </a:solidFill>
              </a:rPr>
              <a:t> Planning </a:t>
            </a:r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BB1E19-92EF-66AA-F941-752F4AC6741A}"/>
              </a:ext>
            </a:extLst>
          </p:cNvPr>
          <p:cNvSpPr txBox="1"/>
          <p:nvPr/>
        </p:nvSpPr>
        <p:spPr>
          <a:xfrm>
            <a:off x="0" y="372734"/>
            <a:ext cx="48857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i="1" dirty="0">
                <a:solidFill>
                  <a:schemeClr val="tx2"/>
                </a:solidFill>
              </a:rPr>
              <a:t>nedir </a:t>
            </a:r>
            <a:r>
              <a:rPr lang="tr-TR" sz="1600" b="1" i="1" dirty="0" err="1">
                <a:solidFill>
                  <a:schemeClr val="tx2"/>
                </a:solidFill>
              </a:rPr>
              <a:t>Account</a:t>
            </a:r>
            <a:r>
              <a:rPr lang="tr-TR" sz="1600" b="1" i="1" dirty="0">
                <a:solidFill>
                  <a:schemeClr val="tx2"/>
                </a:solidFill>
              </a:rPr>
              <a:t> Planning </a:t>
            </a:r>
            <a:r>
              <a:rPr lang="tr-TR" sz="1600" i="1" dirty="0">
                <a:solidFill>
                  <a:schemeClr val="tx2"/>
                </a:solidFill>
              </a:rPr>
              <a:t>?</a:t>
            </a:r>
            <a:endParaRPr lang="en-GB" sz="1600" i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AF092-06F3-AD21-AE86-1AF7C445D72A}"/>
              </a:ext>
            </a:extLst>
          </p:cNvPr>
          <p:cNvSpPr txBox="1"/>
          <p:nvPr/>
        </p:nvSpPr>
        <p:spPr>
          <a:xfrm>
            <a:off x="2848963" y="5640957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50650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52676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16281" y="-27164"/>
                  <a:pt x="328835" y="49661"/>
                  <a:pt x="506506" y="0"/>
                </a:cubicBezTo>
                <a:cubicBezTo>
                  <a:pt x="684177" y="-49661"/>
                  <a:pt x="887417" y="21756"/>
                  <a:pt x="1013012" y="0"/>
                </a:cubicBezTo>
                <a:cubicBezTo>
                  <a:pt x="1045270" y="114940"/>
                  <a:pt x="986392" y="224509"/>
                  <a:pt x="1013012" y="369332"/>
                </a:cubicBezTo>
                <a:cubicBezTo>
                  <a:pt x="837601" y="418338"/>
                  <a:pt x="624835" y="342105"/>
                  <a:pt x="526766" y="369332"/>
                </a:cubicBezTo>
                <a:cubicBezTo>
                  <a:pt x="428697" y="396559"/>
                  <a:pt x="141203" y="316957"/>
                  <a:pt x="0" y="369332"/>
                </a:cubicBezTo>
                <a:cubicBezTo>
                  <a:pt x="-3970" y="236566"/>
                  <a:pt x="7703" y="107267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99585" y="-18232"/>
                  <a:pt x="249173" y="37439"/>
                  <a:pt x="476116" y="0"/>
                </a:cubicBezTo>
                <a:cubicBezTo>
                  <a:pt x="703059" y="-37439"/>
                  <a:pt x="869780" y="18266"/>
                  <a:pt x="1013012" y="0"/>
                </a:cubicBezTo>
                <a:cubicBezTo>
                  <a:pt x="1051959" y="181076"/>
                  <a:pt x="990150" y="224714"/>
                  <a:pt x="1013012" y="369332"/>
                </a:cubicBezTo>
                <a:cubicBezTo>
                  <a:pt x="786330" y="386944"/>
                  <a:pt x="759007" y="348623"/>
                  <a:pt x="526766" y="369332"/>
                </a:cubicBezTo>
                <a:cubicBezTo>
                  <a:pt x="294525" y="390041"/>
                  <a:pt x="126997" y="325111"/>
                  <a:pt x="0" y="369332"/>
                </a:cubicBezTo>
                <a:cubicBezTo>
                  <a:pt x="-22126" y="236033"/>
                  <a:pt x="33323" y="171498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28508029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Tic. Sicil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B4709F-29EC-5EFA-BA3D-152C218949F9}"/>
              </a:ext>
            </a:extLst>
          </p:cNvPr>
          <p:cNvSpPr txBox="1"/>
          <p:nvPr/>
        </p:nvSpPr>
        <p:spPr>
          <a:xfrm>
            <a:off x="2848963" y="2974610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49637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48624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30441" y="-975"/>
                  <a:pt x="356771" y="58531"/>
                  <a:pt x="496376" y="0"/>
                </a:cubicBezTo>
                <a:cubicBezTo>
                  <a:pt x="635981" y="-58531"/>
                  <a:pt x="802180" y="29937"/>
                  <a:pt x="1013012" y="0"/>
                </a:cubicBezTo>
                <a:cubicBezTo>
                  <a:pt x="1029862" y="74455"/>
                  <a:pt x="992587" y="283847"/>
                  <a:pt x="1013012" y="369332"/>
                </a:cubicBezTo>
                <a:cubicBezTo>
                  <a:pt x="809725" y="376968"/>
                  <a:pt x="639486" y="337937"/>
                  <a:pt x="486246" y="369332"/>
                </a:cubicBezTo>
                <a:cubicBezTo>
                  <a:pt x="333006" y="400727"/>
                  <a:pt x="108104" y="336838"/>
                  <a:pt x="0" y="369332"/>
                </a:cubicBezTo>
                <a:cubicBezTo>
                  <a:pt x="-22479" y="294221"/>
                  <a:pt x="18717" y="79307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138761" y="-47680"/>
                  <a:pt x="286547" y="52239"/>
                  <a:pt x="476116" y="0"/>
                </a:cubicBezTo>
                <a:cubicBezTo>
                  <a:pt x="665685" y="-52239"/>
                  <a:pt x="863141" y="60712"/>
                  <a:pt x="1013012" y="0"/>
                </a:cubicBezTo>
                <a:cubicBezTo>
                  <a:pt x="1037925" y="140207"/>
                  <a:pt x="968913" y="217777"/>
                  <a:pt x="1013012" y="369332"/>
                </a:cubicBezTo>
                <a:cubicBezTo>
                  <a:pt x="904708" y="404043"/>
                  <a:pt x="676829" y="354604"/>
                  <a:pt x="486246" y="369332"/>
                </a:cubicBezTo>
                <a:cubicBezTo>
                  <a:pt x="295663" y="384060"/>
                  <a:pt x="136793" y="362868"/>
                  <a:pt x="0" y="369332"/>
                </a:cubicBezTo>
                <a:cubicBezTo>
                  <a:pt x="-15135" y="186041"/>
                  <a:pt x="10599" y="80419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28383645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EVAM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A3181-6BEB-87A5-6172-70E8336880A3}"/>
              </a:ext>
            </a:extLst>
          </p:cNvPr>
          <p:cNvSpPr txBox="1"/>
          <p:nvPr/>
        </p:nvSpPr>
        <p:spPr>
          <a:xfrm>
            <a:off x="2848963" y="4667085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51663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52676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229445" y="-3327"/>
                  <a:pt x="412943" y="12983"/>
                  <a:pt x="516636" y="0"/>
                </a:cubicBezTo>
                <a:cubicBezTo>
                  <a:pt x="620329" y="-12983"/>
                  <a:pt x="899277" y="9893"/>
                  <a:pt x="1013012" y="0"/>
                </a:cubicBezTo>
                <a:cubicBezTo>
                  <a:pt x="1014301" y="139842"/>
                  <a:pt x="993228" y="205637"/>
                  <a:pt x="1013012" y="369332"/>
                </a:cubicBezTo>
                <a:cubicBezTo>
                  <a:pt x="830455" y="392162"/>
                  <a:pt x="626117" y="322238"/>
                  <a:pt x="526766" y="369332"/>
                </a:cubicBezTo>
                <a:cubicBezTo>
                  <a:pt x="427415" y="416426"/>
                  <a:pt x="215220" y="355444"/>
                  <a:pt x="0" y="369332"/>
                </a:cubicBezTo>
                <a:cubicBezTo>
                  <a:pt x="-40108" y="202717"/>
                  <a:pt x="26240" y="160701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225801" y="-21424"/>
                  <a:pt x="321831" y="56915"/>
                  <a:pt x="486246" y="0"/>
                </a:cubicBezTo>
                <a:cubicBezTo>
                  <a:pt x="650661" y="-56915"/>
                  <a:pt x="869665" y="59155"/>
                  <a:pt x="1013012" y="0"/>
                </a:cubicBezTo>
                <a:cubicBezTo>
                  <a:pt x="1049069" y="167807"/>
                  <a:pt x="969130" y="196178"/>
                  <a:pt x="1013012" y="369332"/>
                </a:cubicBezTo>
                <a:cubicBezTo>
                  <a:pt x="897326" y="418832"/>
                  <a:pt x="712400" y="361585"/>
                  <a:pt x="516636" y="369332"/>
                </a:cubicBezTo>
                <a:cubicBezTo>
                  <a:pt x="320872" y="377079"/>
                  <a:pt x="240922" y="318064"/>
                  <a:pt x="0" y="369332"/>
                </a:cubicBezTo>
                <a:cubicBezTo>
                  <a:pt x="-6634" y="283079"/>
                  <a:pt x="33788" y="151128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60128489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KKB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19E82F-3D60-C634-53C4-DAA56C5737AA}"/>
              </a:ext>
            </a:extLst>
          </p:cNvPr>
          <p:cNvSpPr txBox="1"/>
          <p:nvPr/>
        </p:nvSpPr>
        <p:spPr>
          <a:xfrm>
            <a:off x="2848963" y="5130169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52676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50650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60906" y="-32635"/>
                  <a:pt x="395745" y="28528"/>
                  <a:pt x="526766" y="0"/>
                </a:cubicBezTo>
                <a:cubicBezTo>
                  <a:pt x="657787" y="-28528"/>
                  <a:pt x="839572" y="56468"/>
                  <a:pt x="1013012" y="0"/>
                </a:cubicBezTo>
                <a:cubicBezTo>
                  <a:pt x="1049542" y="135200"/>
                  <a:pt x="1010102" y="193400"/>
                  <a:pt x="1013012" y="369332"/>
                </a:cubicBezTo>
                <a:cubicBezTo>
                  <a:pt x="902315" y="381360"/>
                  <a:pt x="753269" y="318247"/>
                  <a:pt x="506506" y="369332"/>
                </a:cubicBezTo>
                <a:cubicBezTo>
                  <a:pt x="259743" y="420417"/>
                  <a:pt x="113232" y="329550"/>
                  <a:pt x="0" y="369332"/>
                </a:cubicBezTo>
                <a:cubicBezTo>
                  <a:pt x="-35908" y="206799"/>
                  <a:pt x="7130" y="139917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224575" y="-13014"/>
                  <a:pt x="289548" y="29681"/>
                  <a:pt x="516636" y="0"/>
                </a:cubicBezTo>
                <a:cubicBezTo>
                  <a:pt x="743724" y="-29681"/>
                  <a:pt x="851441" y="47024"/>
                  <a:pt x="1013012" y="0"/>
                </a:cubicBezTo>
                <a:cubicBezTo>
                  <a:pt x="1023491" y="175995"/>
                  <a:pt x="982083" y="237633"/>
                  <a:pt x="1013012" y="369332"/>
                </a:cubicBezTo>
                <a:cubicBezTo>
                  <a:pt x="759582" y="421192"/>
                  <a:pt x="602429" y="310170"/>
                  <a:pt x="496376" y="369332"/>
                </a:cubicBezTo>
                <a:cubicBezTo>
                  <a:pt x="390323" y="428494"/>
                  <a:pt x="209085" y="368497"/>
                  <a:pt x="0" y="369332"/>
                </a:cubicBezTo>
                <a:cubicBezTo>
                  <a:pt x="-5459" y="291138"/>
                  <a:pt x="9490" y="179262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6907352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Sektör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C803B9-B4CD-76AD-9B87-B4DA020208A9}"/>
              </a:ext>
            </a:extLst>
          </p:cNvPr>
          <p:cNvSpPr txBox="1"/>
          <p:nvPr/>
        </p:nvSpPr>
        <p:spPr>
          <a:xfrm>
            <a:off x="2848963" y="2027016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48624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49637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57136" y="-55920"/>
                  <a:pt x="289208" y="50930"/>
                  <a:pt x="486246" y="0"/>
                </a:cubicBezTo>
                <a:cubicBezTo>
                  <a:pt x="683284" y="-50930"/>
                  <a:pt x="838247" y="8177"/>
                  <a:pt x="1013012" y="0"/>
                </a:cubicBezTo>
                <a:cubicBezTo>
                  <a:pt x="1022682" y="130799"/>
                  <a:pt x="972183" y="238060"/>
                  <a:pt x="1013012" y="369332"/>
                </a:cubicBezTo>
                <a:cubicBezTo>
                  <a:pt x="883811" y="383111"/>
                  <a:pt x="679225" y="329862"/>
                  <a:pt x="496376" y="369332"/>
                </a:cubicBezTo>
                <a:cubicBezTo>
                  <a:pt x="313527" y="408802"/>
                  <a:pt x="142105" y="350751"/>
                  <a:pt x="0" y="369332"/>
                </a:cubicBezTo>
                <a:cubicBezTo>
                  <a:pt x="-8043" y="264747"/>
                  <a:pt x="29093" y="166258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230501" y="-16182"/>
                  <a:pt x="367497" y="54068"/>
                  <a:pt x="496376" y="0"/>
                </a:cubicBezTo>
                <a:cubicBezTo>
                  <a:pt x="625255" y="-54068"/>
                  <a:pt x="785171" y="35304"/>
                  <a:pt x="1013012" y="0"/>
                </a:cubicBezTo>
                <a:cubicBezTo>
                  <a:pt x="1020261" y="86221"/>
                  <a:pt x="974489" y="273075"/>
                  <a:pt x="1013012" y="369332"/>
                </a:cubicBezTo>
                <a:cubicBezTo>
                  <a:pt x="851056" y="405987"/>
                  <a:pt x="603139" y="342481"/>
                  <a:pt x="486246" y="369332"/>
                </a:cubicBezTo>
                <a:cubicBezTo>
                  <a:pt x="369353" y="396183"/>
                  <a:pt x="220649" y="351804"/>
                  <a:pt x="0" y="369332"/>
                </a:cubicBezTo>
                <a:cubicBezTo>
                  <a:pt x="-27824" y="252687"/>
                  <a:pt x="485" y="175799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94830490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54C752-47A7-E554-7967-542E6EA17025}"/>
              </a:ext>
            </a:extLst>
          </p:cNvPr>
          <p:cNvSpPr txBox="1"/>
          <p:nvPr/>
        </p:nvSpPr>
        <p:spPr>
          <a:xfrm>
            <a:off x="458710" y="2974610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49637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52676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61054" y="-6294"/>
                  <a:pt x="321455" y="10844"/>
                  <a:pt x="496376" y="0"/>
                </a:cubicBezTo>
                <a:cubicBezTo>
                  <a:pt x="671297" y="-10844"/>
                  <a:pt x="818788" y="31111"/>
                  <a:pt x="1013012" y="0"/>
                </a:cubicBezTo>
                <a:cubicBezTo>
                  <a:pt x="1047175" y="173264"/>
                  <a:pt x="986968" y="278686"/>
                  <a:pt x="1013012" y="369332"/>
                </a:cubicBezTo>
                <a:cubicBezTo>
                  <a:pt x="803398" y="425679"/>
                  <a:pt x="715870" y="336798"/>
                  <a:pt x="526766" y="369332"/>
                </a:cubicBezTo>
                <a:cubicBezTo>
                  <a:pt x="337662" y="401866"/>
                  <a:pt x="262026" y="309934"/>
                  <a:pt x="0" y="369332"/>
                </a:cubicBezTo>
                <a:cubicBezTo>
                  <a:pt x="-29681" y="219265"/>
                  <a:pt x="36720" y="119101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117355" y="-37963"/>
                  <a:pt x="293252" y="24831"/>
                  <a:pt x="486246" y="0"/>
                </a:cubicBezTo>
                <a:cubicBezTo>
                  <a:pt x="679240" y="-24831"/>
                  <a:pt x="759865" y="50892"/>
                  <a:pt x="1013012" y="0"/>
                </a:cubicBezTo>
                <a:cubicBezTo>
                  <a:pt x="1020265" y="131065"/>
                  <a:pt x="995944" y="259929"/>
                  <a:pt x="1013012" y="369332"/>
                </a:cubicBezTo>
                <a:cubicBezTo>
                  <a:pt x="804327" y="375308"/>
                  <a:pt x="658582" y="314202"/>
                  <a:pt x="526766" y="369332"/>
                </a:cubicBezTo>
                <a:cubicBezTo>
                  <a:pt x="394950" y="424462"/>
                  <a:pt x="248886" y="327006"/>
                  <a:pt x="0" y="369332"/>
                </a:cubicBezTo>
                <a:cubicBezTo>
                  <a:pt x="-14530" y="254239"/>
                  <a:pt x="8372" y="9050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42114265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APKO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86CB77-F109-6A30-0A39-E7AB04EF1FFD}"/>
              </a:ext>
            </a:extLst>
          </p:cNvPr>
          <p:cNvSpPr txBox="1"/>
          <p:nvPr/>
        </p:nvSpPr>
        <p:spPr>
          <a:xfrm>
            <a:off x="2848963" y="2495377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49637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52676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72329" y="-31653"/>
                  <a:pt x="322441" y="32892"/>
                  <a:pt x="496376" y="0"/>
                </a:cubicBezTo>
                <a:cubicBezTo>
                  <a:pt x="670311" y="-32892"/>
                  <a:pt x="828976" y="1850"/>
                  <a:pt x="1013012" y="0"/>
                </a:cubicBezTo>
                <a:cubicBezTo>
                  <a:pt x="1049569" y="76118"/>
                  <a:pt x="978073" y="216791"/>
                  <a:pt x="1013012" y="369332"/>
                </a:cubicBezTo>
                <a:cubicBezTo>
                  <a:pt x="841825" y="393890"/>
                  <a:pt x="639979" y="350508"/>
                  <a:pt x="526766" y="369332"/>
                </a:cubicBezTo>
                <a:cubicBezTo>
                  <a:pt x="413553" y="388156"/>
                  <a:pt x="129068" y="340602"/>
                  <a:pt x="0" y="369332"/>
                </a:cubicBezTo>
                <a:cubicBezTo>
                  <a:pt x="-39364" y="288393"/>
                  <a:pt x="30793" y="170085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156438" y="-44681"/>
                  <a:pt x="395322" y="15269"/>
                  <a:pt x="496376" y="0"/>
                </a:cubicBezTo>
                <a:cubicBezTo>
                  <a:pt x="597430" y="-15269"/>
                  <a:pt x="887532" y="22069"/>
                  <a:pt x="1013012" y="0"/>
                </a:cubicBezTo>
                <a:cubicBezTo>
                  <a:pt x="1035745" y="112214"/>
                  <a:pt x="1009763" y="249577"/>
                  <a:pt x="1013012" y="369332"/>
                </a:cubicBezTo>
                <a:cubicBezTo>
                  <a:pt x="842919" y="409778"/>
                  <a:pt x="708137" y="365550"/>
                  <a:pt x="536896" y="369332"/>
                </a:cubicBezTo>
                <a:cubicBezTo>
                  <a:pt x="365655" y="373114"/>
                  <a:pt x="146120" y="337722"/>
                  <a:pt x="0" y="369332"/>
                </a:cubicBezTo>
                <a:cubicBezTo>
                  <a:pt x="-13627" y="277997"/>
                  <a:pt x="17936" y="13291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322741049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Pusula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156A39-376B-6942-5A44-10DE2D58D5F5}"/>
              </a:ext>
            </a:extLst>
          </p:cNvPr>
          <p:cNvSpPr txBox="1"/>
          <p:nvPr/>
        </p:nvSpPr>
        <p:spPr>
          <a:xfrm>
            <a:off x="2848964" y="6138005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52676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50650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60906" y="-32635"/>
                  <a:pt x="395745" y="28528"/>
                  <a:pt x="526766" y="0"/>
                </a:cubicBezTo>
                <a:cubicBezTo>
                  <a:pt x="657787" y="-28528"/>
                  <a:pt x="839572" y="56468"/>
                  <a:pt x="1013012" y="0"/>
                </a:cubicBezTo>
                <a:cubicBezTo>
                  <a:pt x="1049542" y="135200"/>
                  <a:pt x="1010102" y="193400"/>
                  <a:pt x="1013012" y="369332"/>
                </a:cubicBezTo>
                <a:cubicBezTo>
                  <a:pt x="902315" y="381360"/>
                  <a:pt x="753269" y="318247"/>
                  <a:pt x="506506" y="369332"/>
                </a:cubicBezTo>
                <a:cubicBezTo>
                  <a:pt x="259743" y="420417"/>
                  <a:pt x="113232" y="329550"/>
                  <a:pt x="0" y="369332"/>
                </a:cubicBezTo>
                <a:cubicBezTo>
                  <a:pt x="-35908" y="206799"/>
                  <a:pt x="7130" y="139917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224575" y="-13014"/>
                  <a:pt x="289548" y="29681"/>
                  <a:pt x="516636" y="0"/>
                </a:cubicBezTo>
                <a:cubicBezTo>
                  <a:pt x="743724" y="-29681"/>
                  <a:pt x="851441" y="47024"/>
                  <a:pt x="1013012" y="0"/>
                </a:cubicBezTo>
                <a:cubicBezTo>
                  <a:pt x="1023491" y="175995"/>
                  <a:pt x="982083" y="237633"/>
                  <a:pt x="1013012" y="369332"/>
                </a:cubicBezTo>
                <a:cubicBezTo>
                  <a:pt x="759582" y="421192"/>
                  <a:pt x="602429" y="310170"/>
                  <a:pt x="496376" y="369332"/>
                </a:cubicBezTo>
                <a:cubicBezTo>
                  <a:pt x="390323" y="428494"/>
                  <a:pt x="209085" y="368497"/>
                  <a:pt x="0" y="369332"/>
                </a:cubicBezTo>
                <a:cubicBezTo>
                  <a:pt x="-5459" y="291138"/>
                  <a:pt x="9490" y="179262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6907352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Web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28808F-8519-748B-4B39-5002781C37B4}"/>
              </a:ext>
            </a:extLst>
          </p:cNvPr>
          <p:cNvSpPr txBox="1"/>
          <p:nvPr/>
        </p:nvSpPr>
        <p:spPr>
          <a:xfrm>
            <a:off x="458710" y="2495377"/>
            <a:ext cx="1290917" cy="369332"/>
          </a:xfrm>
          <a:custGeom>
            <a:avLst/>
            <a:gdLst>
              <a:gd name="connsiteX0" fmla="*/ 0 w 1290917"/>
              <a:gd name="connsiteY0" fmla="*/ 0 h 369332"/>
              <a:gd name="connsiteX1" fmla="*/ 430306 w 1290917"/>
              <a:gd name="connsiteY1" fmla="*/ 0 h 369332"/>
              <a:gd name="connsiteX2" fmla="*/ 886430 w 1290917"/>
              <a:gd name="connsiteY2" fmla="*/ 0 h 369332"/>
              <a:gd name="connsiteX3" fmla="*/ 1290917 w 1290917"/>
              <a:gd name="connsiteY3" fmla="*/ 0 h 369332"/>
              <a:gd name="connsiteX4" fmla="*/ 1290917 w 1290917"/>
              <a:gd name="connsiteY4" fmla="*/ 369332 h 369332"/>
              <a:gd name="connsiteX5" fmla="*/ 847702 w 1290917"/>
              <a:gd name="connsiteY5" fmla="*/ 369332 h 369332"/>
              <a:gd name="connsiteX6" fmla="*/ 456124 w 1290917"/>
              <a:gd name="connsiteY6" fmla="*/ 369332 h 369332"/>
              <a:gd name="connsiteX7" fmla="*/ 0 w 1290917"/>
              <a:gd name="connsiteY7" fmla="*/ 369332 h 369332"/>
              <a:gd name="connsiteX8" fmla="*/ 0 w 1290917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0917" h="369332" fill="none" extrusionOk="0">
                <a:moveTo>
                  <a:pt x="0" y="0"/>
                </a:moveTo>
                <a:cubicBezTo>
                  <a:pt x="115134" y="-30832"/>
                  <a:pt x="329248" y="41203"/>
                  <a:pt x="430306" y="0"/>
                </a:cubicBezTo>
                <a:cubicBezTo>
                  <a:pt x="531364" y="-41203"/>
                  <a:pt x="763107" y="46332"/>
                  <a:pt x="886430" y="0"/>
                </a:cubicBezTo>
                <a:cubicBezTo>
                  <a:pt x="1009753" y="-46332"/>
                  <a:pt x="1103743" y="29033"/>
                  <a:pt x="1290917" y="0"/>
                </a:cubicBezTo>
                <a:cubicBezTo>
                  <a:pt x="1330187" y="93277"/>
                  <a:pt x="1259146" y="228879"/>
                  <a:pt x="1290917" y="369332"/>
                </a:cubicBezTo>
                <a:cubicBezTo>
                  <a:pt x="1075721" y="381208"/>
                  <a:pt x="993973" y="355192"/>
                  <a:pt x="847702" y="369332"/>
                </a:cubicBezTo>
                <a:cubicBezTo>
                  <a:pt x="701431" y="383472"/>
                  <a:pt x="636462" y="365841"/>
                  <a:pt x="456124" y="369332"/>
                </a:cubicBezTo>
                <a:cubicBezTo>
                  <a:pt x="275786" y="372823"/>
                  <a:pt x="195508" y="349683"/>
                  <a:pt x="0" y="369332"/>
                </a:cubicBezTo>
                <a:cubicBezTo>
                  <a:pt x="-4895" y="217030"/>
                  <a:pt x="43463" y="169776"/>
                  <a:pt x="0" y="0"/>
                </a:cubicBezTo>
                <a:close/>
              </a:path>
              <a:path w="1290917" h="369332" stroke="0" extrusionOk="0">
                <a:moveTo>
                  <a:pt x="0" y="0"/>
                </a:moveTo>
                <a:cubicBezTo>
                  <a:pt x="128227" y="-21548"/>
                  <a:pt x="342409" y="27629"/>
                  <a:pt x="443215" y="0"/>
                </a:cubicBezTo>
                <a:cubicBezTo>
                  <a:pt x="544021" y="-27629"/>
                  <a:pt x="799979" y="12564"/>
                  <a:pt x="899339" y="0"/>
                </a:cubicBezTo>
                <a:cubicBezTo>
                  <a:pt x="998699" y="-12564"/>
                  <a:pt x="1167302" y="1194"/>
                  <a:pt x="1290917" y="0"/>
                </a:cubicBezTo>
                <a:cubicBezTo>
                  <a:pt x="1305249" y="135504"/>
                  <a:pt x="1282005" y="249616"/>
                  <a:pt x="1290917" y="369332"/>
                </a:cubicBezTo>
                <a:cubicBezTo>
                  <a:pt x="1104421" y="370616"/>
                  <a:pt x="952606" y="359361"/>
                  <a:pt x="834793" y="369332"/>
                </a:cubicBezTo>
                <a:cubicBezTo>
                  <a:pt x="716980" y="379303"/>
                  <a:pt x="622819" y="359089"/>
                  <a:pt x="443215" y="369332"/>
                </a:cubicBezTo>
                <a:cubicBezTo>
                  <a:pt x="263611" y="379575"/>
                  <a:pt x="134565" y="355153"/>
                  <a:pt x="0" y="369332"/>
                </a:cubicBezTo>
                <a:cubicBezTo>
                  <a:pt x="-1554" y="208067"/>
                  <a:pt x="22005" y="103751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6907352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Bölgeler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3AFB5D-80B0-6AF3-D63C-DF285EA677E2}"/>
              </a:ext>
            </a:extLst>
          </p:cNvPr>
          <p:cNvSpPr txBox="1"/>
          <p:nvPr/>
        </p:nvSpPr>
        <p:spPr>
          <a:xfrm>
            <a:off x="91157" y="1426861"/>
            <a:ext cx="1913612" cy="369332"/>
          </a:xfrm>
          <a:custGeom>
            <a:avLst/>
            <a:gdLst>
              <a:gd name="connsiteX0" fmla="*/ 0 w 1913612"/>
              <a:gd name="connsiteY0" fmla="*/ 0 h 369332"/>
              <a:gd name="connsiteX1" fmla="*/ 497539 w 1913612"/>
              <a:gd name="connsiteY1" fmla="*/ 0 h 369332"/>
              <a:gd name="connsiteX2" fmla="*/ 956806 w 1913612"/>
              <a:gd name="connsiteY2" fmla="*/ 0 h 369332"/>
              <a:gd name="connsiteX3" fmla="*/ 1435209 w 1913612"/>
              <a:gd name="connsiteY3" fmla="*/ 0 h 369332"/>
              <a:gd name="connsiteX4" fmla="*/ 1913612 w 1913612"/>
              <a:gd name="connsiteY4" fmla="*/ 0 h 369332"/>
              <a:gd name="connsiteX5" fmla="*/ 1913612 w 1913612"/>
              <a:gd name="connsiteY5" fmla="*/ 369332 h 369332"/>
              <a:gd name="connsiteX6" fmla="*/ 1473481 w 1913612"/>
              <a:gd name="connsiteY6" fmla="*/ 369332 h 369332"/>
              <a:gd name="connsiteX7" fmla="*/ 995078 w 1913612"/>
              <a:gd name="connsiteY7" fmla="*/ 369332 h 369332"/>
              <a:gd name="connsiteX8" fmla="*/ 535811 w 1913612"/>
              <a:gd name="connsiteY8" fmla="*/ 369332 h 369332"/>
              <a:gd name="connsiteX9" fmla="*/ 0 w 1913612"/>
              <a:gd name="connsiteY9" fmla="*/ 369332 h 369332"/>
              <a:gd name="connsiteX10" fmla="*/ 0 w 1913612"/>
              <a:gd name="connsiteY10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13612" h="369332" fill="none" extrusionOk="0">
                <a:moveTo>
                  <a:pt x="0" y="0"/>
                </a:moveTo>
                <a:cubicBezTo>
                  <a:pt x="143659" y="-15221"/>
                  <a:pt x="372585" y="56241"/>
                  <a:pt x="497539" y="0"/>
                </a:cubicBezTo>
                <a:cubicBezTo>
                  <a:pt x="622493" y="-56241"/>
                  <a:pt x="799062" y="3762"/>
                  <a:pt x="956806" y="0"/>
                </a:cubicBezTo>
                <a:cubicBezTo>
                  <a:pt x="1114550" y="-3762"/>
                  <a:pt x="1292510" y="9217"/>
                  <a:pt x="1435209" y="0"/>
                </a:cubicBezTo>
                <a:cubicBezTo>
                  <a:pt x="1577908" y="-9217"/>
                  <a:pt x="1809486" y="7005"/>
                  <a:pt x="1913612" y="0"/>
                </a:cubicBezTo>
                <a:cubicBezTo>
                  <a:pt x="1950802" y="118615"/>
                  <a:pt x="1901932" y="216363"/>
                  <a:pt x="1913612" y="369332"/>
                </a:cubicBezTo>
                <a:cubicBezTo>
                  <a:pt x="1757692" y="415799"/>
                  <a:pt x="1649292" y="327922"/>
                  <a:pt x="1473481" y="369332"/>
                </a:cubicBezTo>
                <a:cubicBezTo>
                  <a:pt x="1297670" y="410742"/>
                  <a:pt x="1158069" y="349528"/>
                  <a:pt x="995078" y="369332"/>
                </a:cubicBezTo>
                <a:cubicBezTo>
                  <a:pt x="832087" y="389136"/>
                  <a:pt x="633320" y="353527"/>
                  <a:pt x="535811" y="369332"/>
                </a:cubicBezTo>
                <a:cubicBezTo>
                  <a:pt x="438302" y="385137"/>
                  <a:pt x="229331" y="322544"/>
                  <a:pt x="0" y="369332"/>
                </a:cubicBezTo>
                <a:cubicBezTo>
                  <a:pt x="-39996" y="247877"/>
                  <a:pt x="43930" y="171001"/>
                  <a:pt x="0" y="0"/>
                </a:cubicBezTo>
                <a:close/>
              </a:path>
              <a:path w="1913612" h="369332" stroke="0" extrusionOk="0">
                <a:moveTo>
                  <a:pt x="0" y="0"/>
                </a:moveTo>
                <a:cubicBezTo>
                  <a:pt x="148379" y="-42006"/>
                  <a:pt x="351818" y="46387"/>
                  <a:pt x="497539" y="0"/>
                </a:cubicBezTo>
                <a:cubicBezTo>
                  <a:pt x="643260" y="-46387"/>
                  <a:pt x="830361" y="52922"/>
                  <a:pt x="1014214" y="0"/>
                </a:cubicBezTo>
                <a:cubicBezTo>
                  <a:pt x="1198068" y="-52922"/>
                  <a:pt x="1585891" y="11907"/>
                  <a:pt x="1913612" y="0"/>
                </a:cubicBezTo>
                <a:cubicBezTo>
                  <a:pt x="1927944" y="135504"/>
                  <a:pt x="1904700" y="249616"/>
                  <a:pt x="1913612" y="369332"/>
                </a:cubicBezTo>
                <a:cubicBezTo>
                  <a:pt x="1711403" y="430592"/>
                  <a:pt x="1570454" y="360181"/>
                  <a:pt x="1396937" y="369332"/>
                </a:cubicBezTo>
                <a:cubicBezTo>
                  <a:pt x="1223421" y="378483"/>
                  <a:pt x="1091279" y="361855"/>
                  <a:pt x="975942" y="369332"/>
                </a:cubicBezTo>
                <a:cubicBezTo>
                  <a:pt x="860606" y="376809"/>
                  <a:pt x="702285" y="356282"/>
                  <a:pt x="497539" y="369332"/>
                </a:cubicBezTo>
                <a:cubicBezTo>
                  <a:pt x="292793" y="382382"/>
                  <a:pt x="131790" y="355903"/>
                  <a:pt x="0" y="369332"/>
                </a:cubicBezTo>
                <a:cubicBezTo>
                  <a:pt x="-21522" y="287025"/>
                  <a:pt x="1673" y="153665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6907352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İşkolu Öncelikleri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341841-4F1A-E335-BAA0-B5EA5005741F}"/>
              </a:ext>
            </a:extLst>
          </p:cNvPr>
          <p:cNvSpPr txBox="1"/>
          <p:nvPr/>
        </p:nvSpPr>
        <p:spPr>
          <a:xfrm>
            <a:off x="458710" y="2027016"/>
            <a:ext cx="1013012" cy="369332"/>
          </a:xfrm>
          <a:custGeom>
            <a:avLst/>
            <a:gdLst>
              <a:gd name="connsiteX0" fmla="*/ 0 w 1013012"/>
              <a:gd name="connsiteY0" fmla="*/ 0 h 369332"/>
              <a:gd name="connsiteX1" fmla="*/ 496376 w 1013012"/>
              <a:gd name="connsiteY1" fmla="*/ 0 h 369332"/>
              <a:gd name="connsiteX2" fmla="*/ 1013012 w 1013012"/>
              <a:gd name="connsiteY2" fmla="*/ 0 h 369332"/>
              <a:gd name="connsiteX3" fmla="*/ 1013012 w 1013012"/>
              <a:gd name="connsiteY3" fmla="*/ 369332 h 369332"/>
              <a:gd name="connsiteX4" fmla="*/ 526766 w 1013012"/>
              <a:gd name="connsiteY4" fmla="*/ 369332 h 369332"/>
              <a:gd name="connsiteX5" fmla="*/ 0 w 1013012"/>
              <a:gd name="connsiteY5" fmla="*/ 369332 h 369332"/>
              <a:gd name="connsiteX6" fmla="*/ 0 w 1013012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3012" h="369332" fill="none" extrusionOk="0">
                <a:moveTo>
                  <a:pt x="0" y="0"/>
                </a:moveTo>
                <a:cubicBezTo>
                  <a:pt x="161054" y="-6294"/>
                  <a:pt x="321455" y="10844"/>
                  <a:pt x="496376" y="0"/>
                </a:cubicBezTo>
                <a:cubicBezTo>
                  <a:pt x="671297" y="-10844"/>
                  <a:pt x="818788" y="31111"/>
                  <a:pt x="1013012" y="0"/>
                </a:cubicBezTo>
                <a:cubicBezTo>
                  <a:pt x="1047175" y="173264"/>
                  <a:pt x="986968" y="278686"/>
                  <a:pt x="1013012" y="369332"/>
                </a:cubicBezTo>
                <a:cubicBezTo>
                  <a:pt x="803398" y="425679"/>
                  <a:pt x="715870" y="336798"/>
                  <a:pt x="526766" y="369332"/>
                </a:cubicBezTo>
                <a:cubicBezTo>
                  <a:pt x="337662" y="401866"/>
                  <a:pt x="262026" y="309934"/>
                  <a:pt x="0" y="369332"/>
                </a:cubicBezTo>
                <a:cubicBezTo>
                  <a:pt x="-29681" y="219265"/>
                  <a:pt x="36720" y="119101"/>
                  <a:pt x="0" y="0"/>
                </a:cubicBezTo>
                <a:close/>
              </a:path>
              <a:path w="1013012" h="369332" stroke="0" extrusionOk="0">
                <a:moveTo>
                  <a:pt x="0" y="0"/>
                </a:moveTo>
                <a:cubicBezTo>
                  <a:pt x="117355" y="-37963"/>
                  <a:pt x="293252" y="24831"/>
                  <a:pt x="486246" y="0"/>
                </a:cubicBezTo>
                <a:cubicBezTo>
                  <a:pt x="679240" y="-24831"/>
                  <a:pt x="759865" y="50892"/>
                  <a:pt x="1013012" y="0"/>
                </a:cubicBezTo>
                <a:cubicBezTo>
                  <a:pt x="1020265" y="131065"/>
                  <a:pt x="995944" y="259929"/>
                  <a:pt x="1013012" y="369332"/>
                </a:cubicBezTo>
                <a:cubicBezTo>
                  <a:pt x="804327" y="375308"/>
                  <a:pt x="658582" y="314202"/>
                  <a:pt x="526766" y="369332"/>
                </a:cubicBezTo>
                <a:cubicBezTo>
                  <a:pt x="394950" y="424462"/>
                  <a:pt x="248886" y="327006"/>
                  <a:pt x="0" y="369332"/>
                </a:cubicBezTo>
                <a:cubicBezTo>
                  <a:pt x="-14530" y="254239"/>
                  <a:pt x="8372" y="9050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42114265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Bütçe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E931E6-F354-2054-C47C-94D8D8C4576D}"/>
              </a:ext>
            </a:extLst>
          </p:cNvPr>
          <p:cNvSpPr txBox="1"/>
          <p:nvPr/>
        </p:nvSpPr>
        <p:spPr>
          <a:xfrm>
            <a:off x="91157" y="4143021"/>
            <a:ext cx="1913612" cy="369332"/>
          </a:xfrm>
          <a:custGeom>
            <a:avLst/>
            <a:gdLst>
              <a:gd name="connsiteX0" fmla="*/ 0 w 1913612"/>
              <a:gd name="connsiteY0" fmla="*/ 0 h 369332"/>
              <a:gd name="connsiteX1" fmla="*/ 497539 w 1913612"/>
              <a:gd name="connsiteY1" fmla="*/ 0 h 369332"/>
              <a:gd name="connsiteX2" fmla="*/ 956806 w 1913612"/>
              <a:gd name="connsiteY2" fmla="*/ 0 h 369332"/>
              <a:gd name="connsiteX3" fmla="*/ 1435209 w 1913612"/>
              <a:gd name="connsiteY3" fmla="*/ 0 h 369332"/>
              <a:gd name="connsiteX4" fmla="*/ 1913612 w 1913612"/>
              <a:gd name="connsiteY4" fmla="*/ 0 h 369332"/>
              <a:gd name="connsiteX5" fmla="*/ 1913612 w 1913612"/>
              <a:gd name="connsiteY5" fmla="*/ 369332 h 369332"/>
              <a:gd name="connsiteX6" fmla="*/ 1473481 w 1913612"/>
              <a:gd name="connsiteY6" fmla="*/ 369332 h 369332"/>
              <a:gd name="connsiteX7" fmla="*/ 995078 w 1913612"/>
              <a:gd name="connsiteY7" fmla="*/ 369332 h 369332"/>
              <a:gd name="connsiteX8" fmla="*/ 535811 w 1913612"/>
              <a:gd name="connsiteY8" fmla="*/ 369332 h 369332"/>
              <a:gd name="connsiteX9" fmla="*/ 0 w 1913612"/>
              <a:gd name="connsiteY9" fmla="*/ 369332 h 369332"/>
              <a:gd name="connsiteX10" fmla="*/ 0 w 1913612"/>
              <a:gd name="connsiteY10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13612" h="369332" fill="none" extrusionOk="0">
                <a:moveTo>
                  <a:pt x="0" y="0"/>
                </a:moveTo>
                <a:cubicBezTo>
                  <a:pt x="143659" y="-15221"/>
                  <a:pt x="372585" y="56241"/>
                  <a:pt x="497539" y="0"/>
                </a:cubicBezTo>
                <a:cubicBezTo>
                  <a:pt x="622493" y="-56241"/>
                  <a:pt x="799062" y="3762"/>
                  <a:pt x="956806" y="0"/>
                </a:cubicBezTo>
                <a:cubicBezTo>
                  <a:pt x="1114550" y="-3762"/>
                  <a:pt x="1292510" y="9217"/>
                  <a:pt x="1435209" y="0"/>
                </a:cubicBezTo>
                <a:cubicBezTo>
                  <a:pt x="1577908" y="-9217"/>
                  <a:pt x="1809486" y="7005"/>
                  <a:pt x="1913612" y="0"/>
                </a:cubicBezTo>
                <a:cubicBezTo>
                  <a:pt x="1950802" y="118615"/>
                  <a:pt x="1901932" y="216363"/>
                  <a:pt x="1913612" y="369332"/>
                </a:cubicBezTo>
                <a:cubicBezTo>
                  <a:pt x="1757692" y="415799"/>
                  <a:pt x="1649292" y="327922"/>
                  <a:pt x="1473481" y="369332"/>
                </a:cubicBezTo>
                <a:cubicBezTo>
                  <a:pt x="1297670" y="410742"/>
                  <a:pt x="1158069" y="349528"/>
                  <a:pt x="995078" y="369332"/>
                </a:cubicBezTo>
                <a:cubicBezTo>
                  <a:pt x="832087" y="389136"/>
                  <a:pt x="633320" y="353527"/>
                  <a:pt x="535811" y="369332"/>
                </a:cubicBezTo>
                <a:cubicBezTo>
                  <a:pt x="438302" y="385137"/>
                  <a:pt x="229331" y="322544"/>
                  <a:pt x="0" y="369332"/>
                </a:cubicBezTo>
                <a:cubicBezTo>
                  <a:pt x="-39996" y="247877"/>
                  <a:pt x="43930" y="171001"/>
                  <a:pt x="0" y="0"/>
                </a:cubicBezTo>
                <a:close/>
              </a:path>
              <a:path w="1913612" h="369332" stroke="0" extrusionOk="0">
                <a:moveTo>
                  <a:pt x="0" y="0"/>
                </a:moveTo>
                <a:cubicBezTo>
                  <a:pt x="148379" y="-42006"/>
                  <a:pt x="351818" y="46387"/>
                  <a:pt x="497539" y="0"/>
                </a:cubicBezTo>
                <a:cubicBezTo>
                  <a:pt x="643260" y="-46387"/>
                  <a:pt x="830361" y="52922"/>
                  <a:pt x="1014214" y="0"/>
                </a:cubicBezTo>
                <a:cubicBezTo>
                  <a:pt x="1198068" y="-52922"/>
                  <a:pt x="1585891" y="11907"/>
                  <a:pt x="1913612" y="0"/>
                </a:cubicBezTo>
                <a:cubicBezTo>
                  <a:pt x="1927944" y="135504"/>
                  <a:pt x="1904700" y="249616"/>
                  <a:pt x="1913612" y="369332"/>
                </a:cubicBezTo>
                <a:cubicBezTo>
                  <a:pt x="1711403" y="430592"/>
                  <a:pt x="1570454" y="360181"/>
                  <a:pt x="1396937" y="369332"/>
                </a:cubicBezTo>
                <a:cubicBezTo>
                  <a:pt x="1223421" y="378483"/>
                  <a:pt x="1091279" y="361855"/>
                  <a:pt x="975942" y="369332"/>
                </a:cubicBezTo>
                <a:cubicBezTo>
                  <a:pt x="860606" y="376809"/>
                  <a:pt x="702285" y="356282"/>
                  <a:pt x="497539" y="369332"/>
                </a:cubicBezTo>
                <a:cubicBezTo>
                  <a:pt x="292793" y="382382"/>
                  <a:pt x="131790" y="355903"/>
                  <a:pt x="0" y="369332"/>
                </a:cubicBezTo>
                <a:cubicBezTo>
                  <a:pt x="-21522" y="287025"/>
                  <a:pt x="1673" y="153665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6907352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Analitik Modeller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A09A9B-E2BD-3EB2-E871-C82EACC1A53C}"/>
              </a:ext>
            </a:extLst>
          </p:cNvPr>
          <p:cNvSpPr txBox="1"/>
          <p:nvPr/>
        </p:nvSpPr>
        <p:spPr>
          <a:xfrm>
            <a:off x="458710" y="5634954"/>
            <a:ext cx="1290916" cy="369332"/>
          </a:xfrm>
          <a:custGeom>
            <a:avLst/>
            <a:gdLst>
              <a:gd name="connsiteX0" fmla="*/ 0 w 1290916"/>
              <a:gd name="connsiteY0" fmla="*/ 0 h 369332"/>
              <a:gd name="connsiteX1" fmla="*/ 391578 w 1290916"/>
              <a:gd name="connsiteY1" fmla="*/ 0 h 369332"/>
              <a:gd name="connsiteX2" fmla="*/ 847702 w 1290916"/>
              <a:gd name="connsiteY2" fmla="*/ 0 h 369332"/>
              <a:gd name="connsiteX3" fmla="*/ 1290916 w 1290916"/>
              <a:gd name="connsiteY3" fmla="*/ 0 h 369332"/>
              <a:gd name="connsiteX4" fmla="*/ 1290916 w 1290916"/>
              <a:gd name="connsiteY4" fmla="*/ 369332 h 369332"/>
              <a:gd name="connsiteX5" fmla="*/ 873520 w 1290916"/>
              <a:gd name="connsiteY5" fmla="*/ 369332 h 369332"/>
              <a:gd name="connsiteX6" fmla="*/ 443214 w 1290916"/>
              <a:gd name="connsiteY6" fmla="*/ 369332 h 369332"/>
              <a:gd name="connsiteX7" fmla="*/ 0 w 1290916"/>
              <a:gd name="connsiteY7" fmla="*/ 369332 h 369332"/>
              <a:gd name="connsiteX8" fmla="*/ 0 w 1290916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0916" h="369332" fill="none" extrusionOk="0">
                <a:moveTo>
                  <a:pt x="0" y="0"/>
                </a:moveTo>
                <a:cubicBezTo>
                  <a:pt x="87271" y="-41868"/>
                  <a:pt x="204205" y="26334"/>
                  <a:pt x="391578" y="0"/>
                </a:cubicBezTo>
                <a:cubicBezTo>
                  <a:pt x="578951" y="-26334"/>
                  <a:pt x="700887" y="45672"/>
                  <a:pt x="847702" y="0"/>
                </a:cubicBezTo>
                <a:cubicBezTo>
                  <a:pt x="994517" y="-45672"/>
                  <a:pt x="1104495" y="28431"/>
                  <a:pt x="1290916" y="0"/>
                </a:cubicBezTo>
                <a:cubicBezTo>
                  <a:pt x="1306885" y="106431"/>
                  <a:pt x="1248719" y="228239"/>
                  <a:pt x="1290916" y="369332"/>
                </a:cubicBezTo>
                <a:cubicBezTo>
                  <a:pt x="1146960" y="395736"/>
                  <a:pt x="1024666" y="327843"/>
                  <a:pt x="873520" y="369332"/>
                </a:cubicBezTo>
                <a:cubicBezTo>
                  <a:pt x="722374" y="410821"/>
                  <a:pt x="626810" y="335660"/>
                  <a:pt x="443214" y="369332"/>
                </a:cubicBezTo>
                <a:cubicBezTo>
                  <a:pt x="259618" y="403004"/>
                  <a:pt x="170019" y="340625"/>
                  <a:pt x="0" y="369332"/>
                </a:cubicBezTo>
                <a:cubicBezTo>
                  <a:pt x="-35377" y="252507"/>
                  <a:pt x="43302" y="87204"/>
                  <a:pt x="0" y="0"/>
                </a:cubicBezTo>
                <a:close/>
              </a:path>
              <a:path w="1290916" h="369332" stroke="0" extrusionOk="0">
                <a:moveTo>
                  <a:pt x="0" y="0"/>
                </a:moveTo>
                <a:cubicBezTo>
                  <a:pt x="110256" y="-3894"/>
                  <a:pt x="301596" y="6971"/>
                  <a:pt x="404487" y="0"/>
                </a:cubicBezTo>
                <a:cubicBezTo>
                  <a:pt x="507378" y="-6971"/>
                  <a:pt x="711318" y="41894"/>
                  <a:pt x="796065" y="0"/>
                </a:cubicBezTo>
                <a:cubicBezTo>
                  <a:pt x="880812" y="-41894"/>
                  <a:pt x="1130692" y="54932"/>
                  <a:pt x="1290916" y="0"/>
                </a:cubicBezTo>
                <a:cubicBezTo>
                  <a:pt x="1313108" y="141764"/>
                  <a:pt x="1283048" y="295364"/>
                  <a:pt x="1290916" y="369332"/>
                </a:cubicBezTo>
                <a:cubicBezTo>
                  <a:pt x="1090774" y="383625"/>
                  <a:pt x="1067642" y="326109"/>
                  <a:pt x="873520" y="369332"/>
                </a:cubicBezTo>
                <a:cubicBezTo>
                  <a:pt x="679398" y="412555"/>
                  <a:pt x="647586" y="336281"/>
                  <a:pt x="481942" y="369332"/>
                </a:cubicBezTo>
                <a:cubicBezTo>
                  <a:pt x="316298" y="402383"/>
                  <a:pt x="221973" y="316051"/>
                  <a:pt x="0" y="369332"/>
                </a:cubicBezTo>
                <a:cubicBezTo>
                  <a:pt x="-22164" y="191212"/>
                  <a:pt x="38090" y="125372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42114265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Fiyatlama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F99EB0-5FA5-4802-303B-1F1EC44AFEE1}"/>
              </a:ext>
            </a:extLst>
          </p:cNvPr>
          <p:cNvSpPr txBox="1"/>
          <p:nvPr/>
        </p:nvSpPr>
        <p:spPr>
          <a:xfrm>
            <a:off x="458710" y="5155721"/>
            <a:ext cx="1290917" cy="369332"/>
          </a:xfrm>
          <a:custGeom>
            <a:avLst/>
            <a:gdLst>
              <a:gd name="connsiteX0" fmla="*/ 0 w 1290917"/>
              <a:gd name="connsiteY0" fmla="*/ 0 h 369332"/>
              <a:gd name="connsiteX1" fmla="*/ 430306 w 1290917"/>
              <a:gd name="connsiteY1" fmla="*/ 0 h 369332"/>
              <a:gd name="connsiteX2" fmla="*/ 886430 w 1290917"/>
              <a:gd name="connsiteY2" fmla="*/ 0 h 369332"/>
              <a:gd name="connsiteX3" fmla="*/ 1290917 w 1290917"/>
              <a:gd name="connsiteY3" fmla="*/ 0 h 369332"/>
              <a:gd name="connsiteX4" fmla="*/ 1290917 w 1290917"/>
              <a:gd name="connsiteY4" fmla="*/ 369332 h 369332"/>
              <a:gd name="connsiteX5" fmla="*/ 847702 w 1290917"/>
              <a:gd name="connsiteY5" fmla="*/ 369332 h 369332"/>
              <a:gd name="connsiteX6" fmla="*/ 456124 w 1290917"/>
              <a:gd name="connsiteY6" fmla="*/ 369332 h 369332"/>
              <a:gd name="connsiteX7" fmla="*/ 0 w 1290917"/>
              <a:gd name="connsiteY7" fmla="*/ 369332 h 369332"/>
              <a:gd name="connsiteX8" fmla="*/ 0 w 1290917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0917" h="369332" fill="none" extrusionOk="0">
                <a:moveTo>
                  <a:pt x="0" y="0"/>
                </a:moveTo>
                <a:cubicBezTo>
                  <a:pt x="115134" y="-30832"/>
                  <a:pt x="329248" y="41203"/>
                  <a:pt x="430306" y="0"/>
                </a:cubicBezTo>
                <a:cubicBezTo>
                  <a:pt x="531364" y="-41203"/>
                  <a:pt x="763107" y="46332"/>
                  <a:pt x="886430" y="0"/>
                </a:cubicBezTo>
                <a:cubicBezTo>
                  <a:pt x="1009753" y="-46332"/>
                  <a:pt x="1103743" y="29033"/>
                  <a:pt x="1290917" y="0"/>
                </a:cubicBezTo>
                <a:cubicBezTo>
                  <a:pt x="1330187" y="93277"/>
                  <a:pt x="1259146" y="228879"/>
                  <a:pt x="1290917" y="369332"/>
                </a:cubicBezTo>
                <a:cubicBezTo>
                  <a:pt x="1075721" y="381208"/>
                  <a:pt x="993973" y="355192"/>
                  <a:pt x="847702" y="369332"/>
                </a:cubicBezTo>
                <a:cubicBezTo>
                  <a:pt x="701431" y="383472"/>
                  <a:pt x="636462" y="365841"/>
                  <a:pt x="456124" y="369332"/>
                </a:cubicBezTo>
                <a:cubicBezTo>
                  <a:pt x="275786" y="372823"/>
                  <a:pt x="195508" y="349683"/>
                  <a:pt x="0" y="369332"/>
                </a:cubicBezTo>
                <a:cubicBezTo>
                  <a:pt x="-4895" y="217030"/>
                  <a:pt x="43463" y="169776"/>
                  <a:pt x="0" y="0"/>
                </a:cubicBezTo>
                <a:close/>
              </a:path>
              <a:path w="1290917" h="369332" stroke="0" extrusionOk="0">
                <a:moveTo>
                  <a:pt x="0" y="0"/>
                </a:moveTo>
                <a:cubicBezTo>
                  <a:pt x="128227" y="-21548"/>
                  <a:pt x="342409" y="27629"/>
                  <a:pt x="443215" y="0"/>
                </a:cubicBezTo>
                <a:cubicBezTo>
                  <a:pt x="544021" y="-27629"/>
                  <a:pt x="799979" y="12564"/>
                  <a:pt x="899339" y="0"/>
                </a:cubicBezTo>
                <a:cubicBezTo>
                  <a:pt x="998699" y="-12564"/>
                  <a:pt x="1167302" y="1194"/>
                  <a:pt x="1290917" y="0"/>
                </a:cubicBezTo>
                <a:cubicBezTo>
                  <a:pt x="1305249" y="135504"/>
                  <a:pt x="1282005" y="249616"/>
                  <a:pt x="1290917" y="369332"/>
                </a:cubicBezTo>
                <a:cubicBezTo>
                  <a:pt x="1104421" y="370616"/>
                  <a:pt x="952606" y="359361"/>
                  <a:pt x="834793" y="369332"/>
                </a:cubicBezTo>
                <a:cubicBezTo>
                  <a:pt x="716980" y="379303"/>
                  <a:pt x="622819" y="359089"/>
                  <a:pt x="443215" y="369332"/>
                </a:cubicBezTo>
                <a:cubicBezTo>
                  <a:pt x="263611" y="379575"/>
                  <a:pt x="134565" y="355153"/>
                  <a:pt x="0" y="369332"/>
                </a:cubicBezTo>
                <a:cubicBezTo>
                  <a:pt x="-1554" y="208067"/>
                  <a:pt x="22005" y="103751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6907352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Churn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D004BB-E814-7FA7-5A41-6B9902E4EBD1}"/>
              </a:ext>
            </a:extLst>
          </p:cNvPr>
          <p:cNvSpPr txBox="1"/>
          <p:nvPr/>
        </p:nvSpPr>
        <p:spPr>
          <a:xfrm>
            <a:off x="458710" y="4687360"/>
            <a:ext cx="1290916" cy="369332"/>
          </a:xfrm>
          <a:custGeom>
            <a:avLst/>
            <a:gdLst>
              <a:gd name="connsiteX0" fmla="*/ 0 w 1290916"/>
              <a:gd name="connsiteY0" fmla="*/ 0 h 369332"/>
              <a:gd name="connsiteX1" fmla="*/ 391578 w 1290916"/>
              <a:gd name="connsiteY1" fmla="*/ 0 h 369332"/>
              <a:gd name="connsiteX2" fmla="*/ 847702 w 1290916"/>
              <a:gd name="connsiteY2" fmla="*/ 0 h 369332"/>
              <a:gd name="connsiteX3" fmla="*/ 1290916 w 1290916"/>
              <a:gd name="connsiteY3" fmla="*/ 0 h 369332"/>
              <a:gd name="connsiteX4" fmla="*/ 1290916 w 1290916"/>
              <a:gd name="connsiteY4" fmla="*/ 369332 h 369332"/>
              <a:gd name="connsiteX5" fmla="*/ 873520 w 1290916"/>
              <a:gd name="connsiteY5" fmla="*/ 369332 h 369332"/>
              <a:gd name="connsiteX6" fmla="*/ 443214 w 1290916"/>
              <a:gd name="connsiteY6" fmla="*/ 369332 h 369332"/>
              <a:gd name="connsiteX7" fmla="*/ 0 w 1290916"/>
              <a:gd name="connsiteY7" fmla="*/ 369332 h 369332"/>
              <a:gd name="connsiteX8" fmla="*/ 0 w 1290916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0916" h="369332" fill="none" extrusionOk="0">
                <a:moveTo>
                  <a:pt x="0" y="0"/>
                </a:moveTo>
                <a:cubicBezTo>
                  <a:pt x="87271" y="-41868"/>
                  <a:pt x="204205" y="26334"/>
                  <a:pt x="391578" y="0"/>
                </a:cubicBezTo>
                <a:cubicBezTo>
                  <a:pt x="578951" y="-26334"/>
                  <a:pt x="700887" y="45672"/>
                  <a:pt x="847702" y="0"/>
                </a:cubicBezTo>
                <a:cubicBezTo>
                  <a:pt x="994517" y="-45672"/>
                  <a:pt x="1104495" y="28431"/>
                  <a:pt x="1290916" y="0"/>
                </a:cubicBezTo>
                <a:cubicBezTo>
                  <a:pt x="1306885" y="106431"/>
                  <a:pt x="1248719" y="228239"/>
                  <a:pt x="1290916" y="369332"/>
                </a:cubicBezTo>
                <a:cubicBezTo>
                  <a:pt x="1146960" y="395736"/>
                  <a:pt x="1024666" y="327843"/>
                  <a:pt x="873520" y="369332"/>
                </a:cubicBezTo>
                <a:cubicBezTo>
                  <a:pt x="722374" y="410821"/>
                  <a:pt x="626810" y="335660"/>
                  <a:pt x="443214" y="369332"/>
                </a:cubicBezTo>
                <a:cubicBezTo>
                  <a:pt x="259618" y="403004"/>
                  <a:pt x="170019" y="340625"/>
                  <a:pt x="0" y="369332"/>
                </a:cubicBezTo>
                <a:cubicBezTo>
                  <a:pt x="-35377" y="252507"/>
                  <a:pt x="43302" y="87204"/>
                  <a:pt x="0" y="0"/>
                </a:cubicBezTo>
                <a:close/>
              </a:path>
              <a:path w="1290916" h="369332" stroke="0" extrusionOk="0">
                <a:moveTo>
                  <a:pt x="0" y="0"/>
                </a:moveTo>
                <a:cubicBezTo>
                  <a:pt x="110256" y="-3894"/>
                  <a:pt x="301596" y="6971"/>
                  <a:pt x="404487" y="0"/>
                </a:cubicBezTo>
                <a:cubicBezTo>
                  <a:pt x="507378" y="-6971"/>
                  <a:pt x="711318" y="41894"/>
                  <a:pt x="796065" y="0"/>
                </a:cubicBezTo>
                <a:cubicBezTo>
                  <a:pt x="880812" y="-41894"/>
                  <a:pt x="1130692" y="54932"/>
                  <a:pt x="1290916" y="0"/>
                </a:cubicBezTo>
                <a:cubicBezTo>
                  <a:pt x="1313108" y="141764"/>
                  <a:pt x="1283048" y="295364"/>
                  <a:pt x="1290916" y="369332"/>
                </a:cubicBezTo>
                <a:cubicBezTo>
                  <a:pt x="1090774" y="383625"/>
                  <a:pt x="1067642" y="326109"/>
                  <a:pt x="873520" y="369332"/>
                </a:cubicBezTo>
                <a:cubicBezTo>
                  <a:pt x="679398" y="412555"/>
                  <a:pt x="647586" y="336281"/>
                  <a:pt x="481942" y="369332"/>
                </a:cubicBezTo>
                <a:cubicBezTo>
                  <a:pt x="316298" y="402383"/>
                  <a:pt x="221973" y="316051"/>
                  <a:pt x="0" y="369332"/>
                </a:cubicBezTo>
                <a:cubicBezTo>
                  <a:pt x="-22164" y="191212"/>
                  <a:pt x="38090" y="125372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42114265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Eğilim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1CE535-663A-3EB0-D634-16E5970C1485}"/>
              </a:ext>
            </a:extLst>
          </p:cNvPr>
          <p:cNvSpPr txBox="1"/>
          <p:nvPr/>
        </p:nvSpPr>
        <p:spPr>
          <a:xfrm>
            <a:off x="2543354" y="1426861"/>
            <a:ext cx="1913612" cy="369332"/>
          </a:xfrm>
          <a:custGeom>
            <a:avLst/>
            <a:gdLst>
              <a:gd name="connsiteX0" fmla="*/ 0 w 1913612"/>
              <a:gd name="connsiteY0" fmla="*/ 0 h 369332"/>
              <a:gd name="connsiteX1" fmla="*/ 497539 w 1913612"/>
              <a:gd name="connsiteY1" fmla="*/ 0 h 369332"/>
              <a:gd name="connsiteX2" fmla="*/ 956806 w 1913612"/>
              <a:gd name="connsiteY2" fmla="*/ 0 h 369332"/>
              <a:gd name="connsiteX3" fmla="*/ 1435209 w 1913612"/>
              <a:gd name="connsiteY3" fmla="*/ 0 h 369332"/>
              <a:gd name="connsiteX4" fmla="*/ 1913612 w 1913612"/>
              <a:gd name="connsiteY4" fmla="*/ 0 h 369332"/>
              <a:gd name="connsiteX5" fmla="*/ 1913612 w 1913612"/>
              <a:gd name="connsiteY5" fmla="*/ 369332 h 369332"/>
              <a:gd name="connsiteX6" fmla="*/ 1473481 w 1913612"/>
              <a:gd name="connsiteY6" fmla="*/ 369332 h 369332"/>
              <a:gd name="connsiteX7" fmla="*/ 995078 w 1913612"/>
              <a:gd name="connsiteY7" fmla="*/ 369332 h 369332"/>
              <a:gd name="connsiteX8" fmla="*/ 535811 w 1913612"/>
              <a:gd name="connsiteY8" fmla="*/ 369332 h 369332"/>
              <a:gd name="connsiteX9" fmla="*/ 0 w 1913612"/>
              <a:gd name="connsiteY9" fmla="*/ 369332 h 369332"/>
              <a:gd name="connsiteX10" fmla="*/ 0 w 1913612"/>
              <a:gd name="connsiteY10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13612" h="369332" fill="none" extrusionOk="0">
                <a:moveTo>
                  <a:pt x="0" y="0"/>
                </a:moveTo>
                <a:cubicBezTo>
                  <a:pt x="143659" y="-15221"/>
                  <a:pt x="372585" y="56241"/>
                  <a:pt x="497539" y="0"/>
                </a:cubicBezTo>
                <a:cubicBezTo>
                  <a:pt x="622493" y="-56241"/>
                  <a:pt x="799062" y="3762"/>
                  <a:pt x="956806" y="0"/>
                </a:cubicBezTo>
                <a:cubicBezTo>
                  <a:pt x="1114550" y="-3762"/>
                  <a:pt x="1292510" y="9217"/>
                  <a:pt x="1435209" y="0"/>
                </a:cubicBezTo>
                <a:cubicBezTo>
                  <a:pt x="1577908" y="-9217"/>
                  <a:pt x="1809486" y="7005"/>
                  <a:pt x="1913612" y="0"/>
                </a:cubicBezTo>
                <a:cubicBezTo>
                  <a:pt x="1950802" y="118615"/>
                  <a:pt x="1901932" y="216363"/>
                  <a:pt x="1913612" y="369332"/>
                </a:cubicBezTo>
                <a:cubicBezTo>
                  <a:pt x="1757692" y="415799"/>
                  <a:pt x="1649292" y="327922"/>
                  <a:pt x="1473481" y="369332"/>
                </a:cubicBezTo>
                <a:cubicBezTo>
                  <a:pt x="1297670" y="410742"/>
                  <a:pt x="1158069" y="349528"/>
                  <a:pt x="995078" y="369332"/>
                </a:cubicBezTo>
                <a:cubicBezTo>
                  <a:pt x="832087" y="389136"/>
                  <a:pt x="633320" y="353527"/>
                  <a:pt x="535811" y="369332"/>
                </a:cubicBezTo>
                <a:cubicBezTo>
                  <a:pt x="438302" y="385137"/>
                  <a:pt x="229331" y="322544"/>
                  <a:pt x="0" y="369332"/>
                </a:cubicBezTo>
                <a:cubicBezTo>
                  <a:pt x="-39996" y="247877"/>
                  <a:pt x="43930" y="171001"/>
                  <a:pt x="0" y="0"/>
                </a:cubicBezTo>
                <a:close/>
              </a:path>
              <a:path w="1913612" h="369332" stroke="0" extrusionOk="0">
                <a:moveTo>
                  <a:pt x="0" y="0"/>
                </a:moveTo>
                <a:cubicBezTo>
                  <a:pt x="148379" y="-42006"/>
                  <a:pt x="351818" y="46387"/>
                  <a:pt x="497539" y="0"/>
                </a:cubicBezTo>
                <a:cubicBezTo>
                  <a:pt x="643260" y="-46387"/>
                  <a:pt x="830361" y="52922"/>
                  <a:pt x="1014214" y="0"/>
                </a:cubicBezTo>
                <a:cubicBezTo>
                  <a:pt x="1198068" y="-52922"/>
                  <a:pt x="1585891" y="11907"/>
                  <a:pt x="1913612" y="0"/>
                </a:cubicBezTo>
                <a:cubicBezTo>
                  <a:pt x="1927944" y="135504"/>
                  <a:pt x="1904700" y="249616"/>
                  <a:pt x="1913612" y="369332"/>
                </a:cubicBezTo>
                <a:cubicBezTo>
                  <a:pt x="1711403" y="430592"/>
                  <a:pt x="1570454" y="360181"/>
                  <a:pt x="1396937" y="369332"/>
                </a:cubicBezTo>
                <a:cubicBezTo>
                  <a:pt x="1223421" y="378483"/>
                  <a:pt x="1091279" y="361855"/>
                  <a:pt x="975942" y="369332"/>
                </a:cubicBezTo>
                <a:cubicBezTo>
                  <a:pt x="860606" y="376809"/>
                  <a:pt x="702285" y="356282"/>
                  <a:pt x="497539" y="369332"/>
                </a:cubicBezTo>
                <a:cubicBezTo>
                  <a:pt x="292793" y="382382"/>
                  <a:pt x="131790" y="355903"/>
                  <a:pt x="0" y="369332"/>
                </a:cubicBezTo>
                <a:cubicBezTo>
                  <a:pt x="-21522" y="287025"/>
                  <a:pt x="1673" y="153665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6907352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RM Öncelikleri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159688-0D24-AFE0-D3ED-E24C95594CC0}"/>
              </a:ext>
            </a:extLst>
          </p:cNvPr>
          <p:cNvSpPr txBox="1"/>
          <p:nvPr/>
        </p:nvSpPr>
        <p:spPr>
          <a:xfrm>
            <a:off x="2543354" y="4127356"/>
            <a:ext cx="2176212" cy="369332"/>
          </a:xfrm>
          <a:custGeom>
            <a:avLst/>
            <a:gdLst>
              <a:gd name="connsiteX0" fmla="*/ 0 w 2176212"/>
              <a:gd name="connsiteY0" fmla="*/ 0 h 369332"/>
              <a:gd name="connsiteX1" fmla="*/ 565815 w 2176212"/>
              <a:gd name="connsiteY1" fmla="*/ 0 h 369332"/>
              <a:gd name="connsiteX2" fmla="*/ 1088106 w 2176212"/>
              <a:gd name="connsiteY2" fmla="*/ 0 h 369332"/>
              <a:gd name="connsiteX3" fmla="*/ 1632159 w 2176212"/>
              <a:gd name="connsiteY3" fmla="*/ 0 h 369332"/>
              <a:gd name="connsiteX4" fmla="*/ 2176212 w 2176212"/>
              <a:gd name="connsiteY4" fmla="*/ 0 h 369332"/>
              <a:gd name="connsiteX5" fmla="*/ 2176212 w 2176212"/>
              <a:gd name="connsiteY5" fmla="*/ 369332 h 369332"/>
              <a:gd name="connsiteX6" fmla="*/ 1675683 w 2176212"/>
              <a:gd name="connsiteY6" fmla="*/ 369332 h 369332"/>
              <a:gd name="connsiteX7" fmla="*/ 1131630 w 2176212"/>
              <a:gd name="connsiteY7" fmla="*/ 369332 h 369332"/>
              <a:gd name="connsiteX8" fmla="*/ 609339 w 2176212"/>
              <a:gd name="connsiteY8" fmla="*/ 369332 h 369332"/>
              <a:gd name="connsiteX9" fmla="*/ 0 w 2176212"/>
              <a:gd name="connsiteY9" fmla="*/ 369332 h 369332"/>
              <a:gd name="connsiteX10" fmla="*/ 0 w 2176212"/>
              <a:gd name="connsiteY10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76212" h="369332" fill="none" extrusionOk="0">
                <a:moveTo>
                  <a:pt x="0" y="0"/>
                </a:moveTo>
                <a:cubicBezTo>
                  <a:pt x="258501" y="-6312"/>
                  <a:pt x="357949" y="32159"/>
                  <a:pt x="565815" y="0"/>
                </a:cubicBezTo>
                <a:cubicBezTo>
                  <a:pt x="773681" y="-32159"/>
                  <a:pt x="914466" y="14430"/>
                  <a:pt x="1088106" y="0"/>
                </a:cubicBezTo>
                <a:cubicBezTo>
                  <a:pt x="1261746" y="-14430"/>
                  <a:pt x="1418628" y="42059"/>
                  <a:pt x="1632159" y="0"/>
                </a:cubicBezTo>
                <a:cubicBezTo>
                  <a:pt x="1845690" y="-42059"/>
                  <a:pt x="2009525" y="16052"/>
                  <a:pt x="2176212" y="0"/>
                </a:cubicBezTo>
                <a:cubicBezTo>
                  <a:pt x="2213402" y="118615"/>
                  <a:pt x="2164532" y="216363"/>
                  <a:pt x="2176212" y="369332"/>
                </a:cubicBezTo>
                <a:cubicBezTo>
                  <a:pt x="1927092" y="416782"/>
                  <a:pt x="1832561" y="323681"/>
                  <a:pt x="1675683" y="369332"/>
                </a:cubicBezTo>
                <a:cubicBezTo>
                  <a:pt x="1518805" y="414983"/>
                  <a:pt x="1297304" y="314712"/>
                  <a:pt x="1131630" y="369332"/>
                </a:cubicBezTo>
                <a:cubicBezTo>
                  <a:pt x="965956" y="423952"/>
                  <a:pt x="789517" y="347450"/>
                  <a:pt x="609339" y="369332"/>
                </a:cubicBezTo>
                <a:cubicBezTo>
                  <a:pt x="429161" y="391214"/>
                  <a:pt x="285228" y="344438"/>
                  <a:pt x="0" y="369332"/>
                </a:cubicBezTo>
                <a:cubicBezTo>
                  <a:pt x="-39996" y="247877"/>
                  <a:pt x="43930" y="171001"/>
                  <a:pt x="0" y="0"/>
                </a:cubicBezTo>
                <a:close/>
              </a:path>
              <a:path w="2176212" h="369332" stroke="0" extrusionOk="0">
                <a:moveTo>
                  <a:pt x="0" y="0"/>
                </a:moveTo>
                <a:cubicBezTo>
                  <a:pt x="253714" y="-25718"/>
                  <a:pt x="358725" y="29324"/>
                  <a:pt x="565815" y="0"/>
                </a:cubicBezTo>
                <a:cubicBezTo>
                  <a:pt x="772906" y="-29324"/>
                  <a:pt x="1004968" y="57365"/>
                  <a:pt x="1153392" y="0"/>
                </a:cubicBezTo>
                <a:cubicBezTo>
                  <a:pt x="1301816" y="-57365"/>
                  <a:pt x="1755057" y="89054"/>
                  <a:pt x="2176212" y="0"/>
                </a:cubicBezTo>
                <a:cubicBezTo>
                  <a:pt x="2190544" y="135504"/>
                  <a:pt x="2167300" y="249616"/>
                  <a:pt x="2176212" y="369332"/>
                </a:cubicBezTo>
                <a:cubicBezTo>
                  <a:pt x="2012919" y="397212"/>
                  <a:pt x="1733855" y="319598"/>
                  <a:pt x="1588635" y="369332"/>
                </a:cubicBezTo>
                <a:cubicBezTo>
                  <a:pt x="1443415" y="419066"/>
                  <a:pt x="1304361" y="313776"/>
                  <a:pt x="1109868" y="369332"/>
                </a:cubicBezTo>
                <a:cubicBezTo>
                  <a:pt x="915375" y="424888"/>
                  <a:pt x="690280" y="361695"/>
                  <a:pt x="565815" y="369332"/>
                </a:cubicBezTo>
                <a:cubicBezTo>
                  <a:pt x="441350" y="376969"/>
                  <a:pt x="172368" y="312374"/>
                  <a:pt x="0" y="369332"/>
                </a:cubicBezTo>
                <a:cubicBezTo>
                  <a:pt x="-21522" y="287025"/>
                  <a:pt x="1673" y="153665"/>
                  <a:pt x="0" y="0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169073523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Kural Bazlı İçgörüler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D517C4A-1517-0E3D-1DBC-91E2DDD420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978"/>
          <a:stretch/>
        </p:blipFill>
        <p:spPr>
          <a:xfrm>
            <a:off x="5109713" y="2549095"/>
            <a:ext cx="2307199" cy="2683883"/>
          </a:xfrm>
          <a:prstGeom prst="rect">
            <a:avLst/>
          </a:prstGeom>
        </p:spPr>
      </p:pic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28DBB66-546F-CBBF-7235-6A95AADE37E8}"/>
              </a:ext>
            </a:extLst>
          </p:cNvPr>
          <p:cNvCxnSpPr>
            <a:cxnSpLocks/>
            <a:stCxn id="42" idx="3"/>
            <a:endCxn id="55" idx="2"/>
          </p:cNvCxnSpPr>
          <p:nvPr/>
        </p:nvCxnSpPr>
        <p:spPr>
          <a:xfrm>
            <a:off x="4456966" y="1611527"/>
            <a:ext cx="992095" cy="13859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C85E909A-76B2-8B88-1E1D-A624652288D4}"/>
              </a:ext>
            </a:extLst>
          </p:cNvPr>
          <p:cNvCxnSpPr>
            <a:cxnSpLocks/>
            <a:stCxn id="35" idx="3"/>
            <a:endCxn id="75" idx="2"/>
          </p:cNvCxnSpPr>
          <p:nvPr/>
        </p:nvCxnSpPr>
        <p:spPr>
          <a:xfrm>
            <a:off x="2004769" y="1611527"/>
            <a:ext cx="3444292" cy="1879668"/>
          </a:xfrm>
          <a:prstGeom prst="bentConnector3">
            <a:avLst>
              <a:gd name="adj1" fmla="val 6013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C2005FC3-F184-ABBF-9DB5-B3384D3ABD04}"/>
              </a:ext>
            </a:extLst>
          </p:cNvPr>
          <p:cNvSpPr/>
          <p:nvPr/>
        </p:nvSpPr>
        <p:spPr>
          <a:xfrm>
            <a:off x="5449061" y="297461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9237D3E-2D9D-1E32-7FC2-0E8CDC686683}"/>
              </a:ext>
            </a:extLst>
          </p:cNvPr>
          <p:cNvSpPr/>
          <p:nvPr/>
        </p:nvSpPr>
        <p:spPr>
          <a:xfrm>
            <a:off x="5449061" y="445578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D1F3A7D-A83C-FB4A-3334-850B8C9EA5C0}"/>
              </a:ext>
            </a:extLst>
          </p:cNvPr>
          <p:cNvCxnSpPr>
            <a:cxnSpLocks/>
            <a:stCxn id="43" idx="3"/>
            <a:endCxn id="58" idx="2"/>
          </p:cNvCxnSpPr>
          <p:nvPr/>
        </p:nvCxnSpPr>
        <p:spPr>
          <a:xfrm>
            <a:off x="4719566" y="4312022"/>
            <a:ext cx="729495" cy="1666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E23ECE08-8B82-1A1C-C118-6179136A0CFE}"/>
              </a:ext>
            </a:extLst>
          </p:cNvPr>
          <p:cNvSpPr/>
          <p:nvPr/>
        </p:nvSpPr>
        <p:spPr>
          <a:xfrm>
            <a:off x="5449061" y="346833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7B9FA86-587A-B7E8-FB15-E78CF3137086}"/>
              </a:ext>
            </a:extLst>
          </p:cNvPr>
          <p:cNvSpPr/>
          <p:nvPr/>
        </p:nvSpPr>
        <p:spPr>
          <a:xfrm>
            <a:off x="5449061" y="396206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B4A1BB38-389E-0288-12D5-8CF2A884C425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2004769" y="3987684"/>
            <a:ext cx="3444292" cy="340003"/>
          </a:xfrm>
          <a:prstGeom prst="bentConnector3">
            <a:avLst>
              <a:gd name="adj1" fmla="val 5753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EA4F5175-CA06-AE73-28CD-50E82A3749C3}"/>
              </a:ext>
            </a:extLst>
          </p:cNvPr>
          <p:cNvSpPr/>
          <p:nvPr/>
        </p:nvSpPr>
        <p:spPr>
          <a:xfrm>
            <a:off x="7331650" y="375460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FDD3CC1-A5E2-B2A8-6C0F-BEC0137E1F9D}"/>
              </a:ext>
            </a:extLst>
          </p:cNvPr>
          <p:cNvSpPr/>
          <p:nvPr/>
        </p:nvSpPr>
        <p:spPr>
          <a:xfrm>
            <a:off x="7116497" y="330636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3C776B6-6B18-23BF-C7E6-2784C80E1295}"/>
              </a:ext>
            </a:extLst>
          </p:cNvPr>
          <p:cNvSpPr/>
          <p:nvPr/>
        </p:nvSpPr>
        <p:spPr>
          <a:xfrm>
            <a:off x="7322685" y="398768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7D47387-868D-B913-902D-37B29B8D48B5}"/>
              </a:ext>
            </a:extLst>
          </p:cNvPr>
          <p:cNvSpPr/>
          <p:nvPr/>
        </p:nvSpPr>
        <p:spPr>
          <a:xfrm>
            <a:off x="7116497" y="440902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53DBB8C-3EBE-2539-33A7-692CB58A51BA}"/>
              </a:ext>
            </a:extLst>
          </p:cNvPr>
          <p:cNvSpPr/>
          <p:nvPr/>
        </p:nvSpPr>
        <p:spPr>
          <a:xfrm>
            <a:off x="7764513" y="388050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BCBD07B1-897B-2BB2-756A-0428983B122F}"/>
              </a:ext>
            </a:extLst>
          </p:cNvPr>
          <p:cNvCxnSpPr>
            <a:cxnSpLocks/>
            <a:stCxn id="86" idx="6"/>
            <a:endCxn id="89" idx="2"/>
          </p:cNvCxnSpPr>
          <p:nvPr/>
        </p:nvCxnSpPr>
        <p:spPr>
          <a:xfrm>
            <a:off x="7162216" y="3329226"/>
            <a:ext cx="602297" cy="574136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CA2F24DE-3C6E-7593-4F90-F6724DEA0B6D}"/>
              </a:ext>
            </a:extLst>
          </p:cNvPr>
          <p:cNvCxnSpPr>
            <a:cxnSpLocks/>
            <a:stCxn id="85" idx="6"/>
            <a:endCxn id="89" idx="2"/>
          </p:cNvCxnSpPr>
          <p:nvPr/>
        </p:nvCxnSpPr>
        <p:spPr>
          <a:xfrm>
            <a:off x="7377369" y="3777461"/>
            <a:ext cx="387144" cy="12590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0158B8D2-9559-9681-C4C2-8176C5DCFD93}"/>
              </a:ext>
            </a:extLst>
          </p:cNvPr>
          <p:cNvCxnSpPr>
            <a:cxnSpLocks/>
          </p:cNvCxnSpPr>
          <p:nvPr/>
        </p:nvCxnSpPr>
        <p:spPr>
          <a:xfrm flipV="1">
            <a:off x="7374754" y="3903362"/>
            <a:ext cx="396109" cy="107182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F9C72E2D-A4B7-8CD9-20F1-BF9865E12943}"/>
              </a:ext>
            </a:extLst>
          </p:cNvPr>
          <p:cNvCxnSpPr>
            <a:stCxn id="88" idx="6"/>
            <a:endCxn id="89" idx="2"/>
          </p:cNvCxnSpPr>
          <p:nvPr/>
        </p:nvCxnSpPr>
        <p:spPr>
          <a:xfrm flipV="1">
            <a:off x="7162216" y="3903362"/>
            <a:ext cx="602297" cy="528522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A5BB54B4-C9B5-B1E3-D294-6799C600B5FE}"/>
              </a:ext>
            </a:extLst>
          </p:cNvPr>
          <p:cNvSpPr txBox="1"/>
          <p:nvPr/>
        </p:nvSpPr>
        <p:spPr>
          <a:xfrm>
            <a:off x="6240766" y="3603714"/>
            <a:ext cx="252805" cy="246221"/>
          </a:xfrm>
          <a:prstGeom prst="rect">
            <a:avLst/>
          </a:prstGeom>
          <a:solidFill>
            <a:srgbClr val="16305D"/>
          </a:solidFill>
          <a:effectLst/>
        </p:spPr>
        <p:txBody>
          <a:bodyPr wrap="square" lIns="0" tIns="0" rIns="0" bIns="0" rtlCol="0">
            <a:spAutoFit/>
          </a:bodyPr>
          <a:lstStyle/>
          <a:p>
            <a:r>
              <a:rPr lang="tr-TR" sz="16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129156A-4EA6-F722-B67E-94BA5C2441A9}"/>
              </a:ext>
            </a:extLst>
          </p:cNvPr>
          <p:cNvSpPr txBox="1"/>
          <p:nvPr/>
        </p:nvSpPr>
        <p:spPr>
          <a:xfrm>
            <a:off x="5704204" y="67813"/>
            <a:ext cx="6422040" cy="2046458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tr-TR" sz="1400" b="1" dirty="0" err="1">
                <a:solidFill>
                  <a:schemeClr val="tx2"/>
                </a:solidFill>
              </a:rPr>
              <a:t>Account</a:t>
            </a:r>
            <a:r>
              <a:rPr lang="tr-TR" sz="1400" b="1" dirty="0">
                <a:solidFill>
                  <a:schemeClr val="tx2"/>
                </a:solidFill>
              </a:rPr>
              <a:t> Planning:</a:t>
            </a:r>
            <a:endParaRPr lang="tr-TR" sz="1400" dirty="0">
              <a:solidFill>
                <a:schemeClr val="tx2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chemeClr val="tx2"/>
                </a:solidFill>
              </a:rPr>
              <a:t>Portföy yöneticilerinin sorumluluğundaki müşterilere ilişkin </a:t>
            </a:r>
            <a:r>
              <a:rPr lang="tr-TR" sz="1400" b="1" dirty="0">
                <a:solidFill>
                  <a:schemeClr val="accent2"/>
                </a:solidFill>
              </a:rPr>
              <a:t>tüm veri kaynaklarını</a:t>
            </a:r>
            <a:r>
              <a:rPr lang="tr-TR" sz="1400" dirty="0">
                <a:solidFill>
                  <a:schemeClr val="tx2"/>
                </a:solidFill>
              </a:rPr>
              <a:t> entegre ederek </a:t>
            </a:r>
            <a:r>
              <a:rPr lang="tr-TR" sz="1400" b="1" dirty="0">
                <a:solidFill>
                  <a:schemeClr val="accent2"/>
                </a:solidFill>
              </a:rPr>
              <a:t>kurumsal hafızayı </a:t>
            </a:r>
            <a:r>
              <a:rPr lang="tr-TR" sz="1400" dirty="0">
                <a:solidFill>
                  <a:schemeClr val="tx2"/>
                </a:solidFill>
              </a:rPr>
              <a:t>oluşturan;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chemeClr val="tx2"/>
                </a:solidFill>
              </a:rPr>
              <a:t>alınması gereken </a:t>
            </a:r>
            <a:r>
              <a:rPr lang="tr-TR" sz="1400" b="1" dirty="0">
                <a:solidFill>
                  <a:schemeClr val="accent2"/>
                </a:solidFill>
              </a:rPr>
              <a:t>aksiyonları veri odaklı olarak belirleyen</a:t>
            </a:r>
            <a:r>
              <a:rPr lang="tr-TR" sz="1400" dirty="0">
                <a:solidFill>
                  <a:schemeClr val="tx2"/>
                </a:solidFill>
              </a:rPr>
              <a:t>, müşteri etkileşimini ve sahiplenmeyi artırmak amacıyla </a:t>
            </a:r>
            <a:r>
              <a:rPr lang="tr-TR" sz="1400" b="1" dirty="0">
                <a:solidFill>
                  <a:schemeClr val="accent2"/>
                </a:solidFill>
              </a:rPr>
              <a:t>sebep-sonuç ilişkileri</a:t>
            </a:r>
            <a:r>
              <a:rPr lang="tr-TR" sz="1400" dirty="0">
                <a:solidFill>
                  <a:schemeClr val="tx2"/>
                </a:solidFill>
              </a:rPr>
              <a:t> kuran;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chemeClr val="tx2"/>
                </a:solidFill>
              </a:rPr>
              <a:t>aksiyonları portföy ve Banka </a:t>
            </a:r>
            <a:r>
              <a:rPr lang="tr-TR" sz="1400" b="1" dirty="0">
                <a:solidFill>
                  <a:schemeClr val="accent2"/>
                </a:solidFill>
              </a:rPr>
              <a:t>önceliklerine göre optimize eden </a:t>
            </a:r>
            <a:r>
              <a:rPr lang="tr-TR" sz="1400" dirty="0">
                <a:solidFill>
                  <a:schemeClr val="tx2"/>
                </a:solidFill>
              </a:rPr>
              <a:t>ve portföy yöneticisinin zaman planına uygun şekilde </a:t>
            </a:r>
            <a:r>
              <a:rPr lang="tr-TR" sz="1400" b="1" dirty="0">
                <a:solidFill>
                  <a:schemeClr val="accent2"/>
                </a:solidFill>
              </a:rPr>
              <a:t>planlamayı sağlayan </a:t>
            </a:r>
            <a:r>
              <a:rPr lang="tr-TR" sz="1400" dirty="0">
                <a:solidFill>
                  <a:schemeClr val="tx2"/>
                </a:solidFill>
              </a:rPr>
              <a:t>bir</a:t>
            </a: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tr-TR" sz="1400" b="1" dirty="0">
                <a:solidFill>
                  <a:schemeClr val="tx2"/>
                </a:solidFill>
              </a:rPr>
              <a:t>Portföy Yönetim Platformu’dur</a:t>
            </a:r>
            <a:r>
              <a:rPr lang="tr-TR" sz="1400" dirty="0">
                <a:solidFill>
                  <a:schemeClr val="tx2"/>
                </a:solidFill>
              </a:rPr>
              <a:t>.</a:t>
            </a:r>
            <a:endParaRPr lang="en-GB" sz="1400" dirty="0">
              <a:solidFill>
                <a:schemeClr val="tx2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03CADFB-2944-4676-2DFA-EBB127CAFD8F}"/>
              </a:ext>
            </a:extLst>
          </p:cNvPr>
          <p:cNvSpPr txBox="1"/>
          <p:nvPr/>
        </p:nvSpPr>
        <p:spPr>
          <a:xfrm>
            <a:off x="9483968" y="6234263"/>
            <a:ext cx="1631465" cy="546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215F9A"/>
            </a:solidFill>
            <a:extLst>
              <a:ext uri="{C807C97D-BFC1-408E-A445-0C87EB9F89A2}">
                <ask:lineSketchStyleProps xmlns:ask="http://schemas.microsoft.com/office/drawing/2018/sketchyshapes" sd="421142650">
                  <a:custGeom>
                    <a:avLst/>
                    <a:gdLst>
                      <a:gd name="connsiteX0" fmla="*/ 0 w 1483150"/>
                      <a:gd name="connsiteY0" fmla="*/ 0 h 491581"/>
                      <a:gd name="connsiteX1" fmla="*/ 449889 w 1483150"/>
                      <a:gd name="connsiteY1" fmla="*/ 0 h 491581"/>
                      <a:gd name="connsiteX2" fmla="*/ 973935 w 1483150"/>
                      <a:gd name="connsiteY2" fmla="*/ 0 h 491581"/>
                      <a:gd name="connsiteX3" fmla="*/ 1483150 w 1483150"/>
                      <a:gd name="connsiteY3" fmla="*/ 0 h 491581"/>
                      <a:gd name="connsiteX4" fmla="*/ 1483150 w 1483150"/>
                      <a:gd name="connsiteY4" fmla="*/ 491581 h 491581"/>
                      <a:gd name="connsiteX5" fmla="*/ 1003598 w 1483150"/>
                      <a:gd name="connsiteY5" fmla="*/ 491581 h 491581"/>
                      <a:gd name="connsiteX6" fmla="*/ 509215 w 1483150"/>
                      <a:gd name="connsiteY6" fmla="*/ 491581 h 491581"/>
                      <a:gd name="connsiteX7" fmla="*/ 0 w 1483150"/>
                      <a:gd name="connsiteY7" fmla="*/ 491581 h 491581"/>
                      <a:gd name="connsiteX8" fmla="*/ 0 w 1483150"/>
                      <a:gd name="connsiteY8" fmla="*/ 0 h 4915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83150" h="491581" fill="none" extrusionOk="0">
                        <a:moveTo>
                          <a:pt x="0" y="0"/>
                        </a:moveTo>
                        <a:cubicBezTo>
                          <a:pt x="120576" y="-9487"/>
                          <a:pt x="273890" y="7081"/>
                          <a:pt x="449889" y="0"/>
                        </a:cubicBezTo>
                        <a:cubicBezTo>
                          <a:pt x="625888" y="-7081"/>
                          <a:pt x="769639" y="37484"/>
                          <a:pt x="973935" y="0"/>
                        </a:cubicBezTo>
                        <a:cubicBezTo>
                          <a:pt x="1178231" y="-37484"/>
                          <a:pt x="1257339" y="40734"/>
                          <a:pt x="1483150" y="0"/>
                        </a:cubicBezTo>
                        <a:cubicBezTo>
                          <a:pt x="1515276" y="149337"/>
                          <a:pt x="1442027" y="381528"/>
                          <a:pt x="1483150" y="491581"/>
                        </a:cubicBezTo>
                        <a:cubicBezTo>
                          <a:pt x="1377031" y="493700"/>
                          <a:pt x="1124733" y="465543"/>
                          <a:pt x="1003598" y="491581"/>
                        </a:cubicBezTo>
                        <a:cubicBezTo>
                          <a:pt x="882463" y="517619"/>
                          <a:pt x="713484" y="476121"/>
                          <a:pt x="509215" y="491581"/>
                        </a:cubicBezTo>
                        <a:cubicBezTo>
                          <a:pt x="304946" y="507041"/>
                          <a:pt x="114084" y="440269"/>
                          <a:pt x="0" y="491581"/>
                        </a:cubicBezTo>
                        <a:cubicBezTo>
                          <a:pt x="-29716" y="306525"/>
                          <a:pt x="16856" y="124616"/>
                          <a:pt x="0" y="0"/>
                        </a:cubicBezTo>
                        <a:close/>
                      </a:path>
                      <a:path w="1483150" h="491581" stroke="0" extrusionOk="0">
                        <a:moveTo>
                          <a:pt x="0" y="0"/>
                        </a:moveTo>
                        <a:cubicBezTo>
                          <a:pt x="145066" y="-32782"/>
                          <a:pt x="272822" y="43252"/>
                          <a:pt x="464720" y="0"/>
                        </a:cubicBezTo>
                        <a:cubicBezTo>
                          <a:pt x="656618" y="-43252"/>
                          <a:pt x="773947" y="26422"/>
                          <a:pt x="914609" y="0"/>
                        </a:cubicBezTo>
                        <a:cubicBezTo>
                          <a:pt x="1055271" y="-26422"/>
                          <a:pt x="1261091" y="10257"/>
                          <a:pt x="1483150" y="0"/>
                        </a:cubicBezTo>
                        <a:cubicBezTo>
                          <a:pt x="1483913" y="206053"/>
                          <a:pt x="1428325" y="349261"/>
                          <a:pt x="1483150" y="491581"/>
                        </a:cubicBezTo>
                        <a:cubicBezTo>
                          <a:pt x="1286553" y="546134"/>
                          <a:pt x="1201647" y="475384"/>
                          <a:pt x="1003598" y="491581"/>
                        </a:cubicBezTo>
                        <a:cubicBezTo>
                          <a:pt x="805549" y="507778"/>
                          <a:pt x="672831" y="472532"/>
                          <a:pt x="553709" y="491581"/>
                        </a:cubicBezTo>
                        <a:cubicBezTo>
                          <a:pt x="434587" y="510630"/>
                          <a:pt x="146517" y="450648"/>
                          <a:pt x="0" y="491581"/>
                        </a:cubicBezTo>
                        <a:cubicBezTo>
                          <a:pt x="-6294" y="372873"/>
                          <a:pt x="38037" y="23093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Performans</a:t>
            </a:r>
          </a:p>
        </p:txBody>
      </p:sp>
      <p:sp>
        <p:nvSpPr>
          <p:cNvPr id="121" name="Arrow: Down 120">
            <a:extLst>
              <a:ext uri="{FF2B5EF4-FFF2-40B4-BE49-F238E27FC236}">
                <a16:creationId xmlns:a16="http://schemas.microsoft.com/office/drawing/2014/main" id="{D6F92A50-D5EB-133A-DDE4-0886A665DAF1}"/>
              </a:ext>
            </a:extLst>
          </p:cNvPr>
          <p:cNvSpPr/>
          <p:nvPr/>
        </p:nvSpPr>
        <p:spPr>
          <a:xfrm>
            <a:off x="10095160" y="5550461"/>
            <a:ext cx="447911" cy="555264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accent2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4CD724E-9FB2-6106-1F7D-E1BF5DC7B09E}"/>
              </a:ext>
            </a:extLst>
          </p:cNvPr>
          <p:cNvSpPr txBox="1"/>
          <p:nvPr/>
        </p:nvSpPr>
        <p:spPr>
          <a:xfrm>
            <a:off x="5342650" y="4960301"/>
            <a:ext cx="33468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Çoklu Veri Kaynağı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Kurumsal Hafıza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Stratejik önceliklendirme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Aksiyon Odaklı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Planlama ve Optimizasyon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FFFDD3A-91FB-B123-6933-823B84508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226" y="2095599"/>
            <a:ext cx="3958003" cy="3958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1244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35B2B53-7187-B9A9-4F3A-0111165626A9}"/>
              </a:ext>
            </a:extLst>
          </p:cNvPr>
          <p:cNvSpPr/>
          <p:nvPr/>
        </p:nvSpPr>
        <p:spPr>
          <a:xfrm>
            <a:off x="0" y="-1"/>
            <a:ext cx="12185522" cy="1994400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33B993-F9DB-C4B6-7AE1-29DB50148F77}"/>
              </a:ext>
            </a:extLst>
          </p:cNvPr>
          <p:cNvSpPr txBox="1"/>
          <p:nvPr/>
        </p:nvSpPr>
        <p:spPr>
          <a:xfrm>
            <a:off x="268940" y="2781"/>
            <a:ext cx="5181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Account</a:t>
            </a:r>
            <a:r>
              <a:rPr kumimoji="0" lang="tr-TR" sz="4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7C2D5-A0B3-3683-D462-1FCE1D7466AF}"/>
              </a:ext>
            </a:extLst>
          </p:cNvPr>
          <p:cNvSpPr txBox="1"/>
          <p:nvPr/>
        </p:nvSpPr>
        <p:spPr>
          <a:xfrm>
            <a:off x="251010" y="611626"/>
            <a:ext cx="51816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AI-</a:t>
            </a:r>
            <a:r>
              <a:rPr kumimoji="0" lang="tr-T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Native</a:t>
            </a:r>
            <a:r>
              <a:rPr kumimoji="0" lang="tr-TR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Portfolio Management Platform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194582-7BFB-D6B9-9EE1-FDF0828D9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250" y="0"/>
            <a:ext cx="5887272" cy="201005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5CEB7E5-FD17-73D3-F011-C3DA4564DC62}"/>
              </a:ext>
            </a:extLst>
          </p:cNvPr>
          <p:cNvGrpSpPr/>
          <p:nvPr/>
        </p:nvGrpSpPr>
        <p:grpSpPr>
          <a:xfrm>
            <a:off x="327212" y="1635018"/>
            <a:ext cx="11537576" cy="698038"/>
            <a:chOff x="327212" y="1937586"/>
            <a:chExt cx="11537576" cy="698038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44BC0CF-1C8A-7B3C-DC20-40966C3A9F8D}"/>
                </a:ext>
              </a:extLst>
            </p:cNvPr>
            <p:cNvSpPr/>
            <p:nvPr/>
          </p:nvSpPr>
          <p:spPr>
            <a:xfrm>
              <a:off x="327212" y="1937586"/>
              <a:ext cx="11537576" cy="698038"/>
            </a:xfrm>
            <a:prstGeom prst="roundRect">
              <a:avLst/>
            </a:prstGeom>
            <a:solidFill>
              <a:srgbClr val="022460"/>
            </a:solidFill>
            <a:ln w="9525">
              <a:solidFill>
                <a:schemeClr val="tx2">
                  <a:lumMod val="75000"/>
                  <a:lumOff val="2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4619390-A47D-2971-22A2-904E75B3B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320" y="2083185"/>
              <a:ext cx="590632" cy="43821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72003C5-B245-81CA-5350-ED44EA1CB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16909" y="2083185"/>
              <a:ext cx="457264" cy="428685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81B40E5-492E-B9FA-8FF4-3A28170D3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85850" y="2026026"/>
              <a:ext cx="628738" cy="54300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1F465454-BE3F-1861-3910-4A82AE65E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08661" y="2036674"/>
              <a:ext cx="562053" cy="485843"/>
            </a:xfrm>
            <a:prstGeom prst="rect">
              <a:avLst/>
            </a:prstGeom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A69D0EE-F442-8C9C-B0B6-23943873CB03}"/>
                </a:ext>
              </a:extLst>
            </p:cNvPr>
            <p:cNvCxnSpPr/>
            <p:nvPr/>
          </p:nvCxnSpPr>
          <p:spPr>
            <a:xfrm>
              <a:off x="2882239" y="2083185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1627677-7314-8455-C230-2533695E9D5E}"/>
                </a:ext>
              </a:extLst>
            </p:cNvPr>
            <p:cNvCxnSpPr/>
            <p:nvPr/>
          </p:nvCxnSpPr>
          <p:spPr>
            <a:xfrm>
              <a:off x="5302709" y="2083185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B37961-40D6-2BA1-DE8A-B65CC6F4D7BC}"/>
                </a:ext>
              </a:extLst>
            </p:cNvPr>
            <p:cNvCxnSpPr/>
            <p:nvPr/>
          </p:nvCxnSpPr>
          <p:spPr>
            <a:xfrm>
              <a:off x="8547933" y="2083185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A8CEB40-25C6-DD18-4500-1F95BC97984B}"/>
                </a:ext>
              </a:extLst>
            </p:cNvPr>
            <p:cNvSpPr txBox="1"/>
            <p:nvPr/>
          </p:nvSpPr>
          <p:spPr>
            <a:xfrm>
              <a:off x="1358150" y="1982411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616K+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2B1DD53-C25B-7918-2097-081EEEAB6C34}"/>
                </a:ext>
              </a:extLst>
            </p:cNvPr>
            <p:cNvSpPr txBox="1"/>
            <p:nvPr/>
          </p:nvSpPr>
          <p:spPr>
            <a:xfrm>
              <a:off x="3722371" y="1982408"/>
              <a:ext cx="1368000" cy="43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Calibri" panose="020F0502020204030204" pitchFamily="34" charset="0"/>
                </a:rPr>
                <a:t>~1,900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B31349-E11F-E371-ECAA-4E277512E659}"/>
                </a:ext>
              </a:extLst>
            </p:cNvPr>
            <p:cNvSpPr txBox="1"/>
            <p:nvPr/>
          </p:nvSpPr>
          <p:spPr>
            <a:xfrm>
              <a:off x="6513226" y="1982411"/>
              <a:ext cx="1368000" cy="43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50%+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C544F6E-1058-CC38-D31D-70AB243B7355}"/>
                </a:ext>
              </a:extLst>
            </p:cNvPr>
            <p:cNvSpPr txBox="1"/>
            <p:nvPr/>
          </p:nvSpPr>
          <p:spPr>
            <a:xfrm>
              <a:off x="9518755" y="2054131"/>
              <a:ext cx="17633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One</a:t>
              </a: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 AI-</a:t>
              </a:r>
              <a:r>
                <a:rPr kumimoji="0" lang="tr-TR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powered</a:t>
              </a:r>
              <a:endPara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23B445A-30A3-111F-27B2-77F3776ED619}"/>
                </a:ext>
              </a:extLst>
            </p:cNvPr>
            <p:cNvSpPr txBox="1"/>
            <p:nvPr/>
          </p:nvSpPr>
          <p:spPr>
            <a:xfrm>
              <a:off x="1349186" y="2303925"/>
              <a:ext cx="15857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Customers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(SME+BEI)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9738018-8E24-A0D7-3DAE-01B667582588}"/>
                </a:ext>
              </a:extLst>
            </p:cNvPr>
            <p:cNvSpPr txBox="1"/>
            <p:nvPr/>
          </p:nvSpPr>
          <p:spPr>
            <a:xfrm>
              <a:off x="3789050" y="2303925"/>
              <a:ext cx="1035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RMs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18C0F2B-9456-C31B-F7D2-B615CD2282DA}"/>
                </a:ext>
              </a:extLst>
            </p:cNvPr>
            <p:cNvSpPr txBox="1"/>
            <p:nvPr/>
          </p:nvSpPr>
          <p:spPr>
            <a:xfrm>
              <a:off x="6531156" y="2312890"/>
              <a:ext cx="16581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Portfolio </a:t>
              </a: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reassignment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F7A6F03-32C5-BCDC-11A2-9360F86B14BC}"/>
                </a:ext>
              </a:extLst>
            </p:cNvPr>
            <p:cNvSpPr txBox="1"/>
            <p:nvPr/>
          </p:nvSpPr>
          <p:spPr>
            <a:xfrm>
              <a:off x="9496815" y="2303925"/>
              <a:ext cx="16581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Operating platform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4C3C895-F3DC-1A8F-CEE6-E1BAE503D389}"/>
              </a:ext>
            </a:extLst>
          </p:cNvPr>
          <p:cNvSpPr/>
          <p:nvPr/>
        </p:nvSpPr>
        <p:spPr>
          <a:xfrm>
            <a:off x="343348" y="2377261"/>
            <a:ext cx="3806187" cy="3346232"/>
          </a:xfrm>
          <a:prstGeom prst="roundRect">
            <a:avLst>
              <a:gd name="adj" fmla="val 1813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C6DC55-C3E2-01D8-C85A-0D27C721A28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8308" r="1874" b="64634"/>
          <a:stretch/>
        </p:blipFill>
        <p:spPr>
          <a:xfrm>
            <a:off x="440684" y="3000952"/>
            <a:ext cx="477526" cy="4857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3ECF2B6-1587-DA3D-C841-98EBE69AEBE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9714" r="1874" b="43562"/>
          <a:stretch/>
        </p:blipFill>
        <p:spPr>
          <a:xfrm>
            <a:off x="440684" y="3538833"/>
            <a:ext cx="477526" cy="4762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0014F1C-FA43-349D-18F9-CD5E9482B89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0955" r="1874" b="22322"/>
          <a:stretch/>
        </p:blipFill>
        <p:spPr>
          <a:xfrm>
            <a:off x="440684" y="4071950"/>
            <a:ext cx="477526" cy="47624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7E118F-0501-D699-4047-97C3A1339AB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81692" r="1874" b="1084"/>
          <a:stretch/>
        </p:blipFill>
        <p:spPr>
          <a:xfrm>
            <a:off x="440684" y="4608710"/>
            <a:ext cx="477526" cy="490538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5F9598E-1F75-51AB-6AEA-13978EAB5593}"/>
              </a:ext>
            </a:extLst>
          </p:cNvPr>
          <p:cNvCxnSpPr/>
          <p:nvPr/>
        </p:nvCxnSpPr>
        <p:spPr>
          <a:xfrm>
            <a:off x="495300" y="3499445"/>
            <a:ext cx="147066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8E0B1CD-2BA1-83F1-5888-DAE5C8BD39D0}"/>
              </a:ext>
            </a:extLst>
          </p:cNvPr>
          <p:cNvCxnSpPr/>
          <p:nvPr/>
        </p:nvCxnSpPr>
        <p:spPr>
          <a:xfrm>
            <a:off x="495300" y="4029705"/>
            <a:ext cx="147066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ED2FF77-56E3-2D9C-EC25-BC8FAE5F51EF}"/>
              </a:ext>
            </a:extLst>
          </p:cNvPr>
          <p:cNvCxnSpPr/>
          <p:nvPr/>
        </p:nvCxnSpPr>
        <p:spPr>
          <a:xfrm>
            <a:off x="495300" y="4577895"/>
            <a:ext cx="147066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CC398BB-CC53-E5B7-E72D-C10223861F23}"/>
              </a:ext>
            </a:extLst>
          </p:cNvPr>
          <p:cNvGrpSpPr/>
          <p:nvPr/>
        </p:nvGrpSpPr>
        <p:grpSpPr>
          <a:xfrm>
            <a:off x="440684" y="2474930"/>
            <a:ext cx="2441554" cy="407103"/>
            <a:chOff x="440684" y="2921241"/>
            <a:chExt cx="2441554" cy="40710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3CD9337-071B-36ED-B33C-DAB291394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8724" b="85705"/>
            <a:stretch/>
          </p:blipFill>
          <p:spPr>
            <a:xfrm>
              <a:off x="440684" y="2921241"/>
              <a:ext cx="444189" cy="40710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4332492-7967-5660-8268-395D7EBC7238}"/>
                </a:ext>
              </a:extLst>
            </p:cNvPr>
            <p:cNvSpPr txBox="1"/>
            <p:nvPr/>
          </p:nvSpPr>
          <p:spPr>
            <a:xfrm>
              <a:off x="902969" y="2963536"/>
              <a:ext cx="19792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The</a:t>
              </a:r>
              <a:r>
                <a:rPr kumimoji="0" lang="tr-T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tr-T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Problems</a:t>
              </a:r>
              <a:endParaRPr kumimoji="0" lang="tr-TR" sz="14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327D3D5-C1B7-5FE9-5517-850565587FFE}"/>
                </a:ext>
              </a:extLst>
            </p:cNvPr>
            <p:cNvCxnSpPr/>
            <p:nvPr/>
          </p:nvCxnSpPr>
          <p:spPr>
            <a:xfrm>
              <a:off x="990600" y="3271313"/>
              <a:ext cx="271112" cy="0"/>
            </a:xfrm>
            <a:prstGeom prst="line">
              <a:avLst/>
            </a:prstGeom>
            <a:ln>
              <a:solidFill>
                <a:srgbClr val="34C1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E9A16545-C0EE-DD4E-80BC-696912C66A9A}"/>
              </a:ext>
            </a:extLst>
          </p:cNvPr>
          <p:cNvSpPr txBox="1"/>
          <p:nvPr/>
        </p:nvSpPr>
        <p:spPr>
          <a:xfrm>
            <a:off x="865458" y="3032385"/>
            <a:ext cx="1219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Fragmented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tools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and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843B88-43B0-625E-3C37-FFFC93FB898A}"/>
              </a:ext>
            </a:extLst>
          </p:cNvPr>
          <p:cNvSpPr txBox="1"/>
          <p:nvPr/>
        </p:nvSpPr>
        <p:spPr>
          <a:xfrm>
            <a:off x="865458" y="3570891"/>
            <a:ext cx="1219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Lost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institutional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memory</a:t>
            </a:r>
            <a:endParaRPr kumimoji="0" lang="tr-T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5E799D-2DB7-57B8-DF69-D8651ECFACF7}"/>
              </a:ext>
            </a:extLst>
          </p:cNvPr>
          <p:cNvSpPr txBox="1"/>
          <p:nvPr/>
        </p:nvSpPr>
        <p:spPr>
          <a:xfrm>
            <a:off x="865458" y="4097549"/>
            <a:ext cx="1219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Unclear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action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priorities</a:t>
            </a:r>
            <a:endParaRPr kumimoji="0" lang="tr-T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5F5E46-7A04-8E95-2B82-264903629BE6}"/>
              </a:ext>
            </a:extLst>
          </p:cNvPr>
          <p:cNvSpPr txBox="1"/>
          <p:nvPr/>
        </p:nvSpPr>
        <p:spPr>
          <a:xfrm>
            <a:off x="865458" y="4645738"/>
            <a:ext cx="1219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Weak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feedback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loop</a:t>
            </a:r>
            <a:endParaRPr kumimoji="0" lang="tr-T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91A5-7DD8-E342-FB05-959933F640D2}"/>
              </a:ext>
            </a:extLst>
          </p:cNvPr>
          <p:cNvSpPr txBox="1"/>
          <p:nvPr/>
        </p:nvSpPr>
        <p:spPr>
          <a:xfrm>
            <a:off x="242045" y="887671"/>
            <a:ext cx="10912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Transform</a:t>
            </a: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portfolio</a:t>
            </a: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management</a:t>
            </a: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from</a:t>
            </a: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reporting-driven</a:t>
            </a: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to</a:t>
            </a: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action-driven</a:t>
            </a:r>
            <a:r>
              <a:rPr kumimoji="0" lang="tr-TR" sz="1600" b="0" i="1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   </a:t>
            </a: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&amp;   </a:t>
            </a:r>
            <a:r>
              <a:rPr kumimoji="0" lang="tr-T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enable</a:t>
            </a: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sustainable</a:t>
            </a:r>
            <a:r>
              <a:rPr kumimoji="0" lang="tr-TR" sz="1600" b="0" i="1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sales</a:t>
            </a: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in Enterprise segment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0C46A8C-CDB1-081C-031B-EEAE7BA0226C}"/>
              </a:ext>
            </a:extLst>
          </p:cNvPr>
          <p:cNvSpPr/>
          <p:nvPr/>
        </p:nvSpPr>
        <p:spPr>
          <a:xfrm>
            <a:off x="4250514" y="2377261"/>
            <a:ext cx="3684494" cy="3346232"/>
          </a:xfrm>
          <a:prstGeom prst="roundRect">
            <a:avLst>
              <a:gd name="adj" fmla="val 1813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F56FDDD-3203-E9A9-1246-F997984E3D1C}"/>
              </a:ext>
            </a:extLst>
          </p:cNvPr>
          <p:cNvSpPr/>
          <p:nvPr/>
        </p:nvSpPr>
        <p:spPr>
          <a:xfrm>
            <a:off x="8040735" y="2377261"/>
            <a:ext cx="3795264" cy="3346232"/>
          </a:xfrm>
          <a:prstGeom prst="roundRect">
            <a:avLst>
              <a:gd name="adj" fmla="val 1813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05F0DAB-3AFC-0FE4-6A0B-48BE3D4DE85D}"/>
              </a:ext>
            </a:extLst>
          </p:cNvPr>
          <p:cNvGrpSpPr/>
          <p:nvPr/>
        </p:nvGrpSpPr>
        <p:grpSpPr>
          <a:xfrm>
            <a:off x="4356422" y="2474930"/>
            <a:ext cx="2441554" cy="407103"/>
            <a:chOff x="440684" y="2921241"/>
            <a:chExt cx="2441554" cy="407103"/>
          </a:xfrm>
        </p:grpSpPr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4319EA09-7363-4490-9C95-1A21E8534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8724" b="85705"/>
            <a:stretch/>
          </p:blipFill>
          <p:spPr>
            <a:xfrm>
              <a:off x="440684" y="2921241"/>
              <a:ext cx="444189" cy="407103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8D19443-107A-92F7-90CB-78970AFB2219}"/>
                </a:ext>
              </a:extLst>
            </p:cNvPr>
            <p:cNvSpPr txBox="1"/>
            <p:nvPr/>
          </p:nvSpPr>
          <p:spPr>
            <a:xfrm>
              <a:off x="902969" y="2963536"/>
              <a:ext cx="19792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The</a:t>
              </a:r>
              <a:r>
                <a:rPr kumimoji="0" lang="tr-T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Solution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3D766AE-F1C7-D372-66C1-6F502F4410E0}"/>
                </a:ext>
              </a:extLst>
            </p:cNvPr>
            <p:cNvCxnSpPr/>
            <p:nvPr/>
          </p:nvCxnSpPr>
          <p:spPr>
            <a:xfrm>
              <a:off x="990600" y="3271313"/>
              <a:ext cx="271112" cy="0"/>
            </a:xfrm>
            <a:prstGeom prst="line">
              <a:avLst/>
            </a:prstGeom>
            <a:ln>
              <a:solidFill>
                <a:srgbClr val="34C1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858E5F6-4CA4-5C09-C915-CA41C8EBE9E9}"/>
              </a:ext>
            </a:extLst>
          </p:cNvPr>
          <p:cNvGrpSpPr/>
          <p:nvPr/>
        </p:nvGrpSpPr>
        <p:grpSpPr>
          <a:xfrm>
            <a:off x="8259364" y="2474930"/>
            <a:ext cx="2441554" cy="407103"/>
            <a:chOff x="440684" y="2921241"/>
            <a:chExt cx="2441554" cy="407103"/>
          </a:xfrm>
        </p:grpSpPr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0BBF6C78-AD4C-C068-9E8B-FC3D60F0B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8724" b="85705"/>
            <a:stretch/>
          </p:blipFill>
          <p:spPr>
            <a:xfrm>
              <a:off x="440684" y="2921241"/>
              <a:ext cx="444189" cy="407103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4E07C36-95BF-7031-F7D9-1FE7DB4723A3}"/>
                </a:ext>
              </a:extLst>
            </p:cNvPr>
            <p:cNvSpPr txBox="1"/>
            <p:nvPr/>
          </p:nvSpPr>
          <p:spPr>
            <a:xfrm>
              <a:off x="902969" y="2963536"/>
              <a:ext cx="19792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Business Value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4A8DD89-39DA-04CC-BCF3-0641AB30EB4D}"/>
                </a:ext>
              </a:extLst>
            </p:cNvPr>
            <p:cNvCxnSpPr/>
            <p:nvPr/>
          </p:nvCxnSpPr>
          <p:spPr>
            <a:xfrm>
              <a:off x="990600" y="3271313"/>
              <a:ext cx="271112" cy="0"/>
            </a:xfrm>
            <a:prstGeom prst="line">
              <a:avLst/>
            </a:prstGeom>
            <a:ln>
              <a:solidFill>
                <a:srgbClr val="34C1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6B00070B-8298-0AAB-B086-23176FCF4B0C}"/>
              </a:ext>
            </a:extLst>
          </p:cNvPr>
          <p:cNvSpPr txBox="1"/>
          <p:nvPr/>
        </p:nvSpPr>
        <p:spPr>
          <a:xfrm>
            <a:off x="5467544" y="4447981"/>
            <a:ext cx="207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∙</a:t>
            </a:r>
            <a:r>
              <a:rPr kumimoji="0" lang="tr-TR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Prioritize</a:t>
            </a:r>
            <a:r>
              <a: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∙</a:t>
            </a:r>
            <a:r>
              <a:rPr kumimoji="0" lang="tr-TR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Recommend</a:t>
            </a:r>
            <a:r>
              <a: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 ∙</a:t>
            </a:r>
            <a:r>
              <a:rPr kumimoji="0" lang="tr-TR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Personlize</a:t>
            </a:r>
            <a:endParaRPr kumimoji="0" lang="tr-TR" sz="9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∙</a:t>
            </a:r>
            <a:r>
              <a:rPr kumimoji="0" lang="tr-TR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Simulate</a:t>
            </a:r>
            <a:r>
              <a: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∙</a:t>
            </a:r>
            <a:r>
              <a:rPr kumimoji="0" lang="tr-TR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Learn</a:t>
            </a:r>
            <a:endParaRPr kumimoji="0" lang="tr-TR" sz="9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12E4BE4-32B5-D590-10A2-5D7AD5F5EB11}"/>
              </a:ext>
            </a:extLst>
          </p:cNvPr>
          <p:cNvSpPr txBox="1"/>
          <p:nvPr/>
        </p:nvSpPr>
        <p:spPr>
          <a:xfrm>
            <a:off x="5495826" y="4248239"/>
            <a:ext cx="13480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AI Action Engine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1867226-1163-574A-3C1F-FFE663D140A9}"/>
              </a:ext>
            </a:extLst>
          </p:cNvPr>
          <p:cNvGrpSpPr/>
          <p:nvPr/>
        </p:nvGrpSpPr>
        <p:grpSpPr>
          <a:xfrm>
            <a:off x="4375251" y="2910904"/>
            <a:ext cx="3420324" cy="1346762"/>
            <a:chOff x="4265712" y="3262945"/>
            <a:chExt cx="3420324" cy="1346762"/>
          </a:xfrm>
        </p:grpSpPr>
        <p:cxnSp>
          <p:nvCxnSpPr>
            <p:cNvPr id="101" name="Connector: Elbow 100">
              <a:extLst>
                <a:ext uri="{FF2B5EF4-FFF2-40B4-BE49-F238E27FC236}">
                  <a16:creationId xmlns:a16="http://schemas.microsoft.com/office/drawing/2014/main" id="{FF1A7E7B-F6C9-71D1-069A-343319F6DCCC}"/>
                </a:ext>
              </a:extLst>
            </p:cNvPr>
            <p:cNvCxnSpPr>
              <a:cxnSpLocks/>
              <a:stCxn id="86" idx="2"/>
              <a:endCxn id="93" idx="0"/>
            </p:cNvCxnSpPr>
            <p:nvPr/>
          </p:nvCxnSpPr>
          <p:spPr>
            <a:xfrm rot="16200000" flipH="1">
              <a:off x="5614076" y="4163478"/>
              <a:ext cx="328601" cy="563856"/>
            </a:xfrm>
            <a:prstGeom prst="bentConnector3">
              <a:avLst>
                <a:gd name="adj1" fmla="val 50000"/>
              </a:avLst>
            </a:prstGeom>
            <a:ln w="9525" cap="rnd" cmpd="thickThin">
              <a:gradFill>
                <a:gsLst>
                  <a:gs pos="0">
                    <a:schemeClr val="tx2">
                      <a:lumMod val="25000"/>
                      <a:lumOff val="75000"/>
                    </a:schemeClr>
                  </a:gs>
                  <a:gs pos="28000">
                    <a:schemeClr val="accent1">
                      <a:lumMod val="45000"/>
                      <a:lumOff val="55000"/>
                    </a:schemeClr>
                  </a:gs>
                  <a:gs pos="55000">
                    <a:schemeClr val="accent1">
                      <a:lumMod val="45000"/>
                      <a:lumOff val="55000"/>
                    </a:schemeClr>
                  </a:gs>
                  <a:gs pos="100000">
                    <a:srgbClr val="022460"/>
                  </a:gs>
                </a:gsLst>
                <a:lin ang="5400000" scaled="1"/>
              </a:gradFill>
              <a:round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5D158321-6189-6CC8-CB8A-F40C97A89516}"/>
                </a:ext>
              </a:extLst>
            </p:cNvPr>
            <p:cNvCxnSpPr>
              <a:cxnSpLocks/>
              <a:stCxn id="87" idx="2"/>
              <a:endCxn id="93" idx="0"/>
            </p:cNvCxnSpPr>
            <p:nvPr/>
          </p:nvCxnSpPr>
          <p:spPr>
            <a:xfrm rot="5400000">
              <a:off x="6040403" y="4301007"/>
              <a:ext cx="328601" cy="288798"/>
            </a:xfrm>
            <a:prstGeom prst="bentConnector3">
              <a:avLst>
                <a:gd name="adj1" fmla="val 50000"/>
              </a:avLst>
            </a:prstGeom>
            <a:ln w="9525" cap="rnd" cmpd="thickThin">
              <a:gradFill>
                <a:gsLst>
                  <a:gs pos="0">
                    <a:schemeClr val="tx2">
                      <a:lumMod val="25000"/>
                      <a:lumOff val="75000"/>
                    </a:schemeClr>
                  </a:gs>
                  <a:gs pos="28000">
                    <a:schemeClr val="accent1">
                      <a:lumMod val="45000"/>
                      <a:lumOff val="55000"/>
                    </a:schemeClr>
                  </a:gs>
                  <a:gs pos="55000">
                    <a:schemeClr val="accent1">
                      <a:lumMod val="45000"/>
                      <a:lumOff val="55000"/>
                    </a:schemeClr>
                  </a:gs>
                  <a:gs pos="100000">
                    <a:srgbClr val="022460"/>
                  </a:gs>
                </a:gsLst>
                <a:lin ang="5400000" scaled="1"/>
              </a:gradFill>
              <a:round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0BD35F74-6733-1E1E-4896-74F0D19AF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65712" y="3509662"/>
              <a:ext cx="3420324" cy="342033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CCB5DC2-5E4D-82E8-E9BF-B02411ABF7A2}"/>
                </a:ext>
              </a:extLst>
            </p:cNvPr>
            <p:cNvSpPr txBox="1"/>
            <p:nvPr/>
          </p:nvSpPr>
          <p:spPr>
            <a:xfrm>
              <a:off x="4458878" y="3262945"/>
              <a:ext cx="650449" cy="288000"/>
            </a:xfrm>
            <a:prstGeom prst="rect">
              <a:avLst/>
            </a:prstGeom>
            <a:noFill/>
          </p:spPr>
          <p:txBody>
            <a:bodyPr wrap="square" tIns="1800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AE728E5-8CCC-1A8D-DB78-3C6C3AAB42DF}"/>
                </a:ext>
              </a:extLst>
            </p:cNvPr>
            <p:cNvSpPr txBox="1"/>
            <p:nvPr/>
          </p:nvSpPr>
          <p:spPr>
            <a:xfrm>
              <a:off x="5199897" y="3262945"/>
              <a:ext cx="650449" cy="288000"/>
            </a:xfrm>
            <a:prstGeom prst="rect">
              <a:avLst/>
            </a:prstGeom>
            <a:noFill/>
          </p:spPr>
          <p:txBody>
            <a:bodyPr wrap="square" tIns="1800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Strategy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9CAD6CA-3DD3-D7D8-D2B5-A561DA327BEE}"/>
                </a:ext>
              </a:extLst>
            </p:cNvPr>
            <p:cNvSpPr txBox="1"/>
            <p:nvPr/>
          </p:nvSpPr>
          <p:spPr>
            <a:xfrm>
              <a:off x="6016431" y="3262945"/>
              <a:ext cx="650449" cy="288000"/>
            </a:xfrm>
            <a:prstGeom prst="rect">
              <a:avLst/>
            </a:prstGeom>
            <a:noFill/>
          </p:spPr>
          <p:txBody>
            <a:bodyPr wrap="square" tIns="18000" rIns="7200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Analytics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429B46C-23A4-DCF8-3E09-BC6FA5181A92}"/>
                </a:ext>
              </a:extLst>
            </p:cNvPr>
            <p:cNvSpPr txBox="1"/>
            <p:nvPr/>
          </p:nvSpPr>
          <p:spPr>
            <a:xfrm>
              <a:off x="6851819" y="3262945"/>
              <a:ext cx="650449" cy="288000"/>
            </a:xfrm>
            <a:prstGeom prst="rect">
              <a:avLst/>
            </a:prstGeom>
            <a:noFill/>
          </p:spPr>
          <p:txBody>
            <a:bodyPr wrap="square" tIns="18000" r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Field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Feedback</a:t>
              </a: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FA09AE96-6DD4-020F-4F13-7C57018F1A35}"/>
                </a:ext>
              </a:extLst>
            </p:cNvPr>
            <p:cNvSpPr/>
            <p:nvPr/>
          </p:nvSpPr>
          <p:spPr>
            <a:xfrm>
              <a:off x="4301014" y="3858927"/>
              <a:ext cx="731747" cy="422179"/>
            </a:xfrm>
            <a:prstGeom prst="roundRect">
              <a:avLst/>
            </a:prstGeom>
            <a:solidFill>
              <a:srgbClr val="E1E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Unified</a:t>
              </a:r>
              <a:r>
                <a:rPr kumimoji="0" lang="tr-T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customer</a:t>
              </a:r>
              <a:r>
                <a:rPr kumimoji="0" lang="tr-T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&amp; </a:t>
              </a: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and</a:t>
              </a:r>
              <a:r>
                <a:rPr kumimoji="0" lang="tr-T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portfolio</a:t>
              </a:r>
              <a:endParaRPr kumimoji="0" lang="tr-TR" sz="75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825CBFB3-4A69-93A7-02C7-6769F0E26CC9}"/>
                </a:ext>
              </a:extLst>
            </p:cNvPr>
            <p:cNvSpPr/>
            <p:nvPr/>
          </p:nvSpPr>
          <p:spPr>
            <a:xfrm>
              <a:off x="5123220" y="3858927"/>
              <a:ext cx="746455" cy="422179"/>
            </a:xfrm>
            <a:prstGeom prst="roundRect">
              <a:avLst/>
            </a:prstGeom>
            <a:solidFill>
              <a:srgbClr val="E1E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Bank </a:t>
              </a: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strategy</a:t>
              </a:r>
              <a:r>
                <a:rPr kumimoji="0" lang="tr-T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segments</a:t>
              </a:r>
              <a:r>
                <a:rPr kumimoji="0" lang="tr-T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&amp;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priorities</a:t>
              </a:r>
              <a:endParaRPr kumimoji="0" lang="tr-TR" sz="75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4ADA3613-61A8-0336-C687-BCB7215DD562}"/>
                </a:ext>
              </a:extLst>
            </p:cNvPr>
            <p:cNvSpPr/>
            <p:nvPr/>
          </p:nvSpPr>
          <p:spPr>
            <a:xfrm>
              <a:off x="5975874" y="3858927"/>
              <a:ext cx="746455" cy="422179"/>
            </a:xfrm>
            <a:prstGeom prst="roundRect">
              <a:avLst/>
            </a:prstGeom>
            <a:solidFill>
              <a:srgbClr val="E1E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AI/ML </a:t>
              </a: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insights</a:t>
              </a:r>
              <a:r>
                <a:rPr kumimoji="0" lang="tr-T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, </a:t>
              </a: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next</a:t>
              </a:r>
              <a:r>
                <a:rPr kumimoji="0" lang="tr-T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best</a:t>
              </a:r>
              <a:r>
                <a:rPr kumimoji="0" lang="tr-T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actions</a:t>
              </a:r>
              <a:endParaRPr kumimoji="0" lang="tr-TR" sz="75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F876C7BC-E660-43E5-6B76-7A27148BA0E5}"/>
                </a:ext>
              </a:extLst>
            </p:cNvPr>
            <p:cNvSpPr/>
            <p:nvPr/>
          </p:nvSpPr>
          <p:spPr>
            <a:xfrm>
              <a:off x="6814503" y="3858927"/>
              <a:ext cx="746455" cy="422179"/>
            </a:xfrm>
            <a:prstGeom prst="roundRect">
              <a:avLst/>
            </a:prstGeom>
            <a:solidFill>
              <a:srgbClr val="E1E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RM </a:t>
              </a: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insights</a:t>
              </a:r>
              <a:r>
                <a:rPr kumimoji="0" lang="tr-T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, </a:t>
              </a: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customer</a:t>
              </a:r>
              <a:r>
                <a:rPr kumimoji="0" lang="tr-TR" sz="75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tr-TR" sz="7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interactions</a:t>
              </a:r>
              <a:endParaRPr kumimoji="0" lang="tr-TR" sz="75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7" name="Connector: Elbow 96">
              <a:extLst>
                <a:ext uri="{FF2B5EF4-FFF2-40B4-BE49-F238E27FC236}">
                  <a16:creationId xmlns:a16="http://schemas.microsoft.com/office/drawing/2014/main" id="{6C0CB882-DE75-8344-3AC6-6A86C3359E11}"/>
                </a:ext>
              </a:extLst>
            </p:cNvPr>
            <p:cNvCxnSpPr>
              <a:stCxn id="85" idx="2"/>
              <a:endCxn id="93" idx="0"/>
            </p:cNvCxnSpPr>
            <p:nvPr/>
          </p:nvCxnSpPr>
          <p:spPr>
            <a:xfrm rot="16200000" flipH="1">
              <a:off x="5199296" y="3748698"/>
              <a:ext cx="328601" cy="1393416"/>
            </a:xfrm>
            <a:prstGeom prst="bentConnector3">
              <a:avLst/>
            </a:prstGeom>
            <a:ln w="9525" cap="rnd" cmpd="thickThin">
              <a:gradFill>
                <a:gsLst>
                  <a:gs pos="0">
                    <a:schemeClr val="tx2">
                      <a:lumMod val="25000"/>
                      <a:lumOff val="75000"/>
                    </a:schemeClr>
                  </a:gs>
                  <a:gs pos="28000">
                    <a:schemeClr val="accent1">
                      <a:lumMod val="45000"/>
                      <a:lumOff val="55000"/>
                    </a:schemeClr>
                  </a:gs>
                  <a:gs pos="55000">
                    <a:schemeClr val="accent1">
                      <a:lumMod val="45000"/>
                      <a:lumOff val="55000"/>
                    </a:schemeClr>
                  </a:gs>
                  <a:gs pos="100000">
                    <a:srgbClr val="022460"/>
                  </a:gs>
                </a:gsLst>
                <a:lin ang="5400000" scaled="1"/>
              </a:gradFill>
              <a:round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: Elbow 97">
              <a:extLst>
                <a:ext uri="{FF2B5EF4-FFF2-40B4-BE49-F238E27FC236}">
                  <a16:creationId xmlns:a16="http://schemas.microsoft.com/office/drawing/2014/main" id="{48BC83A6-B10A-A497-018E-D5AAD55607A9}"/>
                </a:ext>
              </a:extLst>
            </p:cNvPr>
            <p:cNvCxnSpPr>
              <a:cxnSpLocks/>
              <a:stCxn id="88" idx="2"/>
              <a:endCxn id="93" idx="0"/>
            </p:cNvCxnSpPr>
            <p:nvPr/>
          </p:nvCxnSpPr>
          <p:spPr>
            <a:xfrm rot="5400000">
              <a:off x="6459718" y="3881693"/>
              <a:ext cx="328601" cy="1127427"/>
            </a:xfrm>
            <a:prstGeom prst="bentConnector3">
              <a:avLst>
                <a:gd name="adj1" fmla="val 50000"/>
              </a:avLst>
            </a:prstGeom>
            <a:ln w="9525" cap="rnd" cmpd="thickThin">
              <a:gradFill>
                <a:gsLst>
                  <a:gs pos="0">
                    <a:schemeClr val="tx2">
                      <a:lumMod val="25000"/>
                      <a:lumOff val="75000"/>
                    </a:schemeClr>
                  </a:gs>
                  <a:gs pos="28000">
                    <a:schemeClr val="accent1">
                      <a:lumMod val="45000"/>
                      <a:lumOff val="55000"/>
                    </a:schemeClr>
                  </a:gs>
                  <a:gs pos="55000">
                    <a:schemeClr val="accent1">
                      <a:lumMod val="45000"/>
                      <a:lumOff val="55000"/>
                    </a:schemeClr>
                  </a:gs>
                  <a:gs pos="100000">
                    <a:srgbClr val="022460"/>
                  </a:gs>
                </a:gsLst>
                <a:lin ang="5400000" scaled="1"/>
              </a:gradFill>
              <a:round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7610C09-9D04-F355-4677-96EFFC7AB9FA}"/>
              </a:ext>
            </a:extLst>
          </p:cNvPr>
          <p:cNvGrpSpPr/>
          <p:nvPr/>
        </p:nvGrpSpPr>
        <p:grpSpPr>
          <a:xfrm>
            <a:off x="4457040" y="5074037"/>
            <a:ext cx="3277264" cy="615950"/>
            <a:chOff x="4304636" y="5397500"/>
            <a:chExt cx="3277264" cy="615950"/>
          </a:xfrm>
        </p:grpSpPr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5F5DD1E9-CB14-E29D-C382-542529FFCFD5}"/>
                </a:ext>
              </a:extLst>
            </p:cNvPr>
            <p:cNvSpPr/>
            <p:nvPr/>
          </p:nvSpPr>
          <p:spPr>
            <a:xfrm>
              <a:off x="4304636" y="5397500"/>
              <a:ext cx="3277264" cy="615950"/>
            </a:xfrm>
            <a:prstGeom prst="roundRect">
              <a:avLst/>
            </a:prstGeom>
            <a:solidFill>
              <a:srgbClr val="E5F6F3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3CDD590F-5AE0-056B-3EBA-119385A68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04627" y="5510232"/>
              <a:ext cx="306774" cy="320408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CAADBA9-9FF0-540F-4314-34BCCE034D48}"/>
                </a:ext>
              </a:extLst>
            </p:cNvPr>
            <p:cNvSpPr txBox="1"/>
            <p:nvPr/>
          </p:nvSpPr>
          <p:spPr>
            <a:xfrm>
              <a:off x="4705350" y="5478482"/>
              <a:ext cx="10182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RM Daily Plan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F884AF6-A276-C8D4-65E5-9D87439B44A3}"/>
                </a:ext>
              </a:extLst>
            </p:cNvPr>
            <p:cNvSpPr txBox="1"/>
            <p:nvPr/>
          </p:nvSpPr>
          <p:spPr>
            <a:xfrm>
              <a:off x="4705350" y="5641037"/>
              <a:ext cx="12644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Right </a:t>
              </a:r>
              <a:r>
                <a:rPr kumimoji="0" lang="tr-TR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actions</a:t>
              </a:r>
              <a:r>
                <a:rPr kumimoji="0" lang="tr-T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. Right </a:t>
              </a:r>
              <a:r>
                <a:rPr kumimoji="0" lang="tr-TR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customers</a:t>
              </a:r>
              <a:r>
                <a:rPr kumimoji="0" lang="tr-T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. Right time.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3B7B9B5-27EB-6851-E852-0D3487CD936C}"/>
              </a:ext>
            </a:extLst>
          </p:cNvPr>
          <p:cNvGrpSpPr/>
          <p:nvPr/>
        </p:nvGrpSpPr>
        <p:grpSpPr>
          <a:xfrm>
            <a:off x="6031279" y="4956900"/>
            <a:ext cx="1612235" cy="702679"/>
            <a:chOff x="5909355" y="5318463"/>
            <a:chExt cx="1612235" cy="702679"/>
          </a:xfrm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D0C57982-6E11-9D36-CA32-5AABB4A31951}"/>
                </a:ext>
              </a:extLst>
            </p:cNvPr>
            <p:cNvSpPr/>
            <p:nvPr/>
          </p:nvSpPr>
          <p:spPr>
            <a:xfrm>
              <a:off x="5937234" y="5318463"/>
              <a:ext cx="1584356" cy="702679"/>
            </a:xfrm>
            <a:prstGeom prst="roundRect">
              <a:avLst>
                <a:gd name="adj" fmla="val 7608"/>
              </a:avLst>
            </a:prstGeom>
            <a:solidFill>
              <a:schemeClr val="bg1"/>
            </a:solidFill>
            <a:ln w="9525"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9A37C82-E679-39C5-994A-9F715B1C24D3}"/>
                </a:ext>
              </a:extLst>
            </p:cNvPr>
            <p:cNvSpPr txBox="1"/>
            <p:nvPr/>
          </p:nvSpPr>
          <p:spPr>
            <a:xfrm>
              <a:off x="5909355" y="5339893"/>
              <a:ext cx="113242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Today’s</a:t>
              </a:r>
              <a:r>
                <a:rPr kumimoji="0" lang="tr-TR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 Top </a:t>
              </a:r>
              <a:r>
                <a:rPr kumimoji="0" lang="tr-TR" sz="6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Actions</a:t>
              </a:r>
              <a:endParaRPr kumimoji="0" lang="tr-TR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endParaRP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716E085A-ECFB-B86A-3BE5-0CF4F24EBB4F}"/>
                </a:ext>
              </a:extLst>
            </p:cNvPr>
            <p:cNvSpPr/>
            <p:nvPr/>
          </p:nvSpPr>
          <p:spPr>
            <a:xfrm>
              <a:off x="6146006" y="5538808"/>
              <a:ext cx="664369" cy="7200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1C3F2C26-B315-BBB5-7094-C586AB0E2597}"/>
                </a:ext>
              </a:extLst>
            </p:cNvPr>
            <p:cNvSpPr/>
            <p:nvPr/>
          </p:nvSpPr>
          <p:spPr>
            <a:xfrm>
              <a:off x="6146006" y="5693133"/>
              <a:ext cx="766763" cy="7200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29651B01-7438-9624-EC66-7A47A6A0F1FC}"/>
                </a:ext>
              </a:extLst>
            </p:cNvPr>
            <p:cNvSpPr/>
            <p:nvPr/>
          </p:nvSpPr>
          <p:spPr>
            <a:xfrm>
              <a:off x="6146006" y="5844570"/>
              <a:ext cx="664369" cy="7200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5BAF4186-05CA-CF0D-45D6-530204010F47}"/>
                </a:ext>
              </a:extLst>
            </p:cNvPr>
            <p:cNvSpPr/>
            <p:nvPr/>
          </p:nvSpPr>
          <p:spPr>
            <a:xfrm>
              <a:off x="6009976" y="5536062"/>
              <a:ext cx="81262" cy="828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8FB8712-8FA8-53BE-A1D1-76D2106A119E}"/>
                </a:ext>
              </a:extLst>
            </p:cNvPr>
            <p:cNvSpPr/>
            <p:nvPr/>
          </p:nvSpPr>
          <p:spPr>
            <a:xfrm>
              <a:off x="6009976" y="5691956"/>
              <a:ext cx="81262" cy="82800"/>
            </a:xfrm>
            <a:prstGeom prst="ellipse">
              <a:avLst/>
            </a:prstGeom>
            <a:solidFill>
              <a:srgbClr val="023B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9AEE5024-F873-FEEB-BDDC-17FF60F4E415}"/>
                </a:ext>
              </a:extLst>
            </p:cNvPr>
            <p:cNvSpPr/>
            <p:nvPr/>
          </p:nvSpPr>
          <p:spPr>
            <a:xfrm>
              <a:off x="6009976" y="5847850"/>
              <a:ext cx="81262" cy="8280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A707F08A-C1E7-9DAF-83A8-294415533673}"/>
                </a:ext>
              </a:extLst>
            </p:cNvPr>
            <p:cNvSpPr/>
            <p:nvPr/>
          </p:nvSpPr>
          <p:spPr>
            <a:xfrm>
              <a:off x="6961853" y="5520153"/>
              <a:ext cx="484584" cy="112289"/>
            </a:xfrm>
            <a:prstGeom prst="roundRect">
              <a:avLst>
                <a:gd name="adj" fmla="val 50000"/>
              </a:avLst>
            </a:prstGeom>
            <a:solidFill>
              <a:srgbClr val="72D3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Cross </a:t>
              </a:r>
              <a:r>
                <a:rPr kumimoji="0" lang="tr-TR" sz="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Sell</a:t>
              </a:r>
              <a:endParaRPr kumimoji="0" lang="tr-TR" sz="6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47092EB6-9EF3-6A53-07D4-B089B1F00F74}"/>
                </a:ext>
              </a:extLst>
            </p:cNvPr>
            <p:cNvSpPr/>
            <p:nvPr/>
          </p:nvSpPr>
          <p:spPr>
            <a:xfrm>
              <a:off x="6961853" y="5676494"/>
              <a:ext cx="484584" cy="112289"/>
            </a:xfrm>
            <a:prstGeom prst="roundRect">
              <a:avLst>
                <a:gd name="adj" fmla="val 50000"/>
              </a:avLst>
            </a:prstGeom>
            <a:solidFill>
              <a:srgbClr val="1D67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Deepen</a:t>
              </a:r>
              <a:endParaRPr kumimoji="0" lang="tr-TR" sz="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CEBEDCB5-DA5E-3145-13B4-118FD552E653}"/>
                </a:ext>
              </a:extLst>
            </p:cNvPr>
            <p:cNvSpPr/>
            <p:nvPr/>
          </p:nvSpPr>
          <p:spPr>
            <a:xfrm>
              <a:off x="6961853" y="5832835"/>
              <a:ext cx="484584" cy="112289"/>
            </a:xfrm>
            <a:prstGeom prst="roundRect">
              <a:avLst>
                <a:gd name="adj" fmla="val 50000"/>
              </a:avLst>
            </a:prstGeom>
            <a:solidFill>
              <a:srgbClr val="B9E0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Retain</a:t>
              </a:r>
              <a:endParaRPr kumimoji="0" lang="tr-TR" sz="6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126" name="Picture 125">
            <a:extLst>
              <a:ext uri="{FF2B5EF4-FFF2-40B4-BE49-F238E27FC236}">
                <a16:creationId xmlns:a16="http://schemas.microsoft.com/office/drawing/2014/main" id="{5E1295BC-6259-4823-AAB7-03FCD1B84A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2055" y="4161315"/>
            <a:ext cx="762106" cy="885949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52B50EF2-D512-5C1E-A512-89C093053DE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14005" b="86720"/>
          <a:stretch/>
        </p:blipFill>
        <p:spPr>
          <a:xfrm>
            <a:off x="8276654" y="2459480"/>
            <a:ext cx="409608" cy="422550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624EA9A1-E82E-A47F-F27A-730DB8DAE01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6265" r="2007" b="68468"/>
          <a:stretch/>
        </p:blipFill>
        <p:spPr>
          <a:xfrm>
            <a:off x="8254891" y="2976947"/>
            <a:ext cx="466758" cy="485769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9AA412C0-72CB-2457-BED1-B2EBA88C38D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33178" r="2007" b="51854"/>
          <a:stretch/>
        </p:blipFill>
        <p:spPr>
          <a:xfrm>
            <a:off x="8259372" y="3515109"/>
            <a:ext cx="466758" cy="476250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8A8B86F-65DA-FD2F-DA07-F8204CF2782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50241" r="2007" b="34641"/>
          <a:stretch/>
        </p:blipFill>
        <p:spPr>
          <a:xfrm>
            <a:off x="8254891" y="4058033"/>
            <a:ext cx="466758" cy="481013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5266A695-BC27-D59E-51FB-AEAE413CE8F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67453" r="2007" b="17578"/>
          <a:stretch/>
        </p:blipFill>
        <p:spPr>
          <a:xfrm>
            <a:off x="8259372" y="4605722"/>
            <a:ext cx="466758" cy="476250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EBC709C7-9BD3-60FE-6D88-207248F5619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84369" r="2007" b="363"/>
          <a:stretch/>
        </p:blipFill>
        <p:spPr>
          <a:xfrm>
            <a:off x="8262085" y="5143884"/>
            <a:ext cx="466758" cy="485774"/>
          </a:xfrm>
          <a:prstGeom prst="rect">
            <a:avLst/>
          </a:prstGeom>
        </p:spPr>
      </p:pic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BF67E34-CA2B-87EF-84EA-F9265389C183}"/>
              </a:ext>
            </a:extLst>
          </p:cNvPr>
          <p:cNvCxnSpPr/>
          <p:nvPr/>
        </p:nvCxnSpPr>
        <p:spPr>
          <a:xfrm>
            <a:off x="8276654" y="3499654"/>
            <a:ext cx="2052000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82DE9EF-2B0F-7E0D-17F7-A1D33CB1BCC6}"/>
              </a:ext>
            </a:extLst>
          </p:cNvPr>
          <p:cNvCxnSpPr/>
          <p:nvPr/>
        </p:nvCxnSpPr>
        <p:spPr>
          <a:xfrm>
            <a:off x="8276654" y="4023946"/>
            <a:ext cx="2052000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BFE75A5-F983-06CD-D922-A3021ECCFFF7}"/>
              </a:ext>
            </a:extLst>
          </p:cNvPr>
          <p:cNvCxnSpPr/>
          <p:nvPr/>
        </p:nvCxnSpPr>
        <p:spPr>
          <a:xfrm>
            <a:off x="8276654" y="4581694"/>
            <a:ext cx="2052000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BB45A56-7541-8734-5BE8-546C9844841D}"/>
              </a:ext>
            </a:extLst>
          </p:cNvPr>
          <p:cNvCxnSpPr/>
          <p:nvPr/>
        </p:nvCxnSpPr>
        <p:spPr>
          <a:xfrm>
            <a:off x="8276654" y="5105986"/>
            <a:ext cx="2052000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873ECCBA-B260-149E-E69B-C2251DDFB5BD}"/>
              </a:ext>
            </a:extLst>
          </p:cNvPr>
          <p:cNvSpPr txBox="1"/>
          <p:nvPr/>
        </p:nvSpPr>
        <p:spPr>
          <a:xfrm>
            <a:off x="8743948" y="3010284"/>
            <a:ext cx="172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Higher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RM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productivity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and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efficiency</a:t>
            </a:r>
            <a:endParaRPr kumimoji="0" lang="tr-T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17873B2-EF8D-445E-F14A-ACB746B0CAFD}"/>
              </a:ext>
            </a:extLst>
          </p:cNvPr>
          <p:cNvSpPr txBox="1"/>
          <p:nvPr/>
        </p:nvSpPr>
        <p:spPr>
          <a:xfrm>
            <a:off x="8734423" y="3563091"/>
            <a:ext cx="172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Increased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wallet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share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and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revenue</a:t>
            </a:r>
            <a:endParaRPr kumimoji="0" lang="tr-T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2EDFAA0-0EFA-AFC6-4C69-60DCB36ECC50}"/>
              </a:ext>
            </a:extLst>
          </p:cNvPr>
          <p:cNvSpPr txBox="1"/>
          <p:nvPr/>
        </p:nvSpPr>
        <p:spPr>
          <a:xfrm>
            <a:off x="8734423" y="4115898"/>
            <a:ext cx="172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Better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relation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%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experience</a:t>
            </a:r>
            <a:endParaRPr kumimoji="0" lang="tr-T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1F16849-4898-9241-FAB7-DD740C1B75FF}"/>
              </a:ext>
            </a:extLst>
          </p:cNvPr>
          <p:cNvSpPr txBox="1"/>
          <p:nvPr/>
        </p:nvSpPr>
        <p:spPr>
          <a:xfrm>
            <a:off x="8734423" y="4639029"/>
            <a:ext cx="172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Consistent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execution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and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governance</a:t>
            </a:r>
            <a:endParaRPr kumimoji="0" lang="tr-T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6E43C6C-8B68-8530-D03D-1D6B3F6B9E67}"/>
              </a:ext>
            </a:extLst>
          </p:cNvPr>
          <p:cNvSpPr txBox="1"/>
          <p:nvPr/>
        </p:nvSpPr>
        <p:spPr>
          <a:xfrm>
            <a:off x="8734424" y="5181240"/>
            <a:ext cx="172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Scalable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AI-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enabled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relationship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management</a:t>
            </a:r>
            <a:endParaRPr kumimoji="0" lang="tr-T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344B5673-85A8-BA22-DEFF-64B446302FD8}"/>
              </a:ext>
            </a:extLst>
          </p:cNvPr>
          <p:cNvSpPr/>
          <p:nvPr/>
        </p:nvSpPr>
        <p:spPr>
          <a:xfrm>
            <a:off x="10483536" y="2714868"/>
            <a:ext cx="1292852" cy="933732"/>
          </a:xfrm>
          <a:prstGeom prst="roundRect">
            <a:avLst>
              <a:gd name="adj" fmla="val 766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8280CB8C-9BE4-A167-EAF2-44D8286F4044}"/>
              </a:ext>
            </a:extLst>
          </p:cNvPr>
          <p:cNvSpPr/>
          <p:nvPr/>
        </p:nvSpPr>
        <p:spPr>
          <a:xfrm>
            <a:off x="10483536" y="3723967"/>
            <a:ext cx="1292852" cy="897298"/>
          </a:xfrm>
          <a:prstGeom prst="roundRect">
            <a:avLst>
              <a:gd name="adj" fmla="val 766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361074A0-2809-FA5C-2780-5DCEF80CB9CD}"/>
              </a:ext>
            </a:extLst>
          </p:cNvPr>
          <p:cNvSpPr/>
          <p:nvPr/>
        </p:nvSpPr>
        <p:spPr>
          <a:xfrm>
            <a:off x="10483536" y="4711613"/>
            <a:ext cx="1292852" cy="924487"/>
          </a:xfrm>
          <a:prstGeom prst="roundRect">
            <a:avLst>
              <a:gd name="adj" fmla="val 766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ADA5478-CBD3-D886-6E15-EBA68B4508D3}"/>
              </a:ext>
            </a:extLst>
          </p:cNvPr>
          <p:cNvSpPr txBox="1"/>
          <p:nvPr/>
        </p:nvSpPr>
        <p:spPr>
          <a:xfrm>
            <a:off x="10493061" y="2743786"/>
            <a:ext cx="1258255" cy="238389"/>
          </a:xfrm>
          <a:prstGeom prst="rect">
            <a:avLst/>
          </a:prstGeom>
          <a:noFill/>
        </p:spPr>
        <p:txBody>
          <a:bodyPr wrap="square" tIns="18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RM Productivity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64654EA-6CBE-302B-EEA1-FB3F377ED9BE}"/>
              </a:ext>
            </a:extLst>
          </p:cNvPr>
          <p:cNvSpPr txBox="1"/>
          <p:nvPr/>
        </p:nvSpPr>
        <p:spPr>
          <a:xfrm>
            <a:off x="10493061" y="3772534"/>
            <a:ext cx="1258255" cy="276763"/>
          </a:xfrm>
          <a:prstGeom prst="rect">
            <a:avLst/>
          </a:prstGeom>
          <a:noFill/>
        </p:spPr>
        <p:txBody>
          <a:bodyPr wrap="square" tIns="18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Increased</a:t>
            </a:r>
            <a:r>
              <a: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Principality</a:t>
            </a:r>
            <a:endParaRPr kumimoji="0" lang="tr-TR" sz="9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68" name="Chart 167">
            <a:extLst>
              <a:ext uri="{FF2B5EF4-FFF2-40B4-BE49-F238E27FC236}">
                <a16:creationId xmlns:a16="http://schemas.microsoft.com/office/drawing/2014/main" id="{9086CC16-97B7-F708-F4EB-B7FCD421FE51}"/>
              </a:ext>
            </a:extLst>
          </p:cNvPr>
          <p:cNvGraphicFramePr/>
          <p:nvPr/>
        </p:nvGraphicFramePr>
        <p:xfrm>
          <a:off x="10500827" y="2727657"/>
          <a:ext cx="1258255" cy="897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52" name="TextBox 151">
            <a:extLst>
              <a:ext uri="{FF2B5EF4-FFF2-40B4-BE49-F238E27FC236}">
                <a16:creationId xmlns:a16="http://schemas.microsoft.com/office/drawing/2014/main" id="{A43C5021-F7CB-D077-753C-C24118B8F02A}"/>
              </a:ext>
            </a:extLst>
          </p:cNvPr>
          <p:cNvSpPr txBox="1"/>
          <p:nvPr/>
        </p:nvSpPr>
        <p:spPr>
          <a:xfrm>
            <a:off x="10483536" y="2953438"/>
            <a:ext cx="1122677" cy="238389"/>
          </a:xfrm>
          <a:prstGeom prst="rect">
            <a:avLst/>
          </a:prstGeom>
          <a:noFill/>
        </p:spPr>
        <p:txBody>
          <a:bodyPr wrap="square" tIns="18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Increased</a:t>
            </a:r>
            <a:r>
              <a:rPr kumimoji="0" lang="tr-T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RM </a:t>
            </a:r>
            <a:r>
              <a:rPr kumimoji="0" lang="tr-T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interactions</a:t>
            </a:r>
            <a:r>
              <a:rPr kumimoji="0" lang="tr-T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</a:p>
        </p:txBody>
      </p:sp>
      <p:graphicFrame>
        <p:nvGraphicFramePr>
          <p:cNvPr id="169" name="Chart 168">
            <a:extLst>
              <a:ext uri="{FF2B5EF4-FFF2-40B4-BE49-F238E27FC236}">
                <a16:creationId xmlns:a16="http://schemas.microsoft.com/office/drawing/2014/main" id="{37A159F2-BBF1-3A09-D095-66729BF09AB2}"/>
              </a:ext>
            </a:extLst>
          </p:cNvPr>
          <p:cNvGraphicFramePr/>
          <p:nvPr/>
        </p:nvGraphicFramePr>
        <p:xfrm>
          <a:off x="10998490" y="3787877"/>
          <a:ext cx="915822" cy="85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70" name="Arrow: Right 169">
            <a:extLst>
              <a:ext uri="{FF2B5EF4-FFF2-40B4-BE49-F238E27FC236}">
                <a16:creationId xmlns:a16="http://schemas.microsoft.com/office/drawing/2014/main" id="{6A5580F9-A297-8F89-B6DB-98006CB55F88}"/>
              </a:ext>
            </a:extLst>
          </p:cNvPr>
          <p:cNvSpPr/>
          <p:nvPr/>
        </p:nvSpPr>
        <p:spPr>
          <a:xfrm rot="16200000">
            <a:off x="11501800" y="4006888"/>
            <a:ext cx="230505" cy="189142"/>
          </a:xfrm>
          <a:prstGeom prst="rightArrow">
            <a:avLst/>
          </a:prstGeom>
          <a:solidFill>
            <a:srgbClr val="34C1D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71" name="Chart 170">
            <a:extLst>
              <a:ext uri="{FF2B5EF4-FFF2-40B4-BE49-F238E27FC236}">
                <a16:creationId xmlns:a16="http://schemas.microsoft.com/office/drawing/2014/main" id="{734B2714-A5CA-8157-5C7D-DBF06BAD19BD}"/>
              </a:ext>
            </a:extLst>
          </p:cNvPr>
          <p:cNvGraphicFramePr/>
          <p:nvPr/>
        </p:nvGraphicFramePr>
        <p:xfrm>
          <a:off x="10617306" y="4740824"/>
          <a:ext cx="1141776" cy="862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51" name="TextBox 150">
            <a:extLst>
              <a:ext uri="{FF2B5EF4-FFF2-40B4-BE49-F238E27FC236}">
                <a16:creationId xmlns:a16="http://schemas.microsoft.com/office/drawing/2014/main" id="{857E12E0-5926-5CA7-1CAB-75B7B8980BBB}"/>
              </a:ext>
            </a:extLst>
          </p:cNvPr>
          <p:cNvSpPr txBox="1"/>
          <p:nvPr/>
        </p:nvSpPr>
        <p:spPr>
          <a:xfrm>
            <a:off x="10493061" y="4769199"/>
            <a:ext cx="1258255" cy="276763"/>
          </a:xfrm>
          <a:prstGeom prst="rect">
            <a:avLst/>
          </a:prstGeom>
          <a:noFill/>
        </p:spPr>
        <p:txBody>
          <a:bodyPr wrap="square" tIns="18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Increase</a:t>
            </a:r>
            <a:r>
              <a: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</a:t>
            </a:r>
            <a:r>
              <a: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Experience</a:t>
            </a:r>
            <a:endParaRPr kumimoji="0" lang="tr-TR" sz="9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CAF3423-A05F-9CB5-E83A-2478FF1CA4BB}"/>
              </a:ext>
            </a:extLst>
          </p:cNvPr>
          <p:cNvSpPr/>
          <p:nvPr/>
        </p:nvSpPr>
        <p:spPr>
          <a:xfrm>
            <a:off x="0" y="6334812"/>
            <a:ext cx="12185522" cy="548329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28C9246-718D-F3F9-ACBC-2EF20492C05F}"/>
              </a:ext>
            </a:extLst>
          </p:cNvPr>
          <p:cNvSpPr txBox="1"/>
          <p:nvPr/>
        </p:nvSpPr>
        <p:spPr>
          <a:xfrm>
            <a:off x="10483536" y="4177587"/>
            <a:ext cx="786443" cy="444599"/>
          </a:xfrm>
          <a:prstGeom prst="rect">
            <a:avLst/>
          </a:prstGeom>
          <a:noFill/>
        </p:spPr>
        <p:txBody>
          <a:bodyPr wrap="square" tIns="18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More</a:t>
            </a:r>
            <a:r>
              <a:rPr kumimoji="0" lang="tr-T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customer’s</a:t>
            </a:r>
            <a:r>
              <a:rPr kumimoji="0" lang="tr-T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primary</a:t>
            </a:r>
            <a:r>
              <a:rPr kumimoji="0" lang="tr-T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bank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D8E7D961-A179-3AC6-1552-6814FC13FCB1}"/>
              </a:ext>
            </a:extLst>
          </p:cNvPr>
          <p:cNvSpPr txBox="1"/>
          <p:nvPr/>
        </p:nvSpPr>
        <p:spPr>
          <a:xfrm>
            <a:off x="10483536" y="5092825"/>
            <a:ext cx="1122677" cy="238389"/>
          </a:xfrm>
          <a:prstGeom prst="rect">
            <a:avLst/>
          </a:prstGeom>
          <a:noFill/>
        </p:spPr>
        <p:txBody>
          <a:bodyPr wrap="square" tIns="18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Higher</a:t>
            </a:r>
            <a:r>
              <a:rPr kumimoji="0" lang="tr-T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amount</a:t>
            </a:r>
            <a:r>
              <a:rPr kumimoji="0" lang="tr-T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of </a:t>
            </a:r>
            <a:r>
              <a:rPr kumimoji="0" lang="tr-T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quality</a:t>
            </a:r>
            <a:r>
              <a:rPr kumimoji="0" lang="tr-T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contact</a:t>
            </a:r>
            <a:endParaRPr kumimoji="0" lang="tr-T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95AE4222-65A3-D334-7833-1A7779729325}"/>
              </a:ext>
            </a:extLst>
          </p:cNvPr>
          <p:cNvSpPr/>
          <p:nvPr/>
        </p:nvSpPr>
        <p:spPr>
          <a:xfrm>
            <a:off x="2329432" y="3045663"/>
            <a:ext cx="1752039" cy="603749"/>
          </a:xfrm>
          <a:prstGeom prst="roundRect">
            <a:avLst>
              <a:gd name="adj" fmla="val 766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9604439E-662B-BAF9-2749-333DEB564FC7}"/>
              </a:ext>
            </a:extLst>
          </p:cNvPr>
          <p:cNvSpPr/>
          <p:nvPr/>
        </p:nvSpPr>
        <p:spPr>
          <a:xfrm>
            <a:off x="2329432" y="3709833"/>
            <a:ext cx="1752039" cy="908271"/>
          </a:xfrm>
          <a:prstGeom prst="roundRect">
            <a:avLst>
              <a:gd name="adj" fmla="val 766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05F0AD9A-59D9-FA20-201B-15398F4137F4}"/>
              </a:ext>
            </a:extLst>
          </p:cNvPr>
          <p:cNvSpPr/>
          <p:nvPr/>
        </p:nvSpPr>
        <p:spPr>
          <a:xfrm>
            <a:off x="2329432" y="4676106"/>
            <a:ext cx="1752039" cy="961173"/>
          </a:xfrm>
          <a:prstGeom prst="roundRect">
            <a:avLst>
              <a:gd name="adj" fmla="val 766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A18FE4EC-E3FE-8139-B9BA-EDFD34249A7A}"/>
              </a:ext>
            </a:extLst>
          </p:cNvPr>
          <p:cNvSpPr/>
          <p:nvPr/>
        </p:nvSpPr>
        <p:spPr>
          <a:xfrm>
            <a:off x="2354923" y="3232903"/>
            <a:ext cx="549773" cy="3837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Total </a:t>
            </a:r>
            <a:r>
              <a:rPr kumimoji="0" lang="tr-TR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Customers</a:t>
            </a:r>
            <a:endParaRPr kumimoji="0" lang="tr-TR" sz="7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616K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C722975A-09FA-46B4-1815-F7DD596F560D}"/>
              </a:ext>
            </a:extLst>
          </p:cNvPr>
          <p:cNvSpPr txBox="1"/>
          <p:nvPr/>
        </p:nvSpPr>
        <p:spPr>
          <a:xfrm>
            <a:off x="2348324" y="3061290"/>
            <a:ext cx="1234598" cy="157787"/>
          </a:xfrm>
          <a:prstGeom prst="rect">
            <a:avLst/>
          </a:prstGeom>
          <a:noFill/>
        </p:spPr>
        <p:txBody>
          <a:bodyPr wrap="square" lIns="36000" tIns="18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8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Portfolio </a:t>
            </a:r>
            <a:r>
              <a:rPr kumimoji="0" lang="tr-TR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Overview</a:t>
            </a:r>
            <a:endParaRPr kumimoji="0" lang="tr-TR" sz="8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15B28A85-9533-9599-30EF-D00DAEFE0064}"/>
              </a:ext>
            </a:extLst>
          </p:cNvPr>
          <p:cNvSpPr/>
          <p:nvPr/>
        </p:nvSpPr>
        <p:spPr>
          <a:xfrm>
            <a:off x="2934973" y="3232903"/>
            <a:ext cx="549773" cy="3837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New </a:t>
            </a:r>
            <a:r>
              <a:rPr kumimoji="0" lang="tr-TR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to</a:t>
            </a:r>
            <a:r>
              <a:rPr kumimoji="0" lang="tr-T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Segment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111K</a:t>
            </a:r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5A99D9D6-3AD8-3601-ED1F-F17A215496E3}"/>
              </a:ext>
            </a:extLst>
          </p:cNvPr>
          <p:cNvSpPr/>
          <p:nvPr/>
        </p:nvSpPr>
        <p:spPr>
          <a:xfrm>
            <a:off x="3506722" y="3232903"/>
            <a:ext cx="549773" cy="38379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New </a:t>
            </a:r>
            <a:r>
              <a:rPr kumimoji="0" lang="tr-TR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to</a:t>
            </a:r>
            <a:r>
              <a:rPr kumimoji="0" lang="tr-T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129K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B7960E64-F1DC-BB3B-D3FE-73D848C98B11}"/>
              </a:ext>
            </a:extLst>
          </p:cNvPr>
          <p:cNvSpPr txBox="1"/>
          <p:nvPr/>
        </p:nvSpPr>
        <p:spPr>
          <a:xfrm>
            <a:off x="2348324" y="4714206"/>
            <a:ext cx="1234598" cy="157787"/>
          </a:xfrm>
          <a:prstGeom prst="rect">
            <a:avLst/>
          </a:prstGeom>
          <a:noFill/>
        </p:spPr>
        <p:txBody>
          <a:bodyPr wrap="square" lIns="36000" tIns="18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Sector</a:t>
            </a:r>
            <a:r>
              <a:rPr kumimoji="0" lang="tr-TR" sz="8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Distribution</a:t>
            </a: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F3247315-883C-4167-C46D-04D28A477FCC}"/>
              </a:ext>
            </a:extLst>
          </p:cNvPr>
          <p:cNvGrpSpPr/>
          <p:nvPr/>
        </p:nvGrpSpPr>
        <p:grpSpPr>
          <a:xfrm>
            <a:off x="2377140" y="4852017"/>
            <a:ext cx="1709728" cy="692571"/>
            <a:chOff x="2377140" y="4222113"/>
            <a:chExt cx="1709728" cy="692571"/>
          </a:xfrm>
        </p:grpSpPr>
        <p:graphicFrame>
          <p:nvGraphicFramePr>
            <p:cNvPr id="184" name="Chart 183">
              <a:extLst>
                <a:ext uri="{FF2B5EF4-FFF2-40B4-BE49-F238E27FC236}">
                  <a16:creationId xmlns:a16="http://schemas.microsoft.com/office/drawing/2014/main" id="{AAAF9FDB-72B5-E863-DFF8-2F9C2DE2B8AC}"/>
                </a:ext>
              </a:extLst>
            </p:cNvPr>
            <p:cNvGraphicFramePr/>
            <p:nvPr/>
          </p:nvGraphicFramePr>
          <p:xfrm>
            <a:off x="2377140" y="4222113"/>
            <a:ext cx="1709728" cy="69257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6"/>
            </a:graphicData>
          </a:graphic>
        </p:graphicFrame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2566D0F-8325-27A7-73F7-DEE2EB96074D}"/>
                </a:ext>
              </a:extLst>
            </p:cNvPr>
            <p:cNvSpPr/>
            <p:nvPr/>
          </p:nvSpPr>
          <p:spPr>
            <a:xfrm>
              <a:off x="3103242" y="4434154"/>
              <a:ext cx="910271" cy="85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6074FE60-88CB-4894-731B-220A1A757702}"/>
                </a:ext>
              </a:extLst>
            </p:cNvPr>
            <p:cNvSpPr/>
            <p:nvPr/>
          </p:nvSpPr>
          <p:spPr>
            <a:xfrm>
              <a:off x="3103242" y="4625244"/>
              <a:ext cx="910271" cy="85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A972C36-FB5E-7506-5467-E7D3AA8DA12E}"/>
                </a:ext>
              </a:extLst>
            </p:cNvPr>
            <p:cNvSpPr txBox="1"/>
            <p:nvPr/>
          </p:nvSpPr>
          <p:spPr>
            <a:xfrm>
              <a:off x="3078480" y="4300002"/>
              <a:ext cx="643891" cy="553998"/>
            </a:xfrm>
            <a:prstGeom prst="rect">
              <a:avLst/>
            </a:prstGeom>
            <a:noFill/>
          </p:spPr>
          <p:txBody>
            <a:bodyPr wrap="square" lIns="36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Perakende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Ulaşım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Gayrimenkul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Tarım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Diğer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ADD34272-30CC-98BC-CC51-1DD1010FF325}"/>
                </a:ext>
              </a:extLst>
            </p:cNvPr>
            <p:cNvSpPr txBox="1"/>
            <p:nvPr/>
          </p:nvSpPr>
          <p:spPr>
            <a:xfrm>
              <a:off x="3748465" y="4300002"/>
              <a:ext cx="322790" cy="553998"/>
            </a:xfrm>
            <a:prstGeom prst="rect">
              <a:avLst/>
            </a:prstGeom>
            <a:noFill/>
          </p:spPr>
          <p:txBody>
            <a:bodyPr wrap="square" lIns="3600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120K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60K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57K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53K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326K</a:t>
              </a: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2B98B08C-C530-F446-DC0B-EEF83DD17A17}"/>
              </a:ext>
            </a:extLst>
          </p:cNvPr>
          <p:cNvSpPr txBox="1"/>
          <p:nvPr/>
        </p:nvSpPr>
        <p:spPr>
          <a:xfrm>
            <a:off x="2348324" y="3750473"/>
            <a:ext cx="1234598" cy="157787"/>
          </a:xfrm>
          <a:prstGeom prst="rect">
            <a:avLst/>
          </a:prstGeom>
          <a:noFill/>
        </p:spPr>
        <p:txBody>
          <a:bodyPr wrap="square" lIns="36000" tIns="18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</a:t>
            </a:r>
            <a:r>
              <a:rPr kumimoji="0" lang="tr-TR" sz="8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Visits</a:t>
            </a:r>
            <a:endParaRPr kumimoji="0" lang="tr-TR" sz="8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51BADE4A-96A8-D1DF-D883-345F5087748F}"/>
              </a:ext>
            </a:extLst>
          </p:cNvPr>
          <p:cNvSpPr/>
          <p:nvPr/>
        </p:nvSpPr>
        <p:spPr>
          <a:xfrm>
            <a:off x="2942362" y="3967892"/>
            <a:ext cx="599867" cy="563002"/>
          </a:xfrm>
          <a:prstGeom prst="round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SMEs</a:t>
            </a:r>
            <a:endParaRPr kumimoji="0" lang="tr-TR" sz="7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29%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176</a:t>
            </a:r>
            <a:r>
              <a:rPr kumimoji="0" lang="tr-T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__</a:t>
            </a: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86461C5A-3442-3DDC-17B6-6BB065DEB76F}"/>
              </a:ext>
            </a:extLst>
          </p:cNvPr>
          <p:cNvSpPr/>
          <p:nvPr/>
        </p:nvSpPr>
        <p:spPr>
          <a:xfrm>
            <a:off x="3446979" y="3967892"/>
            <a:ext cx="599867" cy="563002"/>
          </a:xfrm>
          <a:prstGeom prst="round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Commercial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73%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187</a:t>
            </a:r>
            <a:r>
              <a:rPr kumimoji="0" lang="tr-T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__</a:t>
            </a:r>
          </a:p>
        </p:txBody>
      </p: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EDF6E22D-96EB-A91C-0BD7-42F2A13758CA}"/>
              </a:ext>
            </a:extLst>
          </p:cNvPr>
          <p:cNvSpPr/>
          <p:nvPr/>
        </p:nvSpPr>
        <p:spPr>
          <a:xfrm>
            <a:off x="2304123" y="4085209"/>
            <a:ext cx="635245" cy="464397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rtlCol="0" anchor="ctr"/>
          <a:lstStyle/>
          <a:p>
            <a:pPr marL="0" marR="0" lvl="0" indent="0" algn="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% </a:t>
            </a:r>
            <a:r>
              <a:rPr kumimoji="0" lang="tr-TR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Customer</a:t>
            </a:r>
            <a:endParaRPr kumimoji="0" lang="tr-TR" sz="7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7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Visit</a:t>
            </a:r>
            <a:r>
              <a:rPr kumimoji="0" lang="tr-TR" sz="7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/ RM</a:t>
            </a: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2A4585D0-DA4D-97CE-2DBF-776287E658EB}"/>
              </a:ext>
            </a:extLst>
          </p:cNvPr>
          <p:cNvCxnSpPr>
            <a:cxnSpLocks/>
          </p:cNvCxnSpPr>
          <p:nvPr/>
        </p:nvCxnSpPr>
        <p:spPr>
          <a:xfrm flipV="1">
            <a:off x="2366933" y="4131858"/>
            <a:ext cx="1609079" cy="0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E2082344-C125-F63D-4D61-EFE3EFA1A3A1}"/>
              </a:ext>
            </a:extLst>
          </p:cNvPr>
          <p:cNvCxnSpPr>
            <a:cxnSpLocks/>
          </p:cNvCxnSpPr>
          <p:nvPr/>
        </p:nvCxnSpPr>
        <p:spPr>
          <a:xfrm flipV="1">
            <a:off x="2366933" y="4356039"/>
            <a:ext cx="1609079" cy="0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hlinkClick r:id="rId17"/>
            <a:extLst>
              <a:ext uri="{FF2B5EF4-FFF2-40B4-BE49-F238E27FC236}">
                <a16:creationId xmlns:a16="http://schemas.microsoft.com/office/drawing/2014/main" id="{46964FCE-2B34-A897-C0DB-D87FEED41F10}"/>
              </a:ext>
            </a:extLst>
          </p:cNvPr>
          <p:cNvSpPr txBox="1"/>
          <p:nvPr/>
        </p:nvSpPr>
        <p:spPr>
          <a:xfrm>
            <a:off x="10500827" y="6419767"/>
            <a:ext cx="1606090" cy="3693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40DE9D-DE47-AF55-9C02-EC17AB878D4F}"/>
              </a:ext>
            </a:extLst>
          </p:cNvPr>
          <p:cNvCxnSpPr/>
          <p:nvPr/>
        </p:nvCxnSpPr>
        <p:spPr>
          <a:xfrm>
            <a:off x="495300" y="5098009"/>
            <a:ext cx="147066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9A70B8A-F250-0343-BB62-DE5601EB7160}"/>
              </a:ext>
            </a:extLst>
          </p:cNvPr>
          <p:cNvSpPr txBox="1"/>
          <p:nvPr/>
        </p:nvSpPr>
        <p:spPr>
          <a:xfrm>
            <a:off x="865457" y="5109290"/>
            <a:ext cx="157380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Product </a:t>
            </a: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focus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&amp;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Lack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of </a:t>
            </a:r>
            <a:r>
              <a:rPr kumimoji="0" lang="tr-TR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planning</a:t>
            </a:r>
            <a:r>
              <a: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&amp;</a:t>
            </a:r>
            <a:r>
              <a: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Activity </a:t>
            </a:r>
            <a:r>
              <a:rPr kumimoji="0" lang="tr-TR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cycle</a:t>
            </a: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tr-TR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ownership</a:t>
            </a:r>
            <a:endParaRPr kumimoji="0" lang="tr-T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7C87ED-EE94-498F-D3D0-8112DD353C9E}"/>
              </a:ext>
            </a:extLst>
          </p:cNvPr>
          <p:cNvSpPr/>
          <p:nvPr/>
        </p:nvSpPr>
        <p:spPr>
          <a:xfrm>
            <a:off x="470945" y="5174190"/>
            <a:ext cx="431172" cy="430370"/>
          </a:xfrm>
          <a:prstGeom prst="ellipse">
            <a:avLst/>
          </a:prstGeom>
          <a:solidFill>
            <a:srgbClr val="EDF0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3C11CE-E211-B124-D0BC-B8B841C0B1C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884" b="89116" l="10000" r="90000">
                        <a14:foregroundMark x1="38991" y1="31223" x2="38991" y2="31223"/>
                        <a14:foregroundMark x1="31193" y1="58297" x2="31193" y2="58297"/>
                        <a14:foregroundMark x1="31193" y1="44541" x2="31193" y2="44541"/>
                        <a14:foregroundMark x1="34174" y1="43231" x2="34174" y2="43231"/>
                        <a14:foregroundMark x1="35321" y1="44978" x2="35321" y2="449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05" b="1105"/>
          <a:stretch/>
        </p:blipFill>
        <p:spPr>
          <a:xfrm>
            <a:off x="494028" y="5190443"/>
            <a:ext cx="394650" cy="405404"/>
          </a:xfrm>
          <a:prstGeom prst="rect">
            <a:avLst/>
          </a:prstGeom>
          <a:effectLst>
            <a:outerShdw sx="101000" sy="101000" algn="ctr" rotWithShape="0">
              <a:prstClr val="black">
                <a:alpha val="63000"/>
              </a:prstClr>
            </a:outerShdw>
          </a:effec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211BBC-9349-32DC-F57C-B88EDC160EB1}"/>
              </a:ext>
            </a:extLst>
          </p:cNvPr>
          <p:cNvSpPr/>
          <p:nvPr/>
        </p:nvSpPr>
        <p:spPr>
          <a:xfrm>
            <a:off x="9985130" y="4343211"/>
            <a:ext cx="394810" cy="187492"/>
          </a:xfrm>
          <a:prstGeom prst="roundRect">
            <a:avLst/>
          </a:prstGeom>
          <a:solidFill>
            <a:srgbClr val="022460"/>
          </a:solidFill>
          <a:ln w="9525"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RCP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87CFF-F82A-4101-D61E-67B1D46C9036}"/>
              </a:ext>
            </a:extLst>
          </p:cNvPr>
          <p:cNvSpPr txBox="1"/>
          <p:nvPr/>
        </p:nvSpPr>
        <p:spPr>
          <a:xfrm>
            <a:off x="2928939" y="5988519"/>
            <a:ext cx="631294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Establishing 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long-term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enterprise client relationship typically requires approximately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six months of advance planning</a:t>
            </a: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, </a:t>
            </a:r>
            <a:r>
              <a:rPr kumimoji="0" lang="tr-T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unlike</a:t>
            </a: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retail</a:t>
            </a: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clients</a:t>
            </a: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2233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54B6821-A1EC-EA06-649A-C37641D9F9ED}"/>
              </a:ext>
            </a:extLst>
          </p:cNvPr>
          <p:cNvSpPr/>
          <p:nvPr/>
        </p:nvSpPr>
        <p:spPr>
          <a:xfrm>
            <a:off x="327212" y="2403239"/>
            <a:ext cx="2268000" cy="385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5B2B53-7187-B9A9-4F3A-0111165626A9}"/>
              </a:ext>
            </a:extLst>
          </p:cNvPr>
          <p:cNvSpPr/>
          <p:nvPr/>
        </p:nvSpPr>
        <p:spPr>
          <a:xfrm>
            <a:off x="0" y="-1"/>
            <a:ext cx="12185522" cy="1994400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7C2D5-A0B3-3683-D462-1FCE1D7466AF}"/>
              </a:ext>
            </a:extLst>
          </p:cNvPr>
          <p:cNvSpPr txBox="1"/>
          <p:nvPr/>
        </p:nvSpPr>
        <p:spPr>
          <a:xfrm>
            <a:off x="251010" y="611626"/>
            <a:ext cx="768399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</a:t>
            </a:r>
            <a:r>
              <a:rPr kumimoji="0" lang="tr-TR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core</a:t>
            </a:r>
            <a:r>
              <a:rPr kumimoji="0" lang="tr-TR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component</a:t>
            </a:r>
            <a:r>
              <a:rPr kumimoji="0" lang="tr-TR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of a </a:t>
            </a:r>
            <a:r>
              <a:rPr lang="tr-TR" sz="1700" dirty="0" err="1">
                <a:solidFill>
                  <a:srgbClr val="34C1D2"/>
                </a:solidFill>
                <a:latin typeface="Aptos" panose="02110004020202020204"/>
              </a:rPr>
              <a:t>successfull</a:t>
            </a:r>
            <a:r>
              <a:rPr lang="tr-TR" sz="1700" dirty="0">
                <a:solidFill>
                  <a:srgbClr val="34C1D2"/>
                </a:solidFill>
                <a:latin typeface="Aptos" panose="02110004020202020204"/>
              </a:rPr>
              <a:t> </a:t>
            </a:r>
            <a:r>
              <a:rPr lang="tr-TR" sz="1700" dirty="0" err="1">
                <a:solidFill>
                  <a:srgbClr val="34C1D2"/>
                </a:solidFill>
                <a:latin typeface="Aptos" panose="02110004020202020204"/>
              </a:rPr>
              <a:t>performance</a:t>
            </a:r>
            <a:r>
              <a:rPr lang="tr-TR" sz="1700" dirty="0">
                <a:solidFill>
                  <a:srgbClr val="34C1D2"/>
                </a:solidFill>
                <a:latin typeface="Aptos" panose="02110004020202020204"/>
              </a:rPr>
              <a:t> </a:t>
            </a:r>
            <a:r>
              <a:rPr lang="tr-TR" sz="1700" dirty="0" err="1">
                <a:solidFill>
                  <a:srgbClr val="34C1D2"/>
                </a:solidFill>
                <a:latin typeface="Aptos" panose="02110004020202020204"/>
              </a:rPr>
              <a:t>management</a:t>
            </a:r>
            <a:endParaRPr kumimoji="0" lang="tr-TR" sz="1700" b="0" i="0" u="none" strike="noStrike" kern="1200" cap="none" spc="0" normalizeH="0" baseline="0" noProof="0" dirty="0">
              <a:ln>
                <a:noFill/>
              </a:ln>
              <a:solidFill>
                <a:srgbClr val="34C1D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194582-7BFB-D6B9-9EE1-FDF0828D9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250" y="0"/>
            <a:ext cx="5887272" cy="2010056"/>
          </a:xfrm>
          <a:prstGeom prst="rect">
            <a:avLst/>
          </a:prstGeom>
        </p:spPr>
      </p:pic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DF8F157A-9CC5-CB32-11D5-85701BAA6FAF}"/>
              </a:ext>
            </a:extLst>
          </p:cNvPr>
          <p:cNvGrpSpPr/>
          <p:nvPr/>
        </p:nvGrpSpPr>
        <p:grpSpPr>
          <a:xfrm>
            <a:off x="327212" y="1635018"/>
            <a:ext cx="11537576" cy="698038"/>
            <a:chOff x="327212" y="1635018"/>
            <a:chExt cx="11537576" cy="698038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44BC0CF-1C8A-7B3C-DC20-40966C3A9F8D}"/>
                </a:ext>
              </a:extLst>
            </p:cNvPr>
            <p:cNvSpPr/>
            <p:nvPr/>
          </p:nvSpPr>
          <p:spPr>
            <a:xfrm>
              <a:off x="327212" y="1635018"/>
              <a:ext cx="11537576" cy="698038"/>
            </a:xfrm>
            <a:prstGeom prst="roundRect">
              <a:avLst/>
            </a:prstGeom>
            <a:solidFill>
              <a:srgbClr val="022460"/>
            </a:solidFill>
            <a:ln w="9525">
              <a:solidFill>
                <a:schemeClr val="tx2">
                  <a:lumMod val="75000"/>
                  <a:lumOff val="2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4619390-A47D-2971-22A2-904E75B3B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06415" y="1780617"/>
              <a:ext cx="590632" cy="43821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72003C5-B245-81CA-5350-ED44EA1CB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72364" y1="33387" x2="72364" y2="33387"/>
                          <a14:foregroundMark x1="63578" y1="39457" x2="63578" y2="39457"/>
                          <a14:foregroundMark x1="49521" y1="40096" x2="49521" y2="40096"/>
                          <a14:foregroundMark x1="49521" y1="51917" x2="49521" y2="51917"/>
                          <a14:foregroundMark x1="35463" y1="40895" x2="35463" y2="40895"/>
                          <a14:foregroundMark x1="26518" y1="34984" x2="26518" y2="34984"/>
                          <a14:foregroundMark x1="18371" y1="32748" x2="18371" y2="327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10151" y="1729476"/>
              <a:ext cx="490701" cy="490701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81B40E5-492E-B9FA-8FF4-3A28170D3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4524" y="1724492"/>
              <a:ext cx="628738" cy="54300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1F465454-BE3F-1861-3910-4A82AE65E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28669" y="1734106"/>
              <a:ext cx="562053" cy="485843"/>
            </a:xfrm>
            <a:prstGeom prst="rect">
              <a:avLst/>
            </a:prstGeom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A69D0EE-F442-8C9C-B0B6-23943873CB03}"/>
                </a:ext>
              </a:extLst>
            </p:cNvPr>
            <p:cNvCxnSpPr/>
            <p:nvPr/>
          </p:nvCxnSpPr>
          <p:spPr>
            <a:xfrm>
              <a:off x="2595212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1627677-7314-8455-C230-2533695E9D5E}"/>
                </a:ext>
              </a:extLst>
            </p:cNvPr>
            <p:cNvCxnSpPr/>
            <p:nvPr/>
          </p:nvCxnSpPr>
          <p:spPr>
            <a:xfrm>
              <a:off x="5255575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B37961-40D6-2BA1-DE8A-B65CC6F4D7BC}"/>
                </a:ext>
              </a:extLst>
            </p:cNvPr>
            <p:cNvCxnSpPr/>
            <p:nvPr/>
          </p:nvCxnSpPr>
          <p:spPr>
            <a:xfrm>
              <a:off x="8184965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A8CEB40-25C6-DD18-4500-1F95BC97984B}"/>
                </a:ext>
              </a:extLst>
            </p:cNvPr>
            <p:cNvSpPr txBox="1"/>
            <p:nvPr/>
          </p:nvSpPr>
          <p:spPr>
            <a:xfrm>
              <a:off x="3578245" y="1679843"/>
              <a:ext cx="12365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30+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2B1DD53-C25B-7918-2097-081EEEAB6C34}"/>
                </a:ext>
              </a:extLst>
            </p:cNvPr>
            <p:cNvSpPr txBox="1"/>
            <p:nvPr/>
          </p:nvSpPr>
          <p:spPr>
            <a:xfrm>
              <a:off x="6141662" y="1679840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Calibri" panose="020F0502020204030204" pitchFamily="34" charset="0"/>
                </a:rPr>
                <a:t>200+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B31349-E11F-E371-ECAA-4E277512E659}"/>
                </a:ext>
              </a:extLst>
            </p:cNvPr>
            <p:cNvSpPr txBox="1"/>
            <p:nvPr/>
          </p:nvSpPr>
          <p:spPr>
            <a:xfrm>
              <a:off x="1061900" y="1680877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C544F6E-1058-CC38-D31D-70AB243B7355}"/>
                </a:ext>
              </a:extLst>
            </p:cNvPr>
            <p:cNvSpPr txBox="1"/>
            <p:nvPr/>
          </p:nvSpPr>
          <p:spPr>
            <a:xfrm>
              <a:off x="9238763" y="1751563"/>
              <a:ext cx="6434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23B445A-30A3-111F-27B2-77F3776ED619}"/>
                </a:ext>
              </a:extLst>
            </p:cNvPr>
            <p:cNvSpPr txBox="1"/>
            <p:nvPr/>
          </p:nvSpPr>
          <p:spPr>
            <a:xfrm>
              <a:off x="3569281" y="2001357"/>
              <a:ext cx="12235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Analytic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9738018-8E24-A0D7-3DAE-01B667582588}"/>
                </a:ext>
              </a:extLst>
            </p:cNvPr>
            <p:cNvSpPr txBox="1"/>
            <p:nvPr/>
          </p:nvSpPr>
          <p:spPr>
            <a:xfrm>
              <a:off x="6208340" y="2001357"/>
              <a:ext cx="13567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Distinct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Signals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18C0F2B-9456-C31B-F7D2-B615CD2282DA}"/>
                </a:ext>
              </a:extLst>
            </p:cNvPr>
            <p:cNvSpPr txBox="1"/>
            <p:nvPr/>
          </p:nvSpPr>
          <p:spPr>
            <a:xfrm>
              <a:off x="1079830" y="2011356"/>
              <a:ext cx="16581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Layers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F7A6F03-32C5-BCDC-11A2-9360F86B14BC}"/>
                </a:ext>
              </a:extLst>
            </p:cNvPr>
            <p:cNvSpPr txBox="1"/>
            <p:nvPr/>
          </p:nvSpPr>
          <p:spPr>
            <a:xfrm>
              <a:off x="9216823" y="2001357"/>
              <a:ext cx="6875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Engines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49EC395A-F70F-B403-3B1F-46F3853962F3}"/>
                </a:ext>
              </a:extLst>
            </p:cNvPr>
            <p:cNvSpPr txBox="1"/>
            <p:nvPr/>
          </p:nvSpPr>
          <p:spPr>
            <a:xfrm>
              <a:off x="10381933" y="1751563"/>
              <a:ext cx="6434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D42C4787-5AEF-49E5-E0B3-C3BF446AD566}"/>
                </a:ext>
              </a:extLst>
            </p:cNvPr>
            <p:cNvSpPr txBox="1"/>
            <p:nvPr/>
          </p:nvSpPr>
          <p:spPr>
            <a:xfrm>
              <a:off x="10359993" y="2001357"/>
              <a:ext cx="6875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Pools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55091A5-7DD8-E342-FB05-959933F640D2}"/>
              </a:ext>
            </a:extLst>
          </p:cNvPr>
          <p:cNvSpPr txBox="1"/>
          <p:nvPr/>
        </p:nvSpPr>
        <p:spPr>
          <a:xfrm>
            <a:off x="242045" y="887671"/>
            <a:ext cx="10912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Signal</a:t>
            </a:r>
            <a:r>
              <a:rPr kumimoji="0" lang="tr-TR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to</a:t>
            </a:r>
            <a:r>
              <a:rPr kumimoji="0" lang="tr-TR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Action, Action </a:t>
            </a:r>
            <a:r>
              <a:rPr kumimoji="0" lang="tr-TR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to</a:t>
            </a:r>
            <a:r>
              <a:rPr kumimoji="0" lang="tr-TR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tr-TR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Success</a:t>
            </a:r>
            <a:endParaRPr kumimoji="0" lang="tr-TR" sz="16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CAF3423-A05F-9CB5-E83A-2478FF1CA4BB}"/>
              </a:ext>
            </a:extLst>
          </p:cNvPr>
          <p:cNvSpPr/>
          <p:nvPr/>
        </p:nvSpPr>
        <p:spPr>
          <a:xfrm>
            <a:off x="0" y="6334812"/>
            <a:ext cx="12185522" cy="548329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91E577F-6E51-7DE6-7A11-8458082A89B1}"/>
              </a:ext>
            </a:extLst>
          </p:cNvPr>
          <p:cNvGrpSpPr/>
          <p:nvPr/>
        </p:nvGrpSpPr>
        <p:grpSpPr>
          <a:xfrm>
            <a:off x="484094" y="2789264"/>
            <a:ext cx="726141" cy="2080442"/>
            <a:chOff x="484094" y="2864680"/>
            <a:chExt cx="726141" cy="208044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99DD19C-4711-7D40-7286-EA6E430DF931}"/>
                </a:ext>
              </a:extLst>
            </p:cNvPr>
            <p:cNvSpPr/>
            <p:nvPr/>
          </p:nvSpPr>
          <p:spPr>
            <a:xfrm>
              <a:off x="484094" y="3421929"/>
              <a:ext cx="726141" cy="3422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900" dirty="0" err="1"/>
                <a:t>Models</a:t>
              </a:r>
              <a:endParaRPr lang="tr-TR" sz="900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A8CEE4F-FA7E-C58E-A44F-9B4E56B6AEB3}"/>
                </a:ext>
              </a:extLst>
            </p:cNvPr>
            <p:cNvSpPr/>
            <p:nvPr/>
          </p:nvSpPr>
          <p:spPr>
            <a:xfrm>
              <a:off x="484094" y="3815564"/>
              <a:ext cx="726141" cy="3422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900" dirty="0" err="1"/>
                <a:t>SQLs</a:t>
              </a:r>
              <a:endParaRPr lang="tr-TR" sz="900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AF81538-F39A-A611-52AA-E4D9F1E95588}"/>
                </a:ext>
              </a:extLst>
            </p:cNvPr>
            <p:cNvSpPr/>
            <p:nvPr/>
          </p:nvSpPr>
          <p:spPr>
            <a:xfrm>
              <a:off x="484094" y="4209199"/>
              <a:ext cx="726141" cy="3422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900" dirty="0"/>
                <a:t>Excel </a:t>
              </a:r>
              <a:r>
                <a:rPr lang="tr-TR" sz="900" dirty="0" err="1"/>
                <a:t>Upload</a:t>
              </a:r>
              <a:endParaRPr lang="tr-TR" sz="900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A60D191-98A2-98BF-47F2-A8F16411ED37}"/>
                </a:ext>
              </a:extLst>
            </p:cNvPr>
            <p:cNvSpPr/>
            <p:nvPr/>
          </p:nvSpPr>
          <p:spPr>
            <a:xfrm>
              <a:off x="484094" y="4602834"/>
              <a:ext cx="726141" cy="3422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900" dirty="0"/>
                <a:t>RM </a:t>
              </a:r>
              <a:r>
                <a:rPr lang="tr-TR" sz="900" dirty="0" err="1"/>
                <a:t>Input</a:t>
              </a:r>
              <a:endParaRPr lang="tr-TR" sz="9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F00C64A-77A0-C7AF-19AD-3776697D11CA}"/>
                </a:ext>
              </a:extLst>
            </p:cNvPr>
            <p:cNvSpPr txBox="1"/>
            <p:nvPr/>
          </p:nvSpPr>
          <p:spPr>
            <a:xfrm>
              <a:off x="484094" y="2864680"/>
              <a:ext cx="72614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100" b="1" dirty="0" err="1"/>
                <a:t>Signal</a:t>
              </a:r>
              <a:r>
                <a:rPr lang="tr-TR" sz="1100" b="1" dirty="0"/>
                <a:t> </a:t>
              </a:r>
              <a:r>
                <a:rPr lang="tr-TR" sz="1100" b="1" dirty="0" err="1"/>
                <a:t>Sources</a:t>
              </a:r>
              <a:endParaRPr lang="tr-TR" sz="1100" b="1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5AB28C-7D7E-BBE1-B2C1-F4F985B884A7}"/>
                </a:ext>
              </a:extLst>
            </p:cNvPr>
            <p:cNvCxnSpPr>
              <a:cxnSpLocks/>
            </p:cNvCxnSpPr>
            <p:nvPr/>
          </p:nvCxnSpPr>
          <p:spPr>
            <a:xfrm>
              <a:off x="484094" y="3305156"/>
              <a:ext cx="72614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E77D433-4FF6-973B-6DEC-D67034A0AC03}"/>
              </a:ext>
            </a:extLst>
          </p:cNvPr>
          <p:cNvSpPr/>
          <p:nvPr/>
        </p:nvSpPr>
        <p:spPr>
          <a:xfrm>
            <a:off x="1222152" y="3334729"/>
            <a:ext cx="196337" cy="1538326"/>
          </a:xfrm>
          <a:prstGeom prst="rightBrace">
            <a:avLst>
              <a:gd name="adj1" fmla="val 121539"/>
              <a:gd name="adj2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8B8FF41-3563-2565-3406-01B2F95790A1}"/>
              </a:ext>
            </a:extLst>
          </p:cNvPr>
          <p:cNvGrpSpPr/>
          <p:nvPr/>
        </p:nvGrpSpPr>
        <p:grpSpPr>
          <a:xfrm>
            <a:off x="1001670" y="5161477"/>
            <a:ext cx="926293" cy="342288"/>
            <a:chOff x="1581237" y="5092185"/>
            <a:chExt cx="926293" cy="342288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2390B2BE-0974-EC6B-660E-514C77F7B6C4}"/>
                </a:ext>
              </a:extLst>
            </p:cNvPr>
            <p:cNvSpPr/>
            <p:nvPr/>
          </p:nvSpPr>
          <p:spPr>
            <a:xfrm>
              <a:off x="1581237" y="5092185"/>
              <a:ext cx="926293" cy="342288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rtlCol="0" anchor="ctr"/>
            <a:lstStyle/>
            <a:p>
              <a:pPr algn="r"/>
              <a:r>
                <a:rPr lang="tr-TR" sz="900" b="1" dirty="0" err="1"/>
                <a:t>Governance</a:t>
              </a:r>
              <a:endParaRPr lang="tr-TR" sz="900" b="1" dirty="0"/>
            </a:p>
          </p:txBody>
        </p:sp>
        <p:pic>
          <p:nvPicPr>
            <p:cNvPr id="1026" name="Picture 2" descr="85,500+ Security Staff Icon Stock Illustrations, Royalty-Free Vector  Graphics &amp; Clip Art - iStock">
              <a:extLst>
                <a:ext uri="{FF2B5EF4-FFF2-40B4-BE49-F238E27FC236}">
                  <a16:creationId xmlns:a16="http://schemas.microsoft.com/office/drawing/2014/main" id="{1FE23905-27C9-FAD7-1FA7-3D2104A6B4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27451" b="73693" l="31373" r="67157">
                          <a14:foregroundMark x1="31373" y1="41340" x2="31373" y2="41340"/>
                          <a14:foregroundMark x1="42647" y1="51307" x2="42647" y2="51307"/>
                          <a14:foregroundMark x1="67157" y1="43301" x2="67157" y2="43301"/>
                          <a14:foregroundMark x1="49673" y1="27451" x2="49673" y2="27451"/>
                          <a14:foregroundMark x1="50327" y1="73693" x2="50327" y2="7369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65" t="23185" r="28931" b="23991"/>
            <a:stretch/>
          </p:blipFill>
          <p:spPr bwMode="auto">
            <a:xfrm>
              <a:off x="1603382" y="5114355"/>
              <a:ext cx="210914" cy="25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EB459E7-C609-586C-E091-ED46930322EB}"/>
              </a:ext>
            </a:extLst>
          </p:cNvPr>
          <p:cNvSpPr txBox="1"/>
          <p:nvPr/>
        </p:nvSpPr>
        <p:spPr>
          <a:xfrm>
            <a:off x="936565" y="5505342"/>
            <a:ext cx="1485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800" dirty="0" err="1"/>
              <a:t>Signal</a:t>
            </a:r>
            <a:r>
              <a:rPr lang="tr-TR" sz="800" dirty="0"/>
              <a:t> </a:t>
            </a:r>
            <a:r>
              <a:rPr lang="tr-TR" sz="800" dirty="0" err="1"/>
              <a:t>Owner</a:t>
            </a:r>
            <a:endParaRPr lang="tr-TR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800" dirty="0" err="1"/>
              <a:t>Quality</a:t>
            </a:r>
            <a:r>
              <a:rPr lang="tr-TR" sz="800" dirty="0"/>
              <a:t>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800" dirty="0" err="1"/>
              <a:t>Audit</a:t>
            </a:r>
            <a:r>
              <a:rPr lang="tr-TR" sz="800" dirty="0"/>
              <a:t> / </a:t>
            </a:r>
            <a:r>
              <a:rPr lang="tr-TR" sz="800" dirty="0" err="1"/>
              <a:t>Change</a:t>
            </a:r>
            <a:r>
              <a:rPr lang="tr-TR" sz="800" dirty="0"/>
              <a:t> </a:t>
            </a:r>
            <a:r>
              <a:rPr lang="tr-TR" sz="800" dirty="0" err="1"/>
              <a:t>Mngmtn</a:t>
            </a:r>
            <a:endParaRPr lang="tr-TR" sz="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DBBD3E-ABAA-D6CE-5D74-A604EC59D0BE}"/>
              </a:ext>
            </a:extLst>
          </p:cNvPr>
          <p:cNvSpPr txBox="1"/>
          <p:nvPr/>
        </p:nvSpPr>
        <p:spPr>
          <a:xfrm>
            <a:off x="787185" y="2403238"/>
            <a:ext cx="1460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b="1" dirty="0">
                <a:solidFill>
                  <a:schemeClr val="bg1">
                    <a:lumMod val="50000"/>
                  </a:schemeClr>
                </a:solidFill>
              </a:rPr>
              <a:t>CAPTURE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318CE19-E012-19F9-BBCE-C4AEB8DC4990}"/>
              </a:ext>
            </a:extLst>
          </p:cNvPr>
          <p:cNvGrpSpPr/>
          <p:nvPr/>
        </p:nvGrpSpPr>
        <p:grpSpPr>
          <a:xfrm>
            <a:off x="2642986" y="2403238"/>
            <a:ext cx="2268000" cy="3856158"/>
            <a:chOff x="2859740" y="2478654"/>
            <a:chExt cx="2472549" cy="385615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CBA4B5D-DFC0-FD97-41D1-A5F821DAB076}"/>
                </a:ext>
              </a:extLst>
            </p:cNvPr>
            <p:cNvSpPr/>
            <p:nvPr/>
          </p:nvSpPr>
          <p:spPr>
            <a:xfrm>
              <a:off x="2859740" y="2478655"/>
              <a:ext cx="2472549" cy="38561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2245BAF-FB90-AF87-E1FF-3F788DAA8872}"/>
                </a:ext>
              </a:extLst>
            </p:cNvPr>
            <p:cNvSpPr txBox="1"/>
            <p:nvPr/>
          </p:nvSpPr>
          <p:spPr>
            <a:xfrm>
              <a:off x="3362902" y="2478654"/>
              <a:ext cx="14602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400" b="1" dirty="0">
                  <a:solidFill>
                    <a:schemeClr val="bg1">
                      <a:lumMod val="50000"/>
                    </a:schemeClr>
                  </a:solidFill>
                </a:rPr>
                <a:t>TRANSFORM</a:t>
              </a:r>
            </a:p>
          </p:txBody>
        </p:sp>
      </p:grp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DD97A086-C56C-F950-C159-E48DC8A9835E}"/>
              </a:ext>
            </a:extLst>
          </p:cNvPr>
          <p:cNvSpPr/>
          <p:nvPr/>
        </p:nvSpPr>
        <p:spPr>
          <a:xfrm>
            <a:off x="2653986" y="3287502"/>
            <a:ext cx="726141" cy="34228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36000" rtlCol="0" anchor="ctr"/>
          <a:lstStyle/>
          <a:p>
            <a:pPr algn="ctr"/>
            <a:r>
              <a:rPr lang="tr-TR" sz="900" b="1" dirty="0" err="1"/>
              <a:t>Enrichment</a:t>
            </a:r>
            <a:endParaRPr lang="tr-TR" sz="900" b="1" dirty="0"/>
          </a:p>
        </p:txBody>
      </p:sp>
      <p:sp>
        <p:nvSpPr>
          <p:cNvPr id="102" name="Isosceles Triangle 101">
            <a:extLst>
              <a:ext uri="{FF2B5EF4-FFF2-40B4-BE49-F238E27FC236}">
                <a16:creationId xmlns:a16="http://schemas.microsoft.com/office/drawing/2014/main" id="{38C99688-6D17-D15D-BF2C-A3B67C35720A}"/>
              </a:ext>
            </a:extLst>
          </p:cNvPr>
          <p:cNvSpPr/>
          <p:nvPr/>
        </p:nvSpPr>
        <p:spPr>
          <a:xfrm rot="10800000">
            <a:off x="2805822" y="3652257"/>
            <a:ext cx="445756" cy="11776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FC85AE4-3F44-20BA-1663-A1C46B6C19F8}"/>
              </a:ext>
            </a:extLst>
          </p:cNvPr>
          <p:cNvGrpSpPr/>
          <p:nvPr/>
        </p:nvGrpSpPr>
        <p:grpSpPr>
          <a:xfrm>
            <a:off x="2652013" y="3814940"/>
            <a:ext cx="686118" cy="456091"/>
            <a:chOff x="2680379" y="3732294"/>
            <a:chExt cx="830203" cy="551870"/>
          </a:xfrm>
        </p:grpSpPr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824B814D-E25B-829F-AC0D-C29A1A2E0839}"/>
                </a:ext>
              </a:extLst>
            </p:cNvPr>
            <p:cNvSpPr/>
            <p:nvPr/>
          </p:nvSpPr>
          <p:spPr>
            <a:xfrm>
              <a:off x="2680379" y="3732294"/>
              <a:ext cx="726141" cy="414169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900" b="1" dirty="0" err="1"/>
                <a:t>Sub-Signals</a:t>
              </a:r>
              <a:endParaRPr lang="tr-TR" sz="900" b="1" dirty="0"/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AFA1CA0D-49C3-0C4D-4B48-9B3BCBAAB2C8}"/>
                </a:ext>
              </a:extLst>
            </p:cNvPr>
            <p:cNvSpPr/>
            <p:nvPr/>
          </p:nvSpPr>
          <p:spPr>
            <a:xfrm>
              <a:off x="2727059" y="3794483"/>
              <a:ext cx="726141" cy="414169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900" b="1" dirty="0" err="1"/>
                <a:t>Sub-Signals</a:t>
              </a:r>
              <a:endParaRPr lang="tr-TR" sz="900" b="1" dirty="0"/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4349372B-CD5D-0470-57FD-58C80C223E4A}"/>
                </a:ext>
              </a:extLst>
            </p:cNvPr>
            <p:cNvSpPr/>
            <p:nvPr/>
          </p:nvSpPr>
          <p:spPr>
            <a:xfrm>
              <a:off x="2784441" y="3869995"/>
              <a:ext cx="726141" cy="414169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900" b="1" dirty="0" err="1"/>
                <a:t>Sub-Signals</a:t>
              </a:r>
              <a:endParaRPr lang="tr-TR" sz="900" b="1" dirty="0"/>
            </a:p>
          </p:txBody>
        </p:sp>
      </p:grpSp>
      <p:pic>
        <p:nvPicPr>
          <p:cNvPr id="127" name="Picture 126">
            <a:extLst>
              <a:ext uri="{FF2B5EF4-FFF2-40B4-BE49-F238E27FC236}">
                <a16:creationId xmlns:a16="http://schemas.microsoft.com/office/drawing/2014/main" id="{1762971F-B131-AFA5-1B7A-109B7AC857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44" b="89776" l="5911" r="93770">
                        <a14:foregroundMark x1="6070" y1="42652" x2="6070" y2="42652"/>
                        <a14:foregroundMark x1="44249" y1="69808" x2="44249" y2="69808"/>
                        <a14:foregroundMark x1="50000" y1="70447" x2="50000" y2="70447"/>
                        <a14:foregroundMark x1="93770" y1="61022" x2="93770" y2="610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7039" y="3675808"/>
            <a:ext cx="732487" cy="73248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681EEA69-84C2-B4BC-7C0B-10507DBEE7E8}"/>
              </a:ext>
            </a:extLst>
          </p:cNvPr>
          <p:cNvSpPr txBox="1"/>
          <p:nvPr/>
        </p:nvSpPr>
        <p:spPr>
          <a:xfrm>
            <a:off x="3453184" y="3320309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algn="ctr">
              <a:defRPr sz="1100" b="1">
                <a:gradFill flip="none" rotWithShape="1">
                  <a:gsLst>
                    <a:gs pos="0">
                      <a:srgbClr val="049FFE"/>
                    </a:gs>
                    <a:gs pos="100000">
                      <a:srgbClr val="DE3B5D"/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2700000" scaled="1"/>
                  <a:tileRect/>
                </a:gradFill>
              </a:defRPr>
            </a:lvl1pPr>
          </a:lstStyle>
          <a:p>
            <a:r>
              <a:rPr lang="tr-TR" sz="1200" dirty="0"/>
              <a:t>Action Engine</a:t>
            </a:r>
          </a:p>
        </p:txBody>
      </p:sp>
      <p:sp>
        <p:nvSpPr>
          <p:cNvPr id="155" name="Isosceles Triangle 154">
            <a:extLst>
              <a:ext uri="{FF2B5EF4-FFF2-40B4-BE49-F238E27FC236}">
                <a16:creationId xmlns:a16="http://schemas.microsoft.com/office/drawing/2014/main" id="{5B9553B5-37C3-AAEA-BD7B-45E2C27FC6A8}"/>
              </a:ext>
            </a:extLst>
          </p:cNvPr>
          <p:cNvSpPr/>
          <p:nvPr/>
        </p:nvSpPr>
        <p:spPr>
          <a:xfrm>
            <a:off x="3526157" y="4513292"/>
            <a:ext cx="445756" cy="11776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C2B20A8-373B-3223-4AB3-BA8F15844405}"/>
              </a:ext>
            </a:extLst>
          </p:cNvPr>
          <p:cNvGrpSpPr/>
          <p:nvPr/>
        </p:nvGrpSpPr>
        <p:grpSpPr>
          <a:xfrm>
            <a:off x="3366376" y="5161477"/>
            <a:ext cx="926293" cy="342288"/>
            <a:chOff x="1581237" y="5092185"/>
            <a:chExt cx="926293" cy="342288"/>
          </a:xfrm>
        </p:grpSpPr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AF51585B-2EE5-91C8-2FD7-0D95CAA95EE2}"/>
                </a:ext>
              </a:extLst>
            </p:cNvPr>
            <p:cNvSpPr/>
            <p:nvPr/>
          </p:nvSpPr>
          <p:spPr>
            <a:xfrm>
              <a:off x="1581237" y="5092185"/>
              <a:ext cx="926293" cy="342288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rtlCol="0" anchor="ctr"/>
            <a:lstStyle/>
            <a:p>
              <a:pPr algn="r"/>
              <a:r>
                <a:rPr lang="tr-TR" sz="900" b="1" dirty="0" err="1"/>
                <a:t>Governance</a:t>
              </a:r>
              <a:endParaRPr lang="tr-TR" sz="900" b="1" dirty="0"/>
            </a:p>
          </p:txBody>
        </p:sp>
        <p:pic>
          <p:nvPicPr>
            <p:cNvPr id="158" name="Picture 2" descr="85,500+ Security Staff Icon Stock Illustrations, Royalty-Free Vector  Graphics &amp; Clip Art - iStock">
              <a:extLst>
                <a:ext uri="{FF2B5EF4-FFF2-40B4-BE49-F238E27FC236}">
                  <a16:creationId xmlns:a16="http://schemas.microsoft.com/office/drawing/2014/main" id="{311FC671-C26F-9C16-654F-211B9B43E6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27451" b="73693" l="31373" r="67157">
                          <a14:foregroundMark x1="31373" y1="41340" x2="31373" y2="41340"/>
                          <a14:foregroundMark x1="42647" y1="51307" x2="42647" y2="51307"/>
                          <a14:foregroundMark x1="67157" y1="43301" x2="67157" y2="43301"/>
                          <a14:foregroundMark x1="49673" y1="27451" x2="49673" y2="27451"/>
                          <a14:foregroundMark x1="50327" y1="73693" x2="50327" y2="7369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65" t="23185" r="28931" b="23991"/>
            <a:stretch/>
          </p:blipFill>
          <p:spPr bwMode="auto">
            <a:xfrm>
              <a:off x="1603382" y="5114355"/>
              <a:ext cx="210914" cy="25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839149CD-D3BC-5432-D8AC-36BD9B180B4D}"/>
              </a:ext>
            </a:extLst>
          </p:cNvPr>
          <p:cNvSpPr txBox="1"/>
          <p:nvPr/>
        </p:nvSpPr>
        <p:spPr>
          <a:xfrm>
            <a:off x="3293590" y="5495915"/>
            <a:ext cx="1422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800" dirty="0"/>
              <a:t>Action </a:t>
            </a:r>
            <a:r>
              <a:rPr lang="tr-TR" sz="800" dirty="0" err="1"/>
              <a:t>Owner</a:t>
            </a:r>
            <a:endParaRPr lang="tr-TR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800" dirty="0" err="1"/>
              <a:t>Enrichment</a:t>
            </a:r>
            <a:r>
              <a:rPr lang="tr-TR" sz="800" dirty="0"/>
              <a:t> </a:t>
            </a:r>
            <a:r>
              <a:rPr lang="tr-TR" sz="800" dirty="0" err="1"/>
              <a:t>SQLs</a:t>
            </a:r>
            <a:endParaRPr lang="tr-TR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800" dirty="0" err="1"/>
              <a:t>Quality</a:t>
            </a:r>
            <a:r>
              <a:rPr lang="tr-TR" sz="800" dirty="0"/>
              <a:t>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800" dirty="0" err="1"/>
              <a:t>Audit</a:t>
            </a:r>
            <a:r>
              <a:rPr lang="tr-TR" sz="800" dirty="0"/>
              <a:t> / </a:t>
            </a:r>
            <a:r>
              <a:rPr lang="tr-TR" sz="800" dirty="0" err="1"/>
              <a:t>Change</a:t>
            </a:r>
            <a:r>
              <a:rPr lang="tr-TR" sz="800" dirty="0"/>
              <a:t> </a:t>
            </a:r>
            <a:r>
              <a:rPr lang="tr-TR" sz="800" dirty="0" err="1"/>
              <a:t>Mngmtn</a:t>
            </a:r>
            <a:endParaRPr lang="tr-TR" sz="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F1EC31-F3C6-0944-BB52-E6560F2F8AC9}"/>
              </a:ext>
            </a:extLst>
          </p:cNvPr>
          <p:cNvGrpSpPr/>
          <p:nvPr/>
        </p:nvGrpSpPr>
        <p:grpSpPr>
          <a:xfrm>
            <a:off x="4958761" y="2403238"/>
            <a:ext cx="2268000" cy="3856158"/>
            <a:chOff x="4958761" y="2403238"/>
            <a:chExt cx="2268000" cy="3856158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E8F985FA-F4BC-EE5C-9113-577DE56A9A2E}"/>
                </a:ext>
              </a:extLst>
            </p:cNvPr>
            <p:cNvGrpSpPr/>
            <p:nvPr/>
          </p:nvGrpSpPr>
          <p:grpSpPr>
            <a:xfrm>
              <a:off x="4958761" y="2403238"/>
              <a:ext cx="2268000" cy="3856158"/>
              <a:chOff x="2859740" y="2478654"/>
              <a:chExt cx="2472549" cy="3856158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20733ED-37FF-00F8-4F3F-FEB44C82BFFD}"/>
                  </a:ext>
                </a:extLst>
              </p:cNvPr>
              <p:cNvSpPr/>
              <p:nvPr/>
            </p:nvSpPr>
            <p:spPr>
              <a:xfrm>
                <a:off x="2859740" y="2478655"/>
                <a:ext cx="2472549" cy="3856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829CB63-0023-C82E-3D0E-8BC3BEE82E89}"/>
                  </a:ext>
                </a:extLst>
              </p:cNvPr>
              <p:cNvSpPr txBox="1"/>
              <p:nvPr/>
            </p:nvSpPr>
            <p:spPr>
              <a:xfrm>
                <a:off x="3362902" y="2478654"/>
                <a:ext cx="14602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r-TR" sz="1400" b="1" dirty="0">
                    <a:solidFill>
                      <a:schemeClr val="bg1">
                        <a:lumMod val="50000"/>
                      </a:schemeClr>
                    </a:solidFill>
                  </a:rPr>
                  <a:t>PRIORITIZE</a:t>
                </a:r>
              </a:p>
            </p:txBody>
          </p:sp>
        </p:grpSp>
        <p:pic>
          <p:nvPicPr>
            <p:cNvPr id="160" name="Picture 159">
              <a:extLst>
                <a:ext uri="{FF2B5EF4-FFF2-40B4-BE49-F238E27FC236}">
                  <a16:creationId xmlns:a16="http://schemas.microsoft.com/office/drawing/2014/main" id="{2EB641E3-EC14-7912-3E75-0F8BE2F7E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5272" b="93930" l="3994" r="95208">
                          <a14:foregroundMark x1="17093" y1="9105" x2="17093" y2="9105"/>
                          <a14:foregroundMark x1="22045" y1="5591" x2="22045" y2="5591"/>
                          <a14:foregroundMark x1="4313" y1="19329" x2="4313" y2="19329"/>
                          <a14:foregroundMark x1="15335" y1="23323" x2="15335" y2="23323"/>
                          <a14:foregroundMark x1="50000" y1="18690" x2="50000" y2="18690"/>
                          <a14:foregroundMark x1="54153" y1="24601" x2="54153" y2="24601"/>
                          <a14:foregroundMark x1="61342" y1="43291" x2="61342" y2="43291"/>
                          <a14:foregroundMark x1="62141" y1="49361" x2="62141" y2="49361"/>
                          <a14:foregroundMark x1="63259" y1="56550" x2="63259" y2="56550"/>
                          <a14:foregroundMark x1="64856" y1="62141" x2="64856" y2="62141"/>
                          <a14:foregroundMark x1="73642" y1="59425" x2="73642" y2="59425"/>
                          <a14:foregroundMark x1="84345" y1="49521" x2="84345" y2="49521"/>
                          <a14:foregroundMark x1="85304" y1="53674" x2="85304" y2="53674"/>
                          <a14:foregroundMark x1="86102" y1="49521" x2="86102" y2="49521"/>
                          <a14:foregroundMark x1="89137" y1="52077" x2="89137" y2="52077"/>
                          <a14:foregroundMark x1="94888" y1="60703" x2="94888" y2="60703"/>
                          <a14:foregroundMark x1="95367" y1="74441" x2="95367" y2="74441"/>
                          <a14:foregroundMark x1="60863" y1="75080" x2="60863" y2="75080"/>
                          <a14:foregroundMark x1="59425" y1="80511" x2="59425" y2="80511"/>
                          <a14:foregroundMark x1="52556" y1="87220" x2="52556" y2="87220"/>
                          <a14:foregroundMark x1="29393" y1="87061" x2="29393" y2="87061"/>
                          <a14:foregroundMark x1="36262" y1="93291" x2="56869" y2="93930"/>
                          <a14:foregroundMark x1="73802" y1="87700" x2="73482" y2="76677"/>
                          <a14:foregroundMark x1="70128" y1="74601" x2="55112" y2="74920"/>
                          <a14:foregroundMark x1="45208" y1="87061" x2="53035" y2="87540"/>
                          <a14:backgroundMark x1="20607" y1="52875" x2="20607" y2="52875"/>
                          <a14:backgroundMark x1="83706" y1="52875" x2="83706" y2="5287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98250" y="3573530"/>
              <a:ext cx="732487" cy="73248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27B13430-F9DC-06B3-C8D3-0C0529C89BA0}"/>
                </a:ext>
              </a:extLst>
            </p:cNvPr>
            <p:cNvSpPr txBox="1"/>
            <p:nvPr/>
          </p:nvSpPr>
          <p:spPr>
            <a:xfrm>
              <a:off x="6247607" y="3129562"/>
              <a:ext cx="726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200" b="1" dirty="0" err="1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Scoring</a:t>
              </a:r>
              <a:r>
                <a:rPr lang="tr-TR" sz="1200" b="1" dirty="0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 Engine</a:t>
              </a:r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2FD9B604-E620-FE5E-C84F-D25A4EB9AF68}"/>
                </a:ext>
              </a:extLst>
            </p:cNvPr>
            <p:cNvGrpSpPr/>
            <p:nvPr/>
          </p:nvGrpSpPr>
          <p:grpSpPr>
            <a:xfrm>
              <a:off x="6212720" y="4668540"/>
              <a:ext cx="878631" cy="342288"/>
              <a:chOff x="3567678" y="4743956"/>
              <a:chExt cx="878631" cy="342288"/>
            </a:xfrm>
          </p:grpSpPr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A10618FD-D398-A332-FA0F-397A943883E7}"/>
                  </a:ext>
                </a:extLst>
              </p:cNvPr>
              <p:cNvSpPr/>
              <p:nvPr/>
            </p:nvSpPr>
            <p:spPr>
              <a:xfrm>
                <a:off x="3567678" y="4743956"/>
                <a:ext cx="878631" cy="342288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rIns="36000" rtlCol="0" anchor="ctr"/>
              <a:lstStyle/>
              <a:p>
                <a:pPr algn="ctr"/>
                <a:r>
                  <a:rPr lang="tr-TR" sz="900" b="1" dirty="0"/>
                  <a:t>Formula </a:t>
                </a:r>
              </a:p>
              <a:p>
                <a:pPr algn="ctr"/>
                <a:r>
                  <a:rPr lang="tr-TR" sz="900" b="1" dirty="0"/>
                  <a:t>Library</a:t>
                </a:r>
              </a:p>
            </p:txBody>
          </p:sp>
          <p:pic>
            <p:nvPicPr>
              <p:cNvPr id="164" name="Picture 163">
                <a:extLst>
                  <a:ext uri="{FF2B5EF4-FFF2-40B4-BE49-F238E27FC236}">
                    <a16:creationId xmlns:a16="http://schemas.microsoft.com/office/drawing/2014/main" id="{91E7C223-2D5B-F380-CBAD-7A060C5345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ackgroundRemoval t="4205" b="96527" l="3929" r="96786">
                            <a14:foregroundMark x1="30179" y1="27057" x2="30179" y2="27057"/>
                            <a14:foregroundMark x1="49107" y1="22121" x2="49107" y2="22121"/>
                            <a14:foregroundMark x1="50536" y1="4205" x2="50536" y2="4205"/>
                            <a14:foregroundMark x1="19464" y1="78976" x2="19464" y2="78976"/>
                            <a14:foregroundMark x1="15893" y1="91773" x2="15893" y2="91773"/>
                            <a14:foregroundMark x1="38393" y1="74406" x2="38393" y2="74406"/>
                            <a14:foregroundMark x1="49464" y1="93419" x2="49464" y2="93419"/>
                            <a14:foregroundMark x1="65714" y1="92687" x2="65714" y2="92687"/>
                            <a14:foregroundMark x1="81250" y1="92870" x2="81607" y2="92870"/>
                            <a14:foregroundMark x1="91964" y1="96527" x2="91964" y2="96527"/>
                            <a14:foregroundMark x1="91964" y1="92687" x2="91964" y2="92687"/>
                            <a14:foregroundMark x1="96786" y1="95247" x2="96786" y2="95247"/>
                            <a14:foregroundMark x1="7857" y1="35283" x2="7857" y2="35283"/>
                            <a14:foregroundMark x1="3929" y1="95795" x2="3929" y2="95795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623250" y="4795842"/>
                <a:ext cx="238673" cy="233132"/>
              </a:xfrm>
              <a:prstGeom prst="rect">
                <a:avLst/>
              </a:prstGeom>
            </p:spPr>
          </p:pic>
        </p:grpSp>
        <p:sp>
          <p:nvSpPr>
            <p:cNvPr id="165" name="Isosceles Triangle 164">
              <a:extLst>
                <a:ext uri="{FF2B5EF4-FFF2-40B4-BE49-F238E27FC236}">
                  <a16:creationId xmlns:a16="http://schemas.microsoft.com/office/drawing/2014/main" id="{09EA1E21-934C-C3A3-74DF-F0137DEDCD4E}"/>
                </a:ext>
              </a:extLst>
            </p:cNvPr>
            <p:cNvSpPr/>
            <p:nvPr/>
          </p:nvSpPr>
          <p:spPr>
            <a:xfrm>
              <a:off x="6434091" y="4513292"/>
              <a:ext cx="445756" cy="11776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66BE0F5F-4703-F693-461E-961E225DB7CB}"/>
                </a:ext>
              </a:extLst>
            </p:cNvPr>
            <p:cNvGrpSpPr/>
            <p:nvPr/>
          </p:nvGrpSpPr>
          <p:grpSpPr>
            <a:xfrm>
              <a:off x="5122982" y="2788900"/>
              <a:ext cx="726141" cy="2080442"/>
              <a:chOff x="484094" y="2864680"/>
              <a:chExt cx="726141" cy="2080442"/>
            </a:xfrm>
          </p:grpSpPr>
          <p:sp>
            <p:nvSpPr>
              <p:cNvPr id="180" name="Rectangle: Rounded Corners 179">
                <a:extLst>
                  <a:ext uri="{FF2B5EF4-FFF2-40B4-BE49-F238E27FC236}">
                    <a16:creationId xmlns:a16="http://schemas.microsoft.com/office/drawing/2014/main" id="{8D068763-AF1A-FD43-CB8B-D7361BF4193A}"/>
                  </a:ext>
                </a:extLst>
              </p:cNvPr>
              <p:cNvSpPr/>
              <p:nvPr/>
            </p:nvSpPr>
            <p:spPr>
              <a:xfrm>
                <a:off x="484094" y="3421929"/>
                <a:ext cx="726141" cy="342288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900" dirty="0"/>
                  <a:t>RM </a:t>
                </a:r>
                <a:r>
                  <a:rPr lang="tr-TR" sz="900" dirty="0" err="1"/>
                  <a:t>KPIs</a:t>
                </a:r>
                <a:endParaRPr lang="tr-TR" sz="900" dirty="0"/>
              </a:p>
            </p:txBody>
          </p:sp>
          <p:sp>
            <p:nvSpPr>
              <p:cNvPr id="1024" name="Rectangle: Rounded Corners 1023">
                <a:extLst>
                  <a:ext uri="{FF2B5EF4-FFF2-40B4-BE49-F238E27FC236}">
                    <a16:creationId xmlns:a16="http://schemas.microsoft.com/office/drawing/2014/main" id="{CD0AC2AE-DD3D-0D86-F5D5-40570825C5DA}"/>
                  </a:ext>
                </a:extLst>
              </p:cNvPr>
              <p:cNvSpPr/>
              <p:nvPr/>
            </p:nvSpPr>
            <p:spPr>
              <a:xfrm>
                <a:off x="484094" y="3815564"/>
                <a:ext cx="726141" cy="342288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r>
                  <a:rPr lang="tr-TR" sz="900" dirty="0"/>
                  <a:t>Org. </a:t>
                </a:r>
                <a:r>
                  <a:rPr lang="tr-TR" sz="900" dirty="0" err="1"/>
                  <a:t>Priorities</a:t>
                </a:r>
                <a:endParaRPr lang="tr-TR" sz="900" dirty="0"/>
              </a:p>
            </p:txBody>
          </p:sp>
          <p:sp>
            <p:nvSpPr>
              <p:cNvPr id="1025" name="Rectangle: Rounded Corners 1024">
                <a:extLst>
                  <a:ext uri="{FF2B5EF4-FFF2-40B4-BE49-F238E27FC236}">
                    <a16:creationId xmlns:a16="http://schemas.microsoft.com/office/drawing/2014/main" id="{C8772A8F-2821-A07D-BA5B-E1F65F1C4C28}"/>
                  </a:ext>
                </a:extLst>
              </p:cNvPr>
              <p:cNvSpPr/>
              <p:nvPr/>
            </p:nvSpPr>
            <p:spPr>
              <a:xfrm>
                <a:off x="484094" y="4209199"/>
                <a:ext cx="726141" cy="342288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900" dirty="0" err="1"/>
                  <a:t>Customer</a:t>
                </a:r>
                <a:r>
                  <a:rPr lang="tr-TR" sz="900" dirty="0"/>
                  <a:t> </a:t>
                </a:r>
                <a:r>
                  <a:rPr lang="tr-TR" sz="900" dirty="0" err="1"/>
                  <a:t>Reqrmnts</a:t>
                </a:r>
                <a:endParaRPr lang="tr-TR" sz="900" dirty="0"/>
              </a:p>
            </p:txBody>
          </p:sp>
          <p:sp>
            <p:nvSpPr>
              <p:cNvPr id="1027" name="Rectangle: Rounded Corners 1026">
                <a:extLst>
                  <a:ext uri="{FF2B5EF4-FFF2-40B4-BE49-F238E27FC236}">
                    <a16:creationId xmlns:a16="http://schemas.microsoft.com/office/drawing/2014/main" id="{0B3BF02D-1E01-3650-4005-BD743F81AC68}"/>
                  </a:ext>
                </a:extLst>
              </p:cNvPr>
              <p:cNvSpPr/>
              <p:nvPr/>
            </p:nvSpPr>
            <p:spPr>
              <a:xfrm>
                <a:off x="484094" y="4602834"/>
                <a:ext cx="726141" cy="342288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900" dirty="0" err="1"/>
                  <a:t>Profitblty</a:t>
                </a:r>
                <a:endParaRPr lang="tr-TR" sz="900" dirty="0"/>
              </a:p>
            </p:txBody>
          </p:sp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046C4DD6-52E9-03E3-414D-BE7F85EEDA39}"/>
                  </a:ext>
                </a:extLst>
              </p:cNvPr>
              <p:cNvSpPr txBox="1"/>
              <p:nvPr/>
            </p:nvSpPr>
            <p:spPr>
              <a:xfrm>
                <a:off x="484094" y="2864680"/>
                <a:ext cx="72614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r-TR" sz="1100" b="1" dirty="0" err="1"/>
                  <a:t>Priority</a:t>
                </a:r>
                <a:r>
                  <a:rPr lang="tr-TR" sz="1100" b="1" dirty="0"/>
                  <a:t> </a:t>
                </a:r>
                <a:r>
                  <a:rPr lang="tr-TR" sz="1100" b="1" dirty="0" err="1"/>
                  <a:t>Signals</a:t>
                </a:r>
                <a:endParaRPr lang="tr-TR" sz="1100" b="1" dirty="0"/>
              </a:p>
            </p:txBody>
          </p:sp>
          <p:cxnSp>
            <p:nvCxnSpPr>
              <p:cNvPr id="1029" name="Straight Connector 1028">
                <a:extLst>
                  <a:ext uri="{FF2B5EF4-FFF2-40B4-BE49-F238E27FC236}">
                    <a16:creationId xmlns:a16="http://schemas.microsoft.com/office/drawing/2014/main" id="{A230C4E8-DC4F-1E2D-BA58-8E5501ADB8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094" y="3305156"/>
                <a:ext cx="7261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30" name="Right Brace 1029">
              <a:extLst>
                <a:ext uri="{FF2B5EF4-FFF2-40B4-BE49-F238E27FC236}">
                  <a16:creationId xmlns:a16="http://schemas.microsoft.com/office/drawing/2014/main" id="{17B91054-1567-6464-E072-4B3F0B7FCE0A}"/>
                </a:ext>
              </a:extLst>
            </p:cNvPr>
            <p:cNvSpPr/>
            <p:nvPr/>
          </p:nvSpPr>
          <p:spPr>
            <a:xfrm>
              <a:off x="5861040" y="3334365"/>
              <a:ext cx="196337" cy="1538326"/>
            </a:xfrm>
            <a:prstGeom prst="rightBrace">
              <a:avLst>
                <a:gd name="adj1" fmla="val 121539"/>
                <a:gd name="adj2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3559E08D-3A28-BD2F-467C-82ED8D99AD88}"/>
                </a:ext>
              </a:extLst>
            </p:cNvPr>
            <p:cNvGrpSpPr/>
            <p:nvPr/>
          </p:nvGrpSpPr>
          <p:grpSpPr>
            <a:xfrm>
              <a:off x="5613062" y="5161477"/>
              <a:ext cx="926293" cy="342288"/>
              <a:chOff x="1581237" y="5092185"/>
              <a:chExt cx="926293" cy="342288"/>
            </a:xfrm>
          </p:grpSpPr>
          <p:sp>
            <p:nvSpPr>
              <p:cNvPr id="1032" name="Rectangle: Rounded Corners 1031">
                <a:extLst>
                  <a:ext uri="{FF2B5EF4-FFF2-40B4-BE49-F238E27FC236}">
                    <a16:creationId xmlns:a16="http://schemas.microsoft.com/office/drawing/2014/main" id="{30F77FD3-2530-8294-B1D0-3D7DB88BD96D}"/>
                  </a:ext>
                </a:extLst>
              </p:cNvPr>
              <p:cNvSpPr/>
              <p:nvPr/>
            </p:nvSpPr>
            <p:spPr>
              <a:xfrm>
                <a:off x="1581237" y="5092185"/>
                <a:ext cx="926293" cy="342288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rtlCol="0" anchor="ctr"/>
              <a:lstStyle/>
              <a:p>
                <a:pPr algn="r"/>
                <a:r>
                  <a:rPr lang="tr-TR" sz="900" b="1" dirty="0" err="1"/>
                  <a:t>Governance</a:t>
                </a:r>
                <a:endParaRPr lang="tr-TR" sz="900" b="1" dirty="0"/>
              </a:p>
            </p:txBody>
          </p:sp>
          <p:pic>
            <p:nvPicPr>
              <p:cNvPr id="1033" name="Picture 2" descr="85,500+ Security Staff Icon Stock Illustrations, Royalty-Free Vector  Graphics &amp; Clip Art - iStock">
                <a:extLst>
                  <a:ext uri="{FF2B5EF4-FFF2-40B4-BE49-F238E27FC236}">
                    <a16:creationId xmlns:a16="http://schemas.microsoft.com/office/drawing/2014/main" id="{15FBCEDB-9510-FDEF-7FD1-E417843C2A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27451" b="73693" l="31373" r="67157">
                            <a14:foregroundMark x1="31373" y1="41340" x2="31373" y2="41340"/>
                            <a14:foregroundMark x1="42647" y1="51307" x2="42647" y2="51307"/>
                            <a14:foregroundMark x1="67157" y1="43301" x2="67157" y2="43301"/>
                            <a14:foregroundMark x1="49673" y1="27451" x2="49673" y2="27451"/>
                            <a14:foregroundMark x1="50327" y1="73693" x2="50327" y2="7369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465" t="23185" r="28931" b="23991"/>
              <a:stretch/>
            </p:blipFill>
            <p:spPr bwMode="auto">
              <a:xfrm>
                <a:off x="1603382" y="5114355"/>
                <a:ext cx="210914" cy="2555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34" name="TextBox 1033">
              <a:extLst>
                <a:ext uri="{FF2B5EF4-FFF2-40B4-BE49-F238E27FC236}">
                  <a16:creationId xmlns:a16="http://schemas.microsoft.com/office/drawing/2014/main" id="{31C9E881-E41E-6102-EF18-9FAF70B56B67}"/>
                </a:ext>
              </a:extLst>
            </p:cNvPr>
            <p:cNvSpPr txBox="1"/>
            <p:nvPr/>
          </p:nvSpPr>
          <p:spPr>
            <a:xfrm>
              <a:off x="5513244" y="5495915"/>
              <a:ext cx="15966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/>
                <a:t>Strategic </a:t>
              </a:r>
              <a:r>
                <a:rPr lang="tr-TR" sz="800" dirty="0" err="1"/>
                <a:t>Priority</a:t>
              </a:r>
              <a:r>
                <a:rPr lang="tr-TR" sz="800" dirty="0"/>
                <a:t> </a:t>
              </a:r>
              <a:r>
                <a:rPr lang="tr-TR" sz="800" dirty="0" err="1"/>
                <a:t>Owner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Signal</a:t>
              </a:r>
              <a:r>
                <a:rPr lang="tr-TR" sz="800" dirty="0"/>
                <a:t> </a:t>
              </a:r>
              <a:r>
                <a:rPr lang="tr-TR" sz="800" dirty="0" err="1"/>
                <a:t>Weights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Organizational</a:t>
              </a:r>
              <a:r>
                <a:rPr lang="tr-TR" sz="800" dirty="0"/>
                <a:t> </a:t>
              </a:r>
              <a:r>
                <a:rPr lang="tr-TR" sz="800" dirty="0" err="1"/>
                <a:t>Diversity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Audit</a:t>
              </a:r>
              <a:r>
                <a:rPr lang="tr-TR" sz="800" dirty="0"/>
                <a:t> / </a:t>
              </a:r>
              <a:r>
                <a:rPr lang="tr-TR" sz="800" dirty="0" err="1"/>
                <a:t>Change</a:t>
              </a:r>
              <a:r>
                <a:rPr lang="tr-TR" sz="800" dirty="0"/>
                <a:t> </a:t>
              </a:r>
              <a:r>
                <a:rPr lang="tr-TR" sz="800" dirty="0" err="1"/>
                <a:t>Mngmtn</a:t>
              </a:r>
              <a:endParaRPr lang="tr-TR" sz="800" dirty="0"/>
            </a:p>
          </p:txBody>
        </p:sp>
      </p:grp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F7E48D29-4FBB-F332-3208-214FA5473676}"/>
              </a:ext>
            </a:extLst>
          </p:cNvPr>
          <p:cNvSpPr/>
          <p:nvPr/>
        </p:nvSpPr>
        <p:spPr>
          <a:xfrm>
            <a:off x="1585182" y="2788900"/>
            <a:ext cx="995151" cy="22483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1CF7AC5E-2B15-EAE1-38FB-AF491EDAD2FA}"/>
              </a:ext>
            </a:extLst>
          </p:cNvPr>
          <p:cNvSpPr txBox="1"/>
          <p:nvPr/>
        </p:nvSpPr>
        <p:spPr>
          <a:xfrm>
            <a:off x="1695794" y="2790290"/>
            <a:ext cx="7987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err="1">
                <a:solidFill>
                  <a:schemeClr val="accent1">
                    <a:lumMod val="75000"/>
                  </a:schemeClr>
                </a:solidFill>
              </a:rPr>
              <a:t>Signal</a:t>
            </a:r>
            <a:r>
              <a:rPr lang="tr-TR" sz="11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tr-TR" sz="1100" b="1" dirty="0" err="1">
                <a:solidFill>
                  <a:schemeClr val="accent1">
                    <a:lumMod val="75000"/>
                  </a:schemeClr>
                </a:solidFill>
              </a:rPr>
              <a:t>Pool</a:t>
            </a:r>
            <a:endParaRPr lang="tr-TR" sz="1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49" name="Picture 1048">
            <a:extLst>
              <a:ext uri="{FF2B5EF4-FFF2-40B4-BE49-F238E27FC236}">
                <a16:creationId xmlns:a16="http://schemas.microsoft.com/office/drawing/2014/main" id="{1B50C00D-1165-A199-4CBF-565BE8D6086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>
                        <a14:foregroundMark x1="42500" y1="31375" x2="42500" y2="31375"/>
                        <a14:foregroundMark x1="40500" y1="44750" x2="40500" y2="44750"/>
                        <a14:foregroundMark x1="39125" y1="59875" x2="39125" y2="59875"/>
                        <a14:foregroundMark x1="64625" y1="55625" x2="64625" y2="55625"/>
                        <a14:foregroundMark x1="74250" y1="50750" x2="74250" y2="50750"/>
                        <a14:foregroundMark x1="71250" y1="45625" x2="71250" y2="45625"/>
                        <a14:foregroundMark x1="63500" y1="44000" x2="63500" y2="44000"/>
                        <a14:foregroundMark x1="54125" y1="45125" x2="54125" y2="45125"/>
                        <a14:foregroundMark x1="53125" y1="63875" x2="53125" y2="63875"/>
                        <a14:foregroundMark x1="69000" y1="62875" x2="69000" y2="62875"/>
                        <a14:foregroundMark x1="69750" y1="72250" x2="69750" y2="72250"/>
                        <a14:foregroundMark x1="54625" y1="74000" x2="54625" y2="74000"/>
                        <a14:foregroundMark x1="65000" y1="81875" x2="65000" y2="81875"/>
                        <a14:foregroundMark x1="45375" y1="36625" x2="45375" y2="36625"/>
                        <a14:foregroundMark x1="42875" y1="36250" x2="42875" y2="36250"/>
                        <a14:foregroundMark x1="55625" y1="81375" x2="55625" y2="81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6505" y="3733052"/>
            <a:ext cx="765888" cy="765888"/>
          </a:xfrm>
          <a:prstGeom prst="rect">
            <a:avLst/>
          </a:prstGeom>
          <a:effectLst/>
        </p:spPr>
      </p:pic>
      <p:sp>
        <p:nvSpPr>
          <p:cNvPr id="1058" name="Rectangle 1057">
            <a:extLst>
              <a:ext uri="{FF2B5EF4-FFF2-40B4-BE49-F238E27FC236}">
                <a16:creationId xmlns:a16="http://schemas.microsoft.com/office/drawing/2014/main" id="{9F5C4B7D-F76D-8174-67D2-A22103B8FA91}"/>
              </a:ext>
            </a:extLst>
          </p:cNvPr>
          <p:cNvSpPr/>
          <p:nvPr/>
        </p:nvSpPr>
        <p:spPr>
          <a:xfrm>
            <a:off x="4221496" y="2788900"/>
            <a:ext cx="679704" cy="22483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45" name="Picture 1044">
            <a:extLst>
              <a:ext uri="{FF2B5EF4-FFF2-40B4-BE49-F238E27FC236}">
                <a16:creationId xmlns:a16="http://schemas.microsoft.com/office/drawing/2014/main" id="{29138A52-C734-7B5E-8FD7-29797192FF4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>
                        <a14:foregroundMark x1="42500" y1="31375" x2="42500" y2="31375"/>
                        <a14:foregroundMark x1="40500" y1="44750" x2="40500" y2="44750"/>
                        <a14:foregroundMark x1="39125" y1="59875" x2="39125" y2="59875"/>
                        <a14:foregroundMark x1="64625" y1="55625" x2="64625" y2="55625"/>
                        <a14:foregroundMark x1="74250" y1="50750" x2="74250" y2="50750"/>
                        <a14:foregroundMark x1="71250" y1="45625" x2="71250" y2="45625"/>
                        <a14:foregroundMark x1="63500" y1="44000" x2="63500" y2="44000"/>
                        <a14:foregroundMark x1="54125" y1="45125" x2="54125" y2="45125"/>
                        <a14:foregroundMark x1="53125" y1="63875" x2="53125" y2="63875"/>
                        <a14:foregroundMark x1="69000" y1="62875" x2="69000" y2="62875"/>
                        <a14:foregroundMark x1="69750" y1="72250" x2="69750" y2="72250"/>
                        <a14:foregroundMark x1="54625" y1="74000" x2="54625" y2="74000"/>
                        <a14:foregroundMark x1="65000" y1="81875" x2="65000" y2="81875"/>
                        <a14:foregroundMark x1="45375" y1="36625" x2="45375" y2="36625"/>
                        <a14:foregroundMark x1="42875" y1="36250" x2="42875" y2="36250"/>
                        <a14:foregroundMark x1="55625" y1="81375" x2="55625" y2="81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7583" y="3723188"/>
            <a:ext cx="696262" cy="696262"/>
          </a:xfrm>
          <a:prstGeom prst="rect">
            <a:avLst/>
          </a:prstGeom>
          <a:effectLst/>
        </p:spPr>
      </p:pic>
      <p:sp>
        <p:nvSpPr>
          <p:cNvPr id="1048" name="TextBox 1047">
            <a:extLst>
              <a:ext uri="{FF2B5EF4-FFF2-40B4-BE49-F238E27FC236}">
                <a16:creationId xmlns:a16="http://schemas.microsoft.com/office/drawing/2014/main" id="{EBCBBB32-8D3D-F95C-432A-A881427D2979}"/>
              </a:ext>
            </a:extLst>
          </p:cNvPr>
          <p:cNvSpPr txBox="1"/>
          <p:nvPr/>
        </p:nvSpPr>
        <p:spPr>
          <a:xfrm>
            <a:off x="4219252" y="2791239"/>
            <a:ext cx="6601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>
                <a:solidFill>
                  <a:schemeClr val="accent1">
                    <a:lumMod val="75000"/>
                  </a:schemeClr>
                </a:solidFill>
              </a:rPr>
              <a:t>Action </a:t>
            </a:r>
            <a:r>
              <a:rPr lang="tr-TR" sz="1100" b="1" dirty="0" err="1">
                <a:solidFill>
                  <a:schemeClr val="accent1">
                    <a:lumMod val="75000"/>
                  </a:schemeClr>
                </a:solidFill>
              </a:rPr>
              <a:t>Pool</a:t>
            </a:r>
            <a:endParaRPr lang="tr-TR" sz="1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12E81A1D-01C4-6EEB-7343-5B8759C8D1CB}"/>
              </a:ext>
            </a:extLst>
          </p:cNvPr>
          <p:cNvGrpSpPr/>
          <p:nvPr/>
        </p:nvGrpSpPr>
        <p:grpSpPr>
          <a:xfrm>
            <a:off x="3304786" y="4668540"/>
            <a:ext cx="878631" cy="342288"/>
            <a:chOff x="3567678" y="4743956"/>
            <a:chExt cx="878631" cy="342288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03FE9E88-6B63-614F-F3BB-B91255F7DB04}"/>
                </a:ext>
              </a:extLst>
            </p:cNvPr>
            <p:cNvSpPr/>
            <p:nvPr/>
          </p:nvSpPr>
          <p:spPr>
            <a:xfrm>
              <a:off x="3567678" y="4743956"/>
              <a:ext cx="878631" cy="34228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Ins="36000" rtlCol="0" anchor="ctr"/>
            <a:lstStyle/>
            <a:p>
              <a:pPr algn="ctr"/>
              <a:r>
                <a:rPr lang="tr-TR" sz="900" b="1" dirty="0"/>
                <a:t>Action </a:t>
              </a:r>
            </a:p>
            <a:p>
              <a:pPr algn="ctr"/>
              <a:r>
                <a:rPr lang="tr-TR" sz="900" b="1" dirty="0"/>
                <a:t>Library</a:t>
              </a:r>
            </a:p>
          </p:txBody>
        </p:sp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D1AE38C8-BEE5-AFF9-228E-31DB44F14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4205" b="96527" l="3929" r="96786">
                          <a14:foregroundMark x1="30179" y1="27057" x2="30179" y2="27057"/>
                          <a14:foregroundMark x1="49107" y1="22121" x2="49107" y2="22121"/>
                          <a14:foregroundMark x1="50536" y1="4205" x2="50536" y2="4205"/>
                          <a14:foregroundMark x1="19464" y1="78976" x2="19464" y2="78976"/>
                          <a14:foregroundMark x1="15893" y1="91773" x2="15893" y2="91773"/>
                          <a14:foregroundMark x1="38393" y1="74406" x2="38393" y2="74406"/>
                          <a14:foregroundMark x1="49464" y1="93419" x2="49464" y2="93419"/>
                          <a14:foregroundMark x1="65714" y1="92687" x2="65714" y2="92687"/>
                          <a14:foregroundMark x1="81250" y1="92870" x2="81607" y2="92870"/>
                          <a14:foregroundMark x1="91964" y1="96527" x2="91964" y2="96527"/>
                          <a14:foregroundMark x1="91964" y1="92687" x2="91964" y2="92687"/>
                          <a14:foregroundMark x1="96786" y1="95247" x2="96786" y2="95247"/>
                          <a14:foregroundMark x1="7857" y1="35283" x2="7857" y2="35283"/>
                          <a14:foregroundMark x1="3929" y1="95795" x2="3929" y2="9579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3250" y="4795842"/>
              <a:ext cx="238673" cy="233132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CC373DD-5139-4D53-3293-51C3EAE23556}"/>
              </a:ext>
            </a:extLst>
          </p:cNvPr>
          <p:cNvGrpSpPr/>
          <p:nvPr/>
        </p:nvGrpSpPr>
        <p:grpSpPr>
          <a:xfrm>
            <a:off x="7281014" y="2403238"/>
            <a:ext cx="2268000" cy="3856158"/>
            <a:chOff x="7281014" y="2403238"/>
            <a:chExt cx="2268000" cy="3856158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08BE19E2-BFF9-4A4A-10F1-474545781EAB}"/>
                </a:ext>
              </a:extLst>
            </p:cNvPr>
            <p:cNvGrpSpPr/>
            <p:nvPr/>
          </p:nvGrpSpPr>
          <p:grpSpPr>
            <a:xfrm>
              <a:off x="7281014" y="2403238"/>
              <a:ext cx="2268000" cy="3856158"/>
              <a:chOff x="2859740" y="2478654"/>
              <a:chExt cx="2472549" cy="3856158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3A559F8D-3E82-244D-B0EE-65CC82F76327}"/>
                  </a:ext>
                </a:extLst>
              </p:cNvPr>
              <p:cNvSpPr/>
              <p:nvPr/>
            </p:nvSpPr>
            <p:spPr>
              <a:xfrm>
                <a:off x="2859740" y="2478655"/>
                <a:ext cx="2472549" cy="3856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EDB4D06-58C0-E4D1-B760-9EBCC2C7BA56}"/>
                  </a:ext>
                </a:extLst>
              </p:cNvPr>
              <p:cNvSpPr txBox="1"/>
              <p:nvPr/>
            </p:nvSpPr>
            <p:spPr>
              <a:xfrm>
                <a:off x="3362902" y="2478654"/>
                <a:ext cx="14602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r-TR" sz="1400" b="1" dirty="0">
                    <a:solidFill>
                      <a:schemeClr val="bg1">
                        <a:lumMod val="50000"/>
                      </a:schemeClr>
                    </a:solidFill>
                  </a:rPr>
                  <a:t>ACTIVATE</a:t>
                </a:r>
              </a:p>
            </p:txBody>
          </p:sp>
        </p:grpSp>
        <p:pic>
          <p:nvPicPr>
            <p:cNvPr id="1035" name="Picture 1034">
              <a:extLst>
                <a:ext uri="{FF2B5EF4-FFF2-40B4-BE49-F238E27FC236}">
                  <a16:creationId xmlns:a16="http://schemas.microsoft.com/office/drawing/2014/main" id="{293B64BF-4360-4296-5361-3638C97F5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backgroundRemoval t="9809" b="89793" l="7018" r="93301">
                          <a14:foregroundMark x1="93381" y1="25040" x2="93381" y2="25040"/>
                          <a14:foregroundMark x1="88676" y1="22568" x2="88676" y2="22568"/>
                          <a14:foregroundMark x1="72169" y1="20654" x2="72169" y2="20654"/>
                          <a14:foregroundMark x1="56619" y1="19537" x2="56619" y2="19537"/>
                          <a14:foregroundMark x1="65470" y1="26555" x2="65470" y2="26555"/>
                          <a14:foregroundMark x1="78230" y1="25997" x2="78230" y2="25997"/>
                          <a14:foregroundMark x1="79984" y1="30622" x2="79984" y2="30622"/>
                          <a14:foregroundMark x1="93381" y1="66826" x2="93381" y2="66826"/>
                          <a14:foregroundMark x1="88278" y1="67384" x2="88278" y2="67384"/>
                          <a14:foregroundMark x1="86204" y1="71611" x2="86204" y2="71611"/>
                          <a14:foregroundMark x1="66507" y1="67065" x2="66507" y2="67065"/>
                          <a14:foregroundMark x1="52392" y1="68421" x2="52392" y2="68421"/>
                          <a14:foregroundMark x1="52392" y1="27352" x2="52392" y2="27352"/>
                          <a14:foregroundMark x1="22010" y1="41228" x2="22010" y2="41228"/>
                          <a14:foregroundMark x1="18421" y1="46571" x2="18421" y2="46571"/>
                          <a14:foregroundMark x1="21611" y1="51675" x2="21611" y2="51675"/>
                          <a14:foregroundMark x1="7018" y1="47528" x2="7018" y2="47528"/>
                          <a14:backgroundMark x1="64195" y1="28628" x2="64195" y2="28628"/>
                          <a14:backgroundMark x1="64195" y1="67225" x2="64195" y2="67225"/>
                          <a14:backgroundMark x1="64753" y1="72010" x2="64753" y2="72010"/>
                          <a14:backgroundMark x1="49601" y1="27193" x2="49601" y2="27193"/>
                          <a14:backgroundMark x1="49920" y1="68979" x2="49920" y2="6897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311336" y="3341542"/>
              <a:ext cx="1233471" cy="123347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7B97E3AB-3499-78E4-5995-879662CD74E5}"/>
                </a:ext>
              </a:extLst>
            </p:cNvPr>
            <p:cNvSpPr txBox="1"/>
            <p:nvPr/>
          </p:nvSpPr>
          <p:spPr>
            <a:xfrm>
              <a:off x="7517896" y="3082533"/>
              <a:ext cx="10631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200" b="1" dirty="0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A/B Test </a:t>
              </a:r>
              <a:r>
                <a:rPr lang="tr-TR" sz="1200" b="1" dirty="0" err="1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Split</a:t>
              </a:r>
              <a:r>
                <a:rPr lang="tr-TR" sz="1200" b="1" dirty="0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 Engine</a:t>
              </a:r>
            </a:p>
          </p:txBody>
        </p:sp>
        <p:grpSp>
          <p:nvGrpSpPr>
            <p:cNvPr id="1037" name="Group 1036">
              <a:extLst>
                <a:ext uri="{FF2B5EF4-FFF2-40B4-BE49-F238E27FC236}">
                  <a16:creationId xmlns:a16="http://schemas.microsoft.com/office/drawing/2014/main" id="{6F685C43-4AE4-76C9-6D9B-5024BBA2FC03}"/>
                </a:ext>
              </a:extLst>
            </p:cNvPr>
            <p:cNvGrpSpPr/>
            <p:nvPr/>
          </p:nvGrpSpPr>
          <p:grpSpPr>
            <a:xfrm>
              <a:off x="7935008" y="5161477"/>
              <a:ext cx="926293" cy="342288"/>
              <a:chOff x="1581237" y="5092185"/>
              <a:chExt cx="926293" cy="342288"/>
            </a:xfrm>
          </p:grpSpPr>
          <p:sp>
            <p:nvSpPr>
              <p:cNvPr id="1038" name="Rectangle: Rounded Corners 1037">
                <a:extLst>
                  <a:ext uri="{FF2B5EF4-FFF2-40B4-BE49-F238E27FC236}">
                    <a16:creationId xmlns:a16="http://schemas.microsoft.com/office/drawing/2014/main" id="{E5496E30-A6C8-51C1-6280-E97AE920A2CC}"/>
                  </a:ext>
                </a:extLst>
              </p:cNvPr>
              <p:cNvSpPr/>
              <p:nvPr/>
            </p:nvSpPr>
            <p:spPr>
              <a:xfrm>
                <a:off x="1581237" y="5092185"/>
                <a:ext cx="926293" cy="342288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rtlCol="0" anchor="ctr"/>
              <a:lstStyle/>
              <a:p>
                <a:pPr algn="r"/>
                <a:r>
                  <a:rPr lang="tr-TR" sz="900" b="1" dirty="0" err="1"/>
                  <a:t>Governance</a:t>
                </a:r>
                <a:endParaRPr lang="tr-TR" sz="900" b="1" dirty="0"/>
              </a:p>
            </p:txBody>
          </p:sp>
          <p:pic>
            <p:nvPicPr>
              <p:cNvPr id="1039" name="Picture 2" descr="85,500+ Security Staff Icon Stock Illustrations, Royalty-Free Vector  Graphics &amp; Clip Art - iStock">
                <a:extLst>
                  <a:ext uri="{FF2B5EF4-FFF2-40B4-BE49-F238E27FC236}">
                    <a16:creationId xmlns:a16="http://schemas.microsoft.com/office/drawing/2014/main" id="{D5C94C7E-CB10-FAC3-91F8-117C4F002C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27451" b="73693" l="31373" r="67157">
                            <a14:foregroundMark x1="31373" y1="41340" x2="31373" y2="41340"/>
                            <a14:foregroundMark x1="42647" y1="51307" x2="42647" y2="51307"/>
                            <a14:foregroundMark x1="67157" y1="43301" x2="67157" y2="43301"/>
                            <a14:foregroundMark x1="49673" y1="27451" x2="49673" y2="27451"/>
                            <a14:foregroundMark x1="50327" y1="73693" x2="50327" y2="7369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465" t="23185" r="28931" b="23991"/>
              <a:stretch/>
            </p:blipFill>
            <p:spPr bwMode="auto">
              <a:xfrm>
                <a:off x="1603382" y="5114355"/>
                <a:ext cx="210914" cy="2555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A6A6318A-3092-A105-65AD-1AD8AAA1F24A}"/>
                </a:ext>
              </a:extLst>
            </p:cNvPr>
            <p:cNvSpPr txBox="1"/>
            <p:nvPr/>
          </p:nvSpPr>
          <p:spPr>
            <a:xfrm>
              <a:off x="7835190" y="5495915"/>
              <a:ext cx="15966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/>
                <a:t>Model </a:t>
              </a:r>
              <a:r>
                <a:rPr lang="tr-TR" sz="800" dirty="0" err="1"/>
                <a:t>Owner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Homogeneity</a:t>
              </a:r>
              <a:r>
                <a:rPr lang="tr-TR" sz="800" dirty="0"/>
                <a:t> </a:t>
              </a:r>
              <a:r>
                <a:rPr lang="tr-TR" sz="800" dirty="0" err="1"/>
                <a:t>Quality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/>
                <a:t>A/B Test </a:t>
              </a:r>
              <a:r>
                <a:rPr lang="tr-TR" sz="800" dirty="0" err="1"/>
                <a:t>Owner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Realization</a:t>
              </a:r>
              <a:r>
                <a:rPr lang="tr-TR" sz="800" dirty="0"/>
                <a:t> </a:t>
              </a:r>
              <a:r>
                <a:rPr lang="tr-TR" sz="800" dirty="0" err="1"/>
                <a:t>SQLs</a:t>
              </a:r>
              <a:r>
                <a:rPr lang="tr-TR" sz="800" dirty="0"/>
                <a:t> </a:t>
              </a:r>
              <a:r>
                <a:rPr lang="tr-TR" sz="800" dirty="0" err="1"/>
                <a:t>Owner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Audit</a:t>
              </a:r>
              <a:r>
                <a:rPr lang="tr-TR" sz="800" dirty="0"/>
                <a:t> / </a:t>
              </a:r>
              <a:r>
                <a:rPr lang="tr-TR" sz="800" dirty="0" err="1"/>
                <a:t>Change</a:t>
              </a:r>
              <a:r>
                <a:rPr lang="tr-TR" sz="800" dirty="0"/>
                <a:t> </a:t>
              </a:r>
              <a:r>
                <a:rPr lang="tr-TR" sz="800" dirty="0" err="1"/>
                <a:t>Mngmtn</a:t>
              </a:r>
              <a:endParaRPr lang="tr-TR" sz="800" dirty="0"/>
            </a:p>
          </p:txBody>
        </p:sp>
        <p:grpSp>
          <p:nvGrpSpPr>
            <p:cNvPr id="1041" name="Group 1040">
              <a:extLst>
                <a:ext uri="{FF2B5EF4-FFF2-40B4-BE49-F238E27FC236}">
                  <a16:creationId xmlns:a16="http://schemas.microsoft.com/office/drawing/2014/main" id="{C7AE35B1-E222-3FAA-4F8B-90743C930F12}"/>
                </a:ext>
              </a:extLst>
            </p:cNvPr>
            <p:cNvGrpSpPr/>
            <p:nvPr/>
          </p:nvGrpSpPr>
          <p:grpSpPr>
            <a:xfrm>
              <a:off x="7473906" y="4668540"/>
              <a:ext cx="966494" cy="342288"/>
              <a:chOff x="3523746" y="4743956"/>
              <a:chExt cx="966494" cy="342288"/>
            </a:xfrm>
          </p:grpSpPr>
          <p:sp>
            <p:nvSpPr>
              <p:cNvPr id="1042" name="Rectangle: Rounded Corners 1041">
                <a:extLst>
                  <a:ext uri="{FF2B5EF4-FFF2-40B4-BE49-F238E27FC236}">
                    <a16:creationId xmlns:a16="http://schemas.microsoft.com/office/drawing/2014/main" id="{A199A50F-DE3F-02AD-2076-A06A4C18EDE5}"/>
                  </a:ext>
                </a:extLst>
              </p:cNvPr>
              <p:cNvSpPr/>
              <p:nvPr/>
            </p:nvSpPr>
            <p:spPr>
              <a:xfrm>
                <a:off x="3523746" y="4743956"/>
                <a:ext cx="966494" cy="342288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rIns="36000" rtlCol="0" anchor="ctr"/>
              <a:lstStyle/>
              <a:p>
                <a:pPr algn="ctr"/>
                <a:r>
                  <a:rPr lang="tr-TR" sz="900" b="1" dirty="0" err="1"/>
                  <a:t>Realization</a:t>
                </a:r>
                <a:endParaRPr lang="tr-TR" sz="900" b="1" dirty="0"/>
              </a:p>
              <a:p>
                <a:pPr algn="ctr"/>
                <a:r>
                  <a:rPr lang="tr-TR" sz="900" b="1" dirty="0"/>
                  <a:t>Library</a:t>
                </a:r>
              </a:p>
            </p:txBody>
          </p:sp>
          <p:pic>
            <p:nvPicPr>
              <p:cNvPr id="1043" name="Picture 1042">
                <a:extLst>
                  <a:ext uri="{FF2B5EF4-FFF2-40B4-BE49-F238E27FC236}">
                    <a16:creationId xmlns:a16="http://schemas.microsoft.com/office/drawing/2014/main" id="{442ABEA0-BD80-8DEB-56F2-C6E7F4100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ackgroundRemoval t="4205" b="96527" l="3929" r="96786">
                            <a14:foregroundMark x1="30179" y1="27057" x2="30179" y2="27057"/>
                            <a14:foregroundMark x1="49107" y1="22121" x2="49107" y2="22121"/>
                            <a14:foregroundMark x1="50536" y1="4205" x2="50536" y2="4205"/>
                            <a14:foregroundMark x1="19464" y1="78976" x2="19464" y2="78976"/>
                            <a14:foregroundMark x1="15893" y1="91773" x2="15893" y2="91773"/>
                            <a14:foregroundMark x1="38393" y1="74406" x2="38393" y2="74406"/>
                            <a14:foregroundMark x1="49464" y1="93419" x2="49464" y2="93419"/>
                            <a14:foregroundMark x1="65714" y1="92687" x2="65714" y2="92687"/>
                            <a14:foregroundMark x1="81250" y1="92870" x2="81607" y2="92870"/>
                            <a14:foregroundMark x1="91964" y1="96527" x2="91964" y2="96527"/>
                            <a14:foregroundMark x1="91964" y1="92687" x2="91964" y2="92687"/>
                            <a14:foregroundMark x1="96786" y1="95247" x2="96786" y2="95247"/>
                            <a14:foregroundMark x1="7857" y1="35283" x2="7857" y2="35283"/>
                            <a14:foregroundMark x1="3929" y1="95795" x2="3929" y2="95795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547834" y="4795842"/>
                <a:ext cx="238673" cy="233132"/>
              </a:xfrm>
              <a:prstGeom prst="rect">
                <a:avLst/>
              </a:prstGeom>
            </p:spPr>
          </p:pic>
        </p:grpSp>
        <p:sp>
          <p:nvSpPr>
            <p:cNvPr id="1044" name="Isosceles Triangle 1043">
              <a:extLst>
                <a:ext uri="{FF2B5EF4-FFF2-40B4-BE49-F238E27FC236}">
                  <a16:creationId xmlns:a16="http://schemas.microsoft.com/office/drawing/2014/main" id="{B81D3537-F96C-5DF9-8398-D53EDEC60DBF}"/>
                </a:ext>
              </a:extLst>
            </p:cNvPr>
            <p:cNvSpPr/>
            <p:nvPr/>
          </p:nvSpPr>
          <p:spPr>
            <a:xfrm>
              <a:off x="7739209" y="4513292"/>
              <a:ext cx="445756" cy="11776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059" name="Rectangle 1058">
              <a:extLst>
                <a:ext uri="{FF2B5EF4-FFF2-40B4-BE49-F238E27FC236}">
                  <a16:creationId xmlns:a16="http://schemas.microsoft.com/office/drawing/2014/main" id="{EE26B369-186D-9142-17BB-D693B45AC6D8}"/>
                </a:ext>
              </a:extLst>
            </p:cNvPr>
            <p:cNvSpPr/>
            <p:nvPr/>
          </p:nvSpPr>
          <p:spPr>
            <a:xfrm>
              <a:off x="8669692" y="2788900"/>
              <a:ext cx="867003" cy="224831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1046" name="Picture 1045">
              <a:extLst>
                <a:ext uri="{FF2B5EF4-FFF2-40B4-BE49-F238E27FC236}">
                  <a16:creationId xmlns:a16="http://schemas.microsoft.com/office/drawing/2014/main" id="{94757256-3FEE-C267-A843-0BEEFCBCD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backgroundRemoval t="10000" b="90000" l="10000" r="90000">
                          <a14:foregroundMark x1="42500" y1="31375" x2="42500" y2="31375"/>
                          <a14:foregroundMark x1="40500" y1="44750" x2="40500" y2="44750"/>
                          <a14:foregroundMark x1="39125" y1="59875" x2="39125" y2="59875"/>
                          <a14:foregroundMark x1="64625" y1="55625" x2="64625" y2="55625"/>
                          <a14:foregroundMark x1="74250" y1="50750" x2="74250" y2="50750"/>
                          <a14:foregroundMark x1="71250" y1="45625" x2="71250" y2="45625"/>
                          <a14:foregroundMark x1="63500" y1="44000" x2="63500" y2="44000"/>
                          <a14:foregroundMark x1="54125" y1="45125" x2="54125" y2="45125"/>
                          <a14:foregroundMark x1="53125" y1="63875" x2="53125" y2="63875"/>
                          <a14:foregroundMark x1="69000" y1="62875" x2="69000" y2="62875"/>
                          <a14:foregroundMark x1="69750" y1="72250" x2="69750" y2="72250"/>
                          <a14:foregroundMark x1="54625" y1="74000" x2="54625" y2="74000"/>
                          <a14:foregroundMark x1="65000" y1="81875" x2="65000" y2="81875"/>
                          <a14:foregroundMark x1="45375" y1="36625" x2="45375" y2="36625"/>
                          <a14:foregroundMark x1="42875" y1="36250" x2="42875" y2="36250"/>
                          <a14:foregroundMark x1="55625" y1="81375" x2="55625" y2="8137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774099" y="3585468"/>
              <a:ext cx="765888" cy="765888"/>
            </a:xfrm>
            <a:prstGeom prst="rect">
              <a:avLst/>
            </a:prstGeom>
            <a:effectLst/>
          </p:spPr>
        </p:pic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EA25D76A-A8AA-FE36-3946-7778F0FB736D}"/>
                </a:ext>
              </a:extLst>
            </p:cNvPr>
            <p:cNvSpPr txBox="1"/>
            <p:nvPr/>
          </p:nvSpPr>
          <p:spPr>
            <a:xfrm>
              <a:off x="8743936" y="2794511"/>
              <a:ext cx="79875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100" b="1" dirty="0" err="1">
                  <a:solidFill>
                    <a:schemeClr val="accent1">
                      <a:lumMod val="75000"/>
                    </a:schemeClr>
                  </a:solidFill>
                </a:rPr>
                <a:t>Lifecycle</a:t>
              </a:r>
              <a:r>
                <a:rPr lang="tr-TR" sz="11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tr-TR" sz="1100" b="1" dirty="0" err="1">
                  <a:solidFill>
                    <a:schemeClr val="accent1">
                      <a:lumMod val="75000"/>
                    </a:schemeClr>
                  </a:solidFill>
                </a:rPr>
                <a:t>Pool</a:t>
              </a:r>
              <a:endParaRPr lang="tr-TR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pic>
          <p:nvPicPr>
            <p:cNvPr id="1054" name="Picture 1053">
              <a:extLst>
                <a:ext uri="{FF2B5EF4-FFF2-40B4-BE49-F238E27FC236}">
                  <a16:creationId xmlns:a16="http://schemas.microsoft.com/office/drawing/2014/main" id="{51D4F689-87D0-7F5B-D72C-76A10E525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952448" y="4373577"/>
              <a:ext cx="409190" cy="409190"/>
            </a:xfrm>
            <a:prstGeom prst="rect">
              <a:avLst/>
            </a:prstGeom>
          </p:spPr>
        </p:pic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3298E503-E63B-D2A5-B62A-65DAB70DBF61}"/>
                </a:ext>
              </a:extLst>
            </p:cNvPr>
            <p:cNvSpPr txBox="1"/>
            <p:nvPr/>
          </p:nvSpPr>
          <p:spPr>
            <a:xfrm>
              <a:off x="8757479" y="4713420"/>
              <a:ext cx="760363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tr-TR" sz="800" b="1" dirty="0">
                  <a:solidFill>
                    <a:srgbClr val="905D49"/>
                  </a:solidFill>
                </a:rPr>
                <a:t>RM Action </a:t>
              </a:r>
              <a:r>
                <a:rPr lang="tr-TR" sz="800" b="1" dirty="0" err="1">
                  <a:solidFill>
                    <a:srgbClr val="905D49"/>
                  </a:solidFill>
                </a:rPr>
                <a:t>Status</a:t>
              </a:r>
              <a:r>
                <a:rPr lang="tr-TR" sz="800" b="1" dirty="0">
                  <a:solidFill>
                    <a:srgbClr val="905D49"/>
                  </a:solidFill>
                </a:rPr>
                <a:t> </a:t>
              </a:r>
              <a:r>
                <a:rPr lang="tr-TR" sz="800" b="1" dirty="0" err="1">
                  <a:solidFill>
                    <a:srgbClr val="905D49"/>
                  </a:solidFill>
                </a:rPr>
                <a:t>Updates</a:t>
              </a:r>
              <a:endParaRPr lang="tr-TR" sz="800" b="1" dirty="0">
                <a:solidFill>
                  <a:srgbClr val="905D49"/>
                </a:solidFill>
              </a:endParaRPr>
            </a:p>
          </p:txBody>
        </p:sp>
      </p:grp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6EEFC906-5946-6DC3-94F7-605DC112A2BB}"/>
              </a:ext>
            </a:extLst>
          </p:cNvPr>
          <p:cNvCxnSpPr>
            <a:cxnSpLocks/>
          </p:cNvCxnSpPr>
          <p:nvPr/>
        </p:nvCxnSpPr>
        <p:spPr>
          <a:xfrm flipH="1">
            <a:off x="10065520" y="1834472"/>
            <a:ext cx="149566" cy="365060"/>
          </a:xfrm>
          <a:prstGeom prst="line">
            <a:avLst/>
          </a:prstGeom>
          <a:ln>
            <a:solidFill>
              <a:srgbClr val="34C1D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85207384-BC40-CC73-795B-47C35190F67D}"/>
              </a:ext>
            </a:extLst>
          </p:cNvPr>
          <p:cNvGrpSpPr/>
          <p:nvPr/>
        </p:nvGrpSpPr>
        <p:grpSpPr>
          <a:xfrm>
            <a:off x="9450873" y="2403238"/>
            <a:ext cx="2412821" cy="3856158"/>
            <a:chOff x="9450873" y="2403238"/>
            <a:chExt cx="2412821" cy="3856158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0F01EA55-25FA-CB8B-549C-DB0413C577D6}"/>
                </a:ext>
              </a:extLst>
            </p:cNvPr>
            <p:cNvGrpSpPr/>
            <p:nvPr/>
          </p:nvGrpSpPr>
          <p:grpSpPr>
            <a:xfrm>
              <a:off x="9595694" y="2403238"/>
              <a:ext cx="2268000" cy="3856158"/>
              <a:chOff x="2859740" y="2478654"/>
              <a:chExt cx="2472549" cy="3856158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39CC87BC-FCCC-5E25-4B5A-26C0039ECE01}"/>
                  </a:ext>
                </a:extLst>
              </p:cNvPr>
              <p:cNvSpPr/>
              <p:nvPr/>
            </p:nvSpPr>
            <p:spPr>
              <a:xfrm>
                <a:off x="2859740" y="2478655"/>
                <a:ext cx="2472549" cy="3856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2F57919-1C73-5886-11A8-152BFCCA7F41}"/>
                  </a:ext>
                </a:extLst>
              </p:cNvPr>
              <p:cNvSpPr txBox="1"/>
              <p:nvPr/>
            </p:nvSpPr>
            <p:spPr>
              <a:xfrm>
                <a:off x="3362902" y="2478654"/>
                <a:ext cx="14602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r-TR" sz="1400" b="1" dirty="0">
                    <a:solidFill>
                      <a:schemeClr val="bg1">
                        <a:lumMod val="50000"/>
                      </a:schemeClr>
                    </a:solidFill>
                  </a:rPr>
                  <a:t>MONITOR</a:t>
                </a:r>
              </a:p>
            </p:txBody>
          </p:sp>
        </p:grp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4485101E-098F-8F25-D864-4DB1469E0465}"/>
                </a:ext>
              </a:extLst>
            </p:cNvPr>
            <p:cNvSpPr txBox="1"/>
            <p:nvPr/>
          </p:nvSpPr>
          <p:spPr>
            <a:xfrm>
              <a:off x="9479059" y="2931701"/>
              <a:ext cx="10631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200" b="1" dirty="0" err="1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Realtime</a:t>
              </a:r>
              <a:r>
                <a:rPr lang="tr-TR" sz="1200" b="1" dirty="0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 </a:t>
              </a:r>
              <a:r>
                <a:rPr lang="tr-TR" sz="1200" b="1" dirty="0" err="1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Monitoring</a:t>
              </a:r>
              <a:r>
                <a:rPr lang="tr-TR" sz="1200" b="1" dirty="0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 Engine</a:t>
              </a:r>
            </a:p>
          </p:txBody>
        </p:sp>
        <p:sp>
          <p:nvSpPr>
            <p:cNvPr id="1062" name="Rectangle 1061">
              <a:extLst>
                <a:ext uri="{FF2B5EF4-FFF2-40B4-BE49-F238E27FC236}">
                  <a16:creationId xmlns:a16="http://schemas.microsoft.com/office/drawing/2014/main" id="{B9E434C5-1632-3B19-C7B8-36A5A297D6C0}"/>
                </a:ext>
              </a:extLst>
            </p:cNvPr>
            <p:cNvSpPr/>
            <p:nvPr/>
          </p:nvSpPr>
          <p:spPr>
            <a:xfrm>
              <a:off x="10969849" y="2788900"/>
              <a:ext cx="886750" cy="224831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1063" name="Picture 1062">
              <a:extLst>
                <a:ext uri="{FF2B5EF4-FFF2-40B4-BE49-F238E27FC236}">
                  <a16:creationId xmlns:a16="http://schemas.microsoft.com/office/drawing/2014/main" id="{0F00C4D1-BF61-907C-9CB0-E4E63629D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backgroundRemoval t="10000" b="90000" l="10000" r="90000">
                          <a14:foregroundMark x1="42500" y1="31375" x2="42500" y2="31375"/>
                          <a14:foregroundMark x1="40500" y1="44750" x2="40500" y2="44750"/>
                          <a14:foregroundMark x1="39125" y1="59875" x2="39125" y2="59875"/>
                          <a14:foregroundMark x1="64625" y1="55625" x2="64625" y2="55625"/>
                          <a14:foregroundMark x1="74250" y1="50750" x2="74250" y2="50750"/>
                          <a14:foregroundMark x1="71250" y1="45625" x2="71250" y2="45625"/>
                          <a14:foregroundMark x1="63500" y1="44000" x2="63500" y2="44000"/>
                          <a14:foregroundMark x1="54125" y1="45125" x2="54125" y2="45125"/>
                          <a14:foregroundMark x1="53125" y1="63875" x2="53125" y2="63875"/>
                          <a14:foregroundMark x1="69000" y1="62875" x2="69000" y2="62875"/>
                          <a14:foregroundMark x1="69750" y1="72250" x2="69750" y2="72250"/>
                          <a14:foregroundMark x1="54625" y1="74000" x2="54625" y2="74000"/>
                          <a14:foregroundMark x1="65000" y1="81875" x2="65000" y2="81875"/>
                          <a14:foregroundMark x1="45375" y1="36625" x2="45375" y2="36625"/>
                          <a14:foregroundMark x1="42875" y1="36250" x2="42875" y2="36250"/>
                          <a14:foregroundMark x1="55625" y1="81375" x2="55625" y2="8137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094002" y="3585468"/>
              <a:ext cx="765888" cy="765888"/>
            </a:xfrm>
            <a:prstGeom prst="rect">
              <a:avLst/>
            </a:prstGeom>
            <a:effectLst/>
          </p:spPr>
        </p:pic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3E41C1FA-8364-DC16-1938-5B42CC867D5F}"/>
                </a:ext>
              </a:extLst>
            </p:cNvPr>
            <p:cNvSpPr txBox="1"/>
            <p:nvPr/>
          </p:nvSpPr>
          <p:spPr>
            <a:xfrm>
              <a:off x="10949525" y="2794511"/>
              <a:ext cx="91306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100" b="1" dirty="0" err="1">
                  <a:solidFill>
                    <a:schemeClr val="accent1">
                      <a:lumMod val="75000"/>
                    </a:schemeClr>
                  </a:solidFill>
                </a:rPr>
                <a:t>Reporting</a:t>
              </a:r>
              <a:r>
                <a:rPr lang="tr-TR" sz="11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tr-TR" sz="1100" b="1" dirty="0" err="1">
                  <a:solidFill>
                    <a:schemeClr val="accent1">
                      <a:lumMod val="75000"/>
                    </a:schemeClr>
                  </a:solidFill>
                </a:rPr>
                <a:t>Pool</a:t>
              </a:r>
              <a:endParaRPr lang="tr-TR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65" name="Rectangle: Rounded Corners 1064">
              <a:extLst>
                <a:ext uri="{FF2B5EF4-FFF2-40B4-BE49-F238E27FC236}">
                  <a16:creationId xmlns:a16="http://schemas.microsoft.com/office/drawing/2014/main" id="{2B4891F7-3347-2735-7E66-E82C3BE84765}"/>
                </a:ext>
              </a:extLst>
            </p:cNvPr>
            <p:cNvSpPr/>
            <p:nvPr/>
          </p:nvSpPr>
          <p:spPr>
            <a:xfrm>
              <a:off x="11090763" y="4655350"/>
              <a:ext cx="726141" cy="34228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36000" rtlCol="0" anchor="ctr"/>
            <a:lstStyle/>
            <a:p>
              <a:pPr algn="ctr"/>
              <a:r>
                <a:rPr lang="tr-TR" sz="900" b="1" dirty="0" err="1"/>
                <a:t>Enrichment</a:t>
              </a:r>
              <a:endParaRPr lang="tr-TR" sz="900" b="1" dirty="0"/>
            </a:p>
          </p:txBody>
        </p:sp>
        <p:sp>
          <p:nvSpPr>
            <p:cNvPr id="1066" name="Isosceles Triangle 1065">
              <a:extLst>
                <a:ext uri="{FF2B5EF4-FFF2-40B4-BE49-F238E27FC236}">
                  <a16:creationId xmlns:a16="http://schemas.microsoft.com/office/drawing/2014/main" id="{8AB765E6-F23C-A8E3-9068-1E1BFB654BBD}"/>
                </a:ext>
              </a:extLst>
            </p:cNvPr>
            <p:cNvSpPr/>
            <p:nvPr/>
          </p:nvSpPr>
          <p:spPr>
            <a:xfrm rot="10800000">
              <a:off x="11230955" y="4425454"/>
              <a:ext cx="445756" cy="11776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1067" name="Picture 1066">
              <a:extLst>
                <a:ext uri="{FF2B5EF4-FFF2-40B4-BE49-F238E27FC236}">
                  <a16:creationId xmlns:a16="http://schemas.microsoft.com/office/drawing/2014/main" id="{E49AD247-CA4A-81F4-A317-335B114FF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ackgroundRemoval t="10000" b="97222" l="10000" r="96667">
                          <a14:foregroundMark x1="96667" y1="75278" x2="96667" y2="75278"/>
                          <a14:foregroundMark x1="83333" y1="77778" x2="83333" y2="77778"/>
                          <a14:foregroundMark x1="95833" y1="93333" x2="95833" y2="93333"/>
                          <a14:foregroundMark x1="95833" y1="95000" x2="95833" y2="95000"/>
                          <a14:foregroundMark x1="76944" y1="97222" x2="76944" y2="9722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465576" y="3850362"/>
              <a:ext cx="316484" cy="316484"/>
            </a:xfrm>
            <a:prstGeom prst="rect">
              <a:avLst/>
            </a:prstGeom>
          </p:spPr>
        </p:pic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B499373F-45B6-D313-8DDD-63D9E68BFCC4}"/>
                </a:ext>
              </a:extLst>
            </p:cNvPr>
            <p:cNvSpPr txBox="1"/>
            <p:nvPr/>
          </p:nvSpPr>
          <p:spPr>
            <a:xfrm rot="16200000">
              <a:off x="10254672" y="4405735"/>
              <a:ext cx="760363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tr-TR" sz="800" b="1" dirty="0">
                  <a:solidFill>
                    <a:srgbClr val="0165B6"/>
                  </a:solidFill>
                </a:rPr>
                <a:t>Action </a:t>
              </a:r>
              <a:r>
                <a:rPr lang="tr-TR" sz="800" b="1" dirty="0" err="1">
                  <a:solidFill>
                    <a:srgbClr val="0165B6"/>
                  </a:solidFill>
                </a:rPr>
                <a:t>Status</a:t>
              </a:r>
              <a:r>
                <a:rPr lang="tr-TR" sz="800" b="1" dirty="0">
                  <a:solidFill>
                    <a:srgbClr val="0165B6"/>
                  </a:solidFill>
                </a:rPr>
                <a:t> Update</a:t>
              </a:r>
            </a:p>
          </p:txBody>
        </p:sp>
        <p:grpSp>
          <p:nvGrpSpPr>
            <p:cNvPr id="1069" name="Group 1068">
              <a:extLst>
                <a:ext uri="{FF2B5EF4-FFF2-40B4-BE49-F238E27FC236}">
                  <a16:creationId xmlns:a16="http://schemas.microsoft.com/office/drawing/2014/main" id="{C5529F14-A9A0-9F48-18DC-88D1E900A050}"/>
                </a:ext>
              </a:extLst>
            </p:cNvPr>
            <p:cNvGrpSpPr/>
            <p:nvPr/>
          </p:nvGrpSpPr>
          <p:grpSpPr>
            <a:xfrm>
              <a:off x="10162181" y="5161477"/>
              <a:ext cx="926293" cy="342288"/>
              <a:chOff x="1581237" y="5092185"/>
              <a:chExt cx="926293" cy="342288"/>
            </a:xfrm>
          </p:grpSpPr>
          <p:sp>
            <p:nvSpPr>
              <p:cNvPr id="1070" name="Rectangle: Rounded Corners 1069">
                <a:extLst>
                  <a:ext uri="{FF2B5EF4-FFF2-40B4-BE49-F238E27FC236}">
                    <a16:creationId xmlns:a16="http://schemas.microsoft.com/office/drawing/2014/main" id="{CCE0FB94-3CD5-65E1-45CE-34811144B6F3}"/>
                  </a:ext>
                </a:extLst>
              </p:cNvPr>
              <p:cNvSpPr/>
              <p:nvPr/>
            </p:nvSpPr>
            <p:spPr>
              <a:xfrm>
                <a:off x="1581237" y="5092185"/>
                <a:ext cx="926293" cy="342288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rtlCol="0" anchor="ctr"/>
              <a:lstStyle/>
              <a:p>
                <a:pPr algn="r"/>
                <a:r>
                  <a:rPr lang="tr-TR" sz="900" b="1" dirty="0" err="1"/>
                  <a:t>Governance</a:t>
                </a:r>
                <a:endParaRPr lang="tr-TR" sz="900" b="1" dirty="0"/>
              </a:p>
            </p:txBody>
          </p:sp>
          <p:pic>
            <p:nvPicPr>
              <p:cNvPr id="1071" name="Picture 2" descr="85,500+ Security Staff Icon Stock Illustrations, Royalty-Free Vector  Graphics &amp; Clip Art - iStock">
                <a:extLst>
                  <a:ext uri="{FF2B5EF4-FFF2-40B4-BE49-F238E27FC236}">
                    <a16:creationId xmlns:a16="http://schemas.microsoft.com/office/drawing/2014/main" id="{A345E3E8-6801-BE98-8C3E-915B65FFE6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27451" b="73693" l="31373" r="67157">
                            <a14:foregroundMark x1="31373" y1="41340" x2="31373" y2="41340"/>
                            <a14:foregroundMark x1="42647" y1="51307" x2="42647" y2="51307"/>
                            <a14:foregroundMark x1="67157" y1="43301" x2="67157" y2="43301"/>
                            <a14:foregroundMark x1="49673" y1="27451" x2="49673" y2="27451"/>
                            <a14:foregroundMark x1="50327" y1="73693" x2="50327" y2="7369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465" t="23185" r="28931" b="23991"/>
              <a:stretch/>
            </p:blipFill>
            <p:spPr bwMode="auto">
              <a:xfrm>
                <a:off x="1603382" y="5114355"/>
                <a:ext cx="210914" cy="2555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72" name="TextBox 1071">
              <a:extLst>
                <a:ext uri="{FF2B5EF4-FFF2-40B4-BE49-F238E27FC236}">
                  <a16:creationId xmlns:a16="http://schemas.microsoft.com/office/drawing/2014/main" id="{CC2BCDF1-4E40-15AE-D4AA-5A07B0B73213}"/>
                </a:ext>
              </a:extLst>
            </p:cNvPr>
            <p:cNvSpPr txBox="1"/>
            <p:nvPr/>
          </p:nvSpPr>
          <p:spPr>
            <a:xfrm>
              <a:off x="10062363" y="5495915"/>
              <a:ext cx="15966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Performance</a:t>
              </a:r>
              <a:r>
                <a:rPr lang="tr-TR" sz="800" dirty="0"/>
                <a:t> </a:t>
              </a:r>
              <a:r>
                <a:rPr lang="tr-TR" sz="800" dirty="0" err="1"/>
                <a:t>Owner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Reporting</a:t>
              </a:r>
              <a:r>
                <a:rPr lang="tr-TR" sz="800" dirty="0"/>
                <a:t> </a:t>
              </a:r>
              <a:r>
                <a:rPr lang="tr-TR" sz="800" dirty="0" err="1"/>
                <a:t>Owner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/>
                <a:t>Action </a:t>
              </a:r>
              <a:r>
                <a:rPr lang="tr-TR" sz="800" dirty="0" err="1"/>
                <a:t>Status</a:t>
              </a:r>
              <a:r>
                <a:rPr lang="tr-TR" sz="800" dirty="0"/>
                <a:t> </a:t>
              </a:r>
              <a:r>
                <a:rPr lang="tr-TR" sz="800" dirty="0" err="1"/>
                <a:t>Quality</a:t>
              </a:r>
              <a:r>
                <a:rPr lang="tr-TR" sz="800" dirty="0"/>
                <a:t> </a:t>
              </a:r>
              <a:r>
                <a:rPr lang="tr-TR" sz="800" dirty="0" err="1"/>
                <a:t>Controls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/>
                <a:t>Feedback </a:t>
              </a:r>
              <a:r>
                <a:rPr lang="tr-TR" sz="800" dirty="0" err="1"/>
                <a:t>and</a:t>
              </a:r>
              <a:r>
                <a:rPr lang="tr-TR" sz="800" dirty="0"/>
                <a:t> </a:t>
              </a:r>
              <a:r>
                <a:rPr lang="tr-TR" sz="800" dirty="0" err="1"/>
                <a:t>Finetunes</a:t>
              </a:r>
              <a:endParaRPr lang="tr-TR" sz="800" dirty="0"/>
            </a:p>
          </p:txBody>
        </p:sp>
        <p:pic>
          <p:nvPicPr>
            <p:cNvPr id="1078" name="Picture 1077">
              <a:extLst>
                <a:ext uri="{FF2B5EF4-FFF2-40B4-BE49-F238E27FC236}">
                  <a16:creationId xmlns:a16="http://schemas.microsoft.com/office/drawing/2014/main" id="{61676FBD-8BCF-3158-287B-DCCD89607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backgroundRemoval t="10000" b="90000" l="10000" r="90000">
                          <a14:foregroundMark x1="41228" y1="23923" x2="41228" y2="23923"/>
                          <a14:foregroundMark x1="47049" y1="30064" x2="47049" y2="30064"/>
                          <a14:foregroundMark x1="48246" y1="36284" x2="48246" y2="36284"/>
                          <a14:foregroundMark x1="53907" y1="42185" x2="53907" y2="42185"/>
                          <a14:foregroundMark x1="55821" y1="48804" x2="55821" y2="48804"/>
                          <a14:foregroundMark x1="58692" y1="54545" x2="58692" y2="54545"/>
                          <a14:foregroundMark x1="66507" y1="61563" x2="66507" y2="61563"/>
                          <a14:foregroundMark x1="68341" y1="66268" x2="68341" y2="66268"/>
                          <a14:foregroundMark x1="65152" y1="68740" x2="65152" y2="68740"/>
                          <a14:foregroundMark x1="32616" y1="58453" x2="32616" y2="58453"/>
                          <a14:backgroundMark x1="33014" y1="63955" x2="33014" y2="6395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450873" y="3475982"/>
              <a:ext cx="1019398" cy="10193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133B993-F9DB-C4B6-7AE1-29DB50148F77}"/>
              </a:ext>
            </a:extLst>
          </p:cNvPr>
          <p:cNvSpPr txBox="1"/>
          <p:nvPr/>
        </p:nvSpPr>
        <p:spPr>
          <a:xfrm>
            <a:off x="268940" y="2781"/>
            <a:ext cx="8683508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1 : Action Management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0DEB53C-4036-3C79-4C7B-0AD469C7D24D}"/>
              </a:ext>
            </a:extLst>
          </p:cNvPr>
          <p:cNvCxnSpPr/>
          <p:nvPr/>
        </p:nvCxnSpPr>
        <p:spPr>
          <a:xfrm>
            <a:off x="242045" y="5095747"/>
            <a:ext cx="1166832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3C1F4FA-EF82-8285-9409-207293594D7B}"/>
              </a:ext>
            </a:extLst>
          </p:cNvPr>
          <p:cNvCxnSpPr/>
          <p:nvPr/>
        </p:nvCxnSpPr>
        <p:spPr>
          <a:xfrm>
            <a:off x="242045" y="2711015"/>
            <a:ext cx="1166832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37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54B6821-A1EC-EA06-649A-C37641D9F9ED}"/>
              </a:ext>
            </a:extLst>
          </p:cNvPr>
          <p:cNvSpPr/>
          <p:nvPr/>
        </p:nvSpPr>
        <p:spPr>
          <a:xfrm>
            <a:off x="346066" y="2403239"/>
            <a:ext cx="2268000" cy="385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5B2B53-7187-B9A9-4F3A-0111165626A9}"/>
              </a:ext>
            </a:extLst>
          </p:cNvPr>
          <p:cNvSpPr/>
          <p:nvPr/>
        </p:nvSpPr>
        <p:spPr>
          <a:xfrm>
            <a:off x="0" y="-1"/>
            <a:ext cx="12185522" cy="1994400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194582-7BFB-D6B9-9EE1-FDF0828D9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250" y="0"/>
            <a:ext cx="5887272" cy="2010056"/>
          </a:xfrm>
          <a:prstGeom prst="rect">
            <a:avLst/>
          </a:prstGeom>
        </p:spPr>
      </p:pic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DF8F157A-9CC5-CB32-11D5-85701BAA6FAF}"/>
              </a:ext>
            </a:extLst>
          </p:cNvPr>
          <p:cNvGrpSpPr/>
          <p:nvPr/>
        </p:nvGrpSpPr>
        <p:grpSpPr>
          <a:xfrm>
            <a:off x="327212" y="1410611"/>
            <a:ext cx="11537576" cy="698038"/>
            <a:chOff x="327212" y="1635018"/>
            <a:chExt cx="11537576" cy="698038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44BC0CF-1C8A-7B3C-DC20-40966C3A9F8D}"/>
                </a:ext>
              </a:extLst>
            </p:cNvPr>
            <p:cNvSpPr/>
            <p:nvPr/>
          </p:nvSpPr>
          <p:spPr>
            <a:xfrm>
              <a:off x="327212" y="1635018"/>
              <a:ext cx="11537576" cy="698038"/>
            </a:xfrm>
            <a:prstGeom prst="roundRect">
              <a:avLst/>
            </a:prstGeom>
            <a:solidFill>
              <a:srgbClr val="022460"/>
            </a:solidFill>
            <a:ln w="9525">
              <a:solidFill>
                <a:schemeClr val="tx2">
                  <a:lumMod val="75000"/>
                  <a:lumOff val="2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4619390-A47D-2971-22A2-904E75B3B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06415" y="1780617"/>
              <a:ext cx="590632" cy="43821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72003C5-B245-81CA-5350-ED44EA1CB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72364" y1="33387" x2="72364" y2="33387"/>
                          <a14:foregroundMark x1="63578" y1="39457" x2="63578" y2="39457"/>
                          <a14:foregroundMark x1="49521" y1="40096" x2="49521" y2="40096"/>
                          <a14:foregroundMark x1="49521" y1="51917" x2="49521" y2="51917"/>
                          <a14:foregroundMark x1="35463" y1="40895" x2="35463" y2="40895"/>
                          <a14:foregroundMark x1="26518" y1="34984" x2="26518" y2="34984"/>
                          <a14:foregroundMark x1="18371" y1="32748" x2="18371" y2="327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10151" y="1729476"/>
              <a:ext cx="490701" cy="490701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81B40E5-492E-B9FA-8FF4-3A28170D3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4524" y="1724492"/>
              <a:ext cx="628738" cy="54300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1F465454-BE3F-1861-3910-4A82AE65E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28669" y="1734106"/>
              <a:ext cx="562053" cy="485843"/>
            </a:xfrm>
            <a:prstGeom prst="rect">
              <a:avLst/>
            </a:prstGeom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A69D0EE-F442-8C9C-B0B6-23943873CB03}"/>
                </a:ext>
              </a:extLst>
            </p:cNvPr>
            <p:cNvCxnSpPr/>
            <p:nvPr/>
          </p:nvCxnSpPr>
          <p:spPr>
            <a:xfrm>
              <a:off x="2595212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1627677-7314-8455-C230-2533695E9D5E}"/>
                </a:ext>
              </a:extLst>
            </p:cNvPr>
            <p:cNvCxnSpPr/>
            <p:nvPr/>
          </p:nvCxnSpPr>
          <p:spPr>
            <a:xfrm>
              <a:off x="5255575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B37961-40D6-2BA1-DE8A-B65CC6F4D7BC}"/>
                </a:ext>
              </a:extLst>
            </p:cNvPr>
            <p:cNvCxnSpPr/>
            <p:nvPr/>
          </p:nvCxnSpPr>
          <p:spPr>
            <a:xfrm>
              <a:off x="8184965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A8CEB40-25C6-DD18-4500-1F95BC97984B}"/>
                </a:ext>
              </a:extLst>
            </p:cNvPr>
            <p:cNvSpPr txBox="1"/>
            <p:nvPr/>
          </p:nvSpPr>
          <p:spPr>
            <a:xfrm>
              <a:off x="3578245" y="1679843"/>
              <a:ext cx="12365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30+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2B1DD53-C25B-7918-2097-081EEEAB6C34}"/>
                </a:ext>
              </a:extLst>
            </p:cNvPr>
            <p:cNvSpPr txBox="1"/>
            <p:nvPr/>
          </p:nvSpPr>
          <p:spPr>
            <a:xfrm>
              <a:off x="6141662" y="1679840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Calibri" panose="020F0502020204030204" pitchFamily="34" charset="0"/>
                </a:rPr>
                <a:t>200+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B31349-E11F-E371-ECAA-4E277512E659}"/>
                </a:ext>
              </a:extLst>
            </p:cNvPr>
            <p:cNvSpPr txBox="1"/>
            <p:nvPr/>
          </p:nvSpPr>
          <p:spPr>
            <a:xfrm>
              <a:off x="1061900" y="1680877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C544F6E-1058-CC38-D31D-70AB243B7355}"/>
                </a:ext>
              </a:extLst>
            </p:cNvPr>
            <p:cNvSpPr txBox="1"/>
            <p:nvPr/>
          </p:nvSpPr>
          <p:spPr>
            <a:xfrm>
              <a:off x="9238763" y="1751563"/>
              <a:ext cx="6434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23B445A-30A3-111F-27B2-77F3776ED619}"/>
                </a:ext>
              </a:extLst>
            </p:cNvPr>
            <p:cNvSpPr txBox="1"/>
            <p:nvPr/>
          </p:nvSpPr>
          <p:spPr>
            <a:xfrm>
              <a:off x="3569281" y="2001357"/>
              <a:ext cx="12235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Analytic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9738018-8E24-A0D7-3DAE-01B667582588}"/>
                </a:ext>
              </a:extLst>
            </p:cNvPr>
            <p:cNvSpPr txBox="1"/>
            <p:nvPr/>
          </p:nvSpPr>
          <p:spPr>
            <a:xfrm>
              <a:off x="6208340" y="2001357"/>
              <a:ext cx="13567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Distinct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Signals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18C0F2B-9456-C31B-F7D2-B615CD2282DA}"/>
                </a:ext>
              </a:extLst>
            </p:cNvPr>
            <p:cNvSpPr txBox="1"/>
            <p:nvPr/>
          </p:nvSpPr>
          <p:spPr>
            <a:xfrm>
              <a:off x="1079830" y="2011356"/>
              <a:ext cx="16581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Layers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F7A6F03-32C5-BCDC-11A2-9360F86B14BC}"/>
                </a:ext>
              </a:extLst>
            </p:cNvPr>
            <p:cNvSpPr txBox="1"/>
            <p:nvPr/>
          </p:nvSpPr>
          <p:spPr>
            <a:xfrm>
              <a:off x="9216823" y="2001357"/>
              <a:ext cx="6875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Engines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49EC395A-F70F-B403-3B1F-46F3853962F3}"/>
                </a:ext>
              </a:extLst>
            </p:cNvPr>
            <p:cNvSpPr txBox="1"/>
            <p:nvPr/>
          </p:nvSpPr>
          <p:spPr>
            <a:xfrm>
              <a:off x="10381933" y="1751563"/>
              <a:ext cx="6434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D42C4787-5AEF-49E5-E0B3-C3BF446AD566}"/>
                </a:ext>
              </a:extLst>
            </p:cNvPr>
            <p:cNvSpPr txBox="1"/>
            <p:nvPr/>
          </p:nvSpPr>
          <p:spPr>
            <a:xfrm>
              <a:off x="10359993" y="2001357"/>
              <a:ext cx="6875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Pools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CAF3423-A05F-9CB5-E83A-2478FF1CA4BB}"/>
              </a:ext>
            </a:extLst>
          </p:cNvPr>
          <p:cNvSpPr/>
          <p:nvPr/>
        </p:nvSpPr>
        <p:spPr>
          <a:xfrm>
            <a:off x="0" y="6711900"/>
            <a:ext cx="12185522" cy="171241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91E577F-6E51-7DE6-7A11-8458082A89B1}"/>
              </a:ext>
            </a:extLst>
          </p:cNvPr>
          <p:cNvGrpSpPr/>
          <p:nvPr/>
        </p:nvGrpSpPr>
        <p:grpSpPr>
          <a:xfrm>
            <a:off x="484094" y="2789264"/>
            <a:ext cx="726141" cy="2080442"/>
            <a:chOff x="484094" y="2864680"/>
            <a:chExt cx="726141" cy="208044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99DD19C-4711-7D40-7286-EA6E430DF931}"/>
                </a:ext>
              </a:extLst>
            </p:cNvPr>
            <p:cNvSpPr/>
            <p:nvPr/>
          </p:nvSpPr>
          <p:spPr>
            <a:xfrm>
              <a:off x="484094" y="3421929"/>
              <a:ext cx="726141" cy="3422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900" dirty="0" err="1"/>
                <a:t>Models</a:t>
              </a:r>
              <a:endParaRPr lang="tr-TR" sz="900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A8CEE4F-FA7E-C58E-A44F-9B4E56B6AEB3}"/>
                </a:ext>
              </a:extLst>
            </p:cNvPr>
            <p:cNvSpPr/>
            <p:nvPr/>
          </p:nvSpPr>
          <p:spPr>
            <a:xfrm>
              <a:off x="484094" y="3815564"/>
              <a:ext cx="726141" cy="3422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900" dirty="0" err="1"/>
                <a:t>SQLs</a:t>
              </a:r>
              <a:endParaRPr lang="tr-TR" sz="900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AF81538-F39A-A611-52AA-E4D9F1E95588}"/>
                </a:ext>
              </a:extLst>
            </p:cNvPr>
            <p:cNvSpPr/>
            <p:nvPr/>
          </p:nvSpPr>
          <p:spPr>
            <a:xfrm>
              <a:off x="484094" y="4209199"/>
              <a:ext cx="726141" cy="3422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900" dirty="0"/>
                <a:t>Excel </a:t>
              </a:r>
              <a:r>
                <a:rPr lang="tr-TR" sz="900" dirty="0" err="1"/>
                <a:t>Upload</a:t>
              </a:r>
              <a:endParaRPr lang="tr-TR" sz="900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A60D191-98A2-98BF-47F2-A8F16411ED37}"/>
                </a:ext>
              </a:extLst>
            </p:cNvPr>
            <p:cNvSpPr/>
            <p:nvPr/>
          </p:nvSpPr>
          <p:spPr>
            <a:xfrm>
              <a:off x="484094" y="4602834"/>
              <a:ext cx="726141" cy="3422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900" dirty="0"/>
                <a:t>RM </a:t>
              </a:r>
              <a:r>
                <a:rPr lang="tr-TR" sz="900" dirty="0" err="1"/>
                <a:t>Input</a:t>
              </a:r>
              <a:endParaRPr lang="tr-TR" sz="9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F00C64A-77A0-C7AF-19AD-3776697D11CA}"/>
                </a:ext>
              </a:extLst>
            </p:cNvPr>
            <p:cNvSpPr txBox="1"/>
            <p:nvPr/>
          </p:nvSpPr>
          <p:spPr>
            <a:xfrm>
              <a:off x="484094" y="2864680"/>
              <a:ext cx="72614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100" b="1" dirty="0" err="1"/>
                <a:t>Signal</a:t>
              </a:r>
              <a:r>
                <a:rPr lang="tr-TR" sz="1100" b="1" dirty="0"/>
                <a:t> </a:t>
              </a:r>
              <a:r>
                <a:rPr lang="tr-TR" sz="1100" b="1" dirty="0" err="1"/>
                <a:t>Sources</a:t>
              </a:r>
              <a:endParaRPr lang="tr-TR" sz="1100" b="1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5AB28C-7D7E-BBE1-B2C1-F4F985B884A7}"/>
                </a:ext>
              </a:extLst>
            </p:cNvPr>
            <p:cNvCxnSpPr>
              <a:cxnSpLocks/>
            </p:cNvCxnSpPr>
            <p:nvPr/>
          </p:nvCxnSpPr>
          <p:spPr>
            <a:xfrm>
              <a:off x="484094" y="3305156"/>
              <a:ext cx="72614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ight Brace 33">
            <a:extLst>
              <a:ext uri="{FF2B5EF4-FFF2-40B4-BE49-F238E27FC236}">
                <a16:creationId xmlns:a16="http://schemas.microsoft.com/office/drawing/2014/main" id="{AE77D433-4FF6-973B-6DEC-D67034A0AC03}"/>
              </a:ext>
            </a:extLst>
          </p:cNvPr>
          <p:cNvSpPr/>
          <p:nvPr/>
        </p:nvSpPr>
        <p:spPr>
          <a:xfrm>
            <a:off x="1222152" y="3334729"/>
            <a:ext cx="196337" cy="1538326"/>
          </a:xfrm>
          <a:prstGeom prst="rightBrace">
            <a:avLst>
              <a:gd name="adj1" fmla="val 121539"/>
              <a:gd name="adj2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8B8FF41-3563-2565-3406-01B2F95790A1}"/>
              </a:ext>
            </a:extLst>
          </p:cNvPr>
          <p:cNvGrpSpPr/>
          <p:nvPr/>
        </p:nvGrpSpPr>
        <p:grpSpPr>
          <a:xfrm>
            <a:off x="1001670" y="5161477"/>
            <a:ext cx="926293" cy="342288"/>
            <a:chOff x="1581237" y="5092185"/>
            <a:chExt cx="926293" cy="342288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2390B2BE-0974-EC6B-660E-514C77F7B6C4}"/>
                </a:ext>
              </a:extLst>
            </p:cNvPr>
            <p:cNvSpPr/>
            <p:nvPr/>
          </p:nvSpPr>
          <p:spPr>
            <a:xfrm>
              <a:off x="1581237" y="5092185"/>
              <a:ext cx="926293" cy="342288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rtlCol="0" anchor="ctr"/>
            <a:lstStyle/>
            <a:p>
              <a:pPr algn="r"/>
              <a:r>
                <a:rPr lang="tr-TR" sz="900" b="1" dirty="0" err="1"/>
                <a:t>Governance</a:t>
              </a:r>
              <a:endParaRPr lang="tr-TR" sz="900" b="1" dirty="0"/>
            </a:p>
          </p:txBody>
        </p:sp>
        <p:pic>
          <p:nvPicPr>
            <p:cNvPr id="1026" name="Picture 2" descr="85,500+ Security Staff Icon Stock Illustrations, Royalty-Free Vector  Graphics &amp; Clip Art - iStock">
              <a:extLst>
                <a:ext uri="{FF2B5EF4-FFF2-40B4-BE49-F238E27FC236}">
                  <a16:creationId xmlns:a16="http://schemas.microsoft.com/office/drawing/2014/main" id="{1FE23905-27C9-FAD7-1FA7-3D2104A6B4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27451" b="73693" l="31373" r="67157">
                          <a14:foregroundMark x1="31373" y1="41340" x2="31373" y2="41340"/>
                          <a14:foregroundMark x1="42647" y1="51307" x2="42647" y2="51307"/>
                          <a14:foregroundMark x1="67157" y1="43301" x2="67157" y2="43301"/>
                          <a14:foregroundMark x1="49673" y1="27451" x2="49673" y2="27451"/>
                          <a14:foregroundMark x1="50327" y1="73693" x2="50327" y2="7369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65" t="23185" r="28931" b="23991"/>
            <a:stretch/>
          </p:blipFill>
          <p:spPr bwMode="auto">
            <a:xfrm>
              <a:off x="1603382" y="5114355"/>
              <a:ext cx="210914" cy="255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EB459E7-C609-586C-E091-ED46930322EB}"/>
              </a:ext>
            </a:extLst>
          </p:cNvPr>
          <p:cNvSpPr txBox="1"/>
          <p:nvPr/>
        </p:nvSpPr>
        <p:spPr>
          <a:xfrm>
            <a:off x="936565" y="5505342"/>
            <a:ext cx="1485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800" dirty="0" err="1"/>
              <a:t>Signal</a:t>
            </a:r>
            <a:r>
              <a:rPr lang="tr-TR" sz="800" dirty="0"/>
              <a:t> </a:t>
            </a:r>
            <a:r>
              <a:rPr lang="tr-TR" sz="800" dirty="0" err="1"/>
              <a:t>Owner</a:t>
            </a:r>
            <a:endParaRPr lang="tr-TR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800" dirty="0" err="1"/>
              <a:t>Quality</a:t>
            </a:r>
            <a:r>
              <a:rPr lang="tr-TR" sz="800" dirty="0"/>
              <a:t>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sz="800" dirty="0" err="1"/>
              <a:t>Audit</a:t>
            </a:r>
            <a:r>
              <a:rPr lang="tr-TR" sz="800" dirty="0"/>
              <a:t> / </a:t>
            </a:r>
            <a:r>
              <a:rPr lang="tr-TR" sz="800" dirty="0" err="1"/>
              <a:t>Change</a:t>
            </a:r>
            <a:r>
              <a:rPr lang="tr-TR" sz="800" dirty="0"/>
              <a:t> </a:t>
            </a:r>
            <a:r>
              <a:rPr lang="tr-TR" sz="800" dirty="0" err="1"/>
              <a:t>Mngmtn</a:t>
            </a:r>
            <a:endParaRPr lang="tr-TR" sz="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DBBD3E-ABAA-D6CE-5D74-A604EC59D0BE}"/>
              </a:ext>
            </a:extLst>
          </p:cNvPr>
          <p:cNvSpPr txBox="1"/>
          <p:nvPr/>
        </p:nvSpPr>
        <p:spPr>
          <a:xfrm>
            <a:off x="787185" y="2403238"/>
            <a:ext cx="1460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b="1" dirty="0">
                <a:solidFill>
                  <a:schemeClr val="bg1">
                    <a:lumMod val="50000"/>
                  </a:schemeClr>
                </a:solidFill>
              </a:rPr>
              <a:t>CAPTURE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0DEB53C-4036-3C79-4C7B-0AD469C7D24D}"/>
              </a:ext>
            </a:extLst>
          </p:cNvPr>
          <p:cNvCxnSpPr>
            <a:cxnSpLocks/>
          </p:cNvCxnSpPr>
          <p:nvPr/>
        </p:nvCxnSpPr>
        <p:spPr>
          <a:xfrm>
            <a:off x="304800" y="5095747"/>
            <a:ext cx="226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3C1F4FA-EF82-8285-9409-207293594D7B}"/>
              </a:ext>
            </a:extLst>
          </p:cNvPr>
          <p:cNvCxnSpPr>
            <a:cxnSpLocks/>
          </p:cNvCxnSpPr>
          <p:nvPr/>
        </p:nvCxnSpPr>
        <p:spPr>
          <a:xfrm>
            <a:off x="304800" y="2711015"/>
            <a:ext cx="2268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F7E48D29-4FBB-F332-3208-214FA5473676}"/>
              </a:ext>
            </a:extLst>
          </p:cNvPr>
          <p:cNvSpPr/>
          <p:nvPr/>
        </p:nvSpPr>
        <p:spPr>
          <a:xfrm>
            <a:off x="1585182" y="2788900"/>
            <a:ext cx="995151" cy="22483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1CF7AC5E-2B15-EAE1-38FB-AF491EDAD2FA}"/>
              </a:ext>
            </a:extLst>
          </p:cNvPr>
          <p:cNvSpPr txBox="1"/>
          <p:nvPr/>
        </p:nvSpPr>
        <p:spPr>
          <a:xfrm>
            <a:off x="1695794" y="2790290"/>
            <a:ext cx="7987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 err="1">
                <a:solidFill>
                  <a:schemeClr val="accent1">
                    <a:lumMod val="75000"/>
                  </a:schemeClr>
                </a:solidFill>
              </a:rPr>
              <a:t>Signal</a:t>
            </a:r>
            <a:r>
              <a:rPr lang="tr-TR" sz="11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tr-TR" sz="1100" b="1" dirty="0" err="1">
                <a:solidFill>
                  <a:schemeClr val="accent1">
                    <a:lumMod val="75000"/>
                  </a:schemeClr>
                </a:solidFill>
              </a:rPr>
              <a:t>Pool</a:t>
            </a:r>
            <a:endParaRPr lang="tr-TR" sz="1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49" name="Picture 1048">
            <a:extLst>
              <a:ext uri="{FF2B5EF4-FFF2-40B4-BE49-F238E27FC236}">
                <a16:creationId xmlns:a16="http://schemas.microsoft.com/office/drawing/2014/main" id="{1B50C00D-1165-A199-4CBF-565BE8D6086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42500" y1="31375" x2="42500" y2="31375"/>
                        <a14:foregroundMark x1="40500" y1="44750" x2="40500" y2="44750"/>
                        <a14:foregroundMark x1="39125" y1="59875" x2="39125" y2="59875"/>
                        <a14:foregroundMark x1="64625" y1="55625" x2="64625" y2="55625"/>
                        <a14:foregroundMark x1="74250" y1="50750" x2="74250" y2="50750"/>
                        <a14:foregroundMark x1="71250" y1="45625" x2="71250" y2="45625"/>
                        <a14:foregroundMark x1="63500" y1="44000" x2="63500" y2="44000"/>
                        <a14:foregroundMark x1="54125" y1="45125" x2="54125" y2="45125"/>
                        <a14:foregroundMark x1="53125" y1="63875" x2="53125" y2="63875"/>
                        <a14:foregroundMark x1="69000" y1="62875" x2="69000" y2="62875"/>
                        <a14:foregroundMark x1="69750" y1="72250" x2="69750" y2="72250"/>
                        <a14:foregroundMark x1="54625" y1="74000" x2="54625" y2="74000"/>
                        <a14:foregroundMark x1="65000" y1="81875" x2="65000" y2="81875"/>
                        <a14:foregroundMark x1="45375" y1="36625" x2="45375" y2="36625"/>
                        <a14:foregroundMark x1="42875" y1="36250" x2="42875" y2="36250"/>
                        <a14:foregroundMark x1="55625" y1="81375" x2="55625" y2="81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6505" y="3733052"/>
            <a:ext cx="765888" cy="765888"/>
          </a:xfrm>
          <a:prstGeom prst="rect">
            <a:avLst/>
          </a:prstGeom>
          <a:effectLst/>
        </p:spPr>
      </p:pic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6EEFC906-5946-6DC3-94F7-605DC112A2BB}"/>
              </a:ext>
            </a:extLst>
          </p:cNvPr>
          <p:cNvCxnSpPr>
            <a:cxnSpLocks/>
          </p:cNvCxnSpPr>
          <p:nvPr/>
        </p:nvCxnSpPr>
        <p:spPr>
          <a:xfrm flipH="1">
            <a:off x="10065520" y="1601185"/>
            <a:ext cx="149566" cy="365060"/>
          </a:xfrm>
          <a:prstGeom prst="line">
            <a:avLst/>
          </a:prstGeom>
          <a:ln>
            <a:solidFill>
              <a:srgbClr val="34C1D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133B993-F9DB-C4B6-7AE1-29DB50148F77}"/>
              </a:ext>
            </a:extLst>
          </p:cNvPr>
          <p:cNvSpPr txBox="1"/>
          <p:nvPr/>
        </p:nvSpPr>
        <p:spPr>
          <a:xfrm>
            <a:off x="268940" y="2781"/>
            <a:ext cx="1019663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1 : Action Management : </a:t>
            </a:r>
            <a:r>
              <a:rPr kumimoji="0" lang="tr-TR" sz="4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Signal</a:t>
            </a:r>
            <a:endParaRPr kumimoji="0" lang="tr-TR" sz="4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165A1E-A3A3-0428-3565-1F5B54B85F64}"/>
              </a:ext>
            </a:extLst>
          </p:cNvPr>
          <p:cNvGrpSpPr/>
          <p:nvPr/>
        </p:nvGrpSpPr>
        <p:grpSpPr>
          <a:xfrm>
            <a:off x="2822904" y="2746385"/>
            <a:ext cx="1692574" cy="2290834"/>
            <a:chOff x="2822904" y="2746385"/>
            <a:chExt cx="1692574" cy="229083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2A1B24F-8913-642A-4860-3EC891D9515A}"/>
                </a:ext>
              </a:extLst>
            </p:cNvPr>
            <p:cNvSpPr/>
            <p:nvPr/>
          </p:nvSpPr>
          <p:spPr>
            <a:xfrm>
              <a:off x="2822904" y="2746385"/>
              <a:ext cx="1692574" cy="2290834"/>
            </a:xfrm>
            <a:prstGeom prst="roundRect">
              <a:avLst>
                <a:gd name="adj" fmla="val 1813"/>
              </a:avLst>
            </a:prstGeom>
            <a:noFill/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9CB3C2-3FBF-8BE2-7A33-1D9D49FCD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54796" t="1" r="32885" b="3620"/>
            <a:stretch/>
          </p:blipFill>
          <p:spPr>
            <a:xfrm>
              <a:off x="2874937" y="2842690"/>
              <a:ext cx="421341" cy="329650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B1B4921-1B95-08AA-801A-E5881B83F280}"/>
                </a:ext>
              </a:extLst>
            </p:cNvPr>
            <p:cNvCxnSpPr/>
            <p:nvPr/>
          </p:nvCxnSpPr>
          <p:spPr>
            <a:xfrm>
              <a:off x="2926120" y="3245434"/>
              <a:ext cx="147066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9F4CD1-A516-FFA9-C28F-3F1C8411C9A0}"/>
                </a:ext>
              </a:extLst>
            </p:cNvPr>
            <p:cNvSpPr txBox="1"/>
            <p:nvPr/>
          </p:nvSpPr>
          <p:spPr>
            <a:xfrm>
              <a:off x="3296278" y="2796304"/>
              <a:ext cx="12192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05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Models</a:t>
              </a:r>
              <a:r>
                <a:rPr kumimoji="0" lang="tr-TR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: 30+ </a:t>
              </a:r>
              <a:r>
                <a:rPr kumimoji="0" lang="tr-TR" sz="105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analytic</a:t>
              </a:r>
              <a:r>
                <a:rPr kumimoji="0" lang="tr-TR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kumimoji="0" lang="tr-TR" sz="105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models</a:t>
              </a:r>
              <a:endPara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C6EEC90-6038-C711-E6FF-F04FA05FE03C}"/>
                </a:ext>
              </a:extLst>
            </p:cNvPr>
            <p:cNvSpPr/>
            <p:nvPr/>
          </p:nvSpPr>
          <p:spPr>
            <a:xfrm>
              <a:off x="2930404" y="3383466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Pricing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Models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D110F2E-6C33-AE92-5660-DAA4B4DB28EF}"/>
                </a:ext>
              </a:extLst>
            </p:cNvPr>
            <p:cNvSpPr/>
            <p:nvPr/>
          </p:nvSpPr>
          <p:spPr>
            <a:xfrm>
              <a:off x="2930404" y="3770761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Recommender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Models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7E59D8A-278A-984B-6299-9AAFB186FF4B}"/>
                </a:ext>
              </a:extLst>
            </p:cNvPr>
            <p:cNvSpPr/>
            <p:nvPr/>
          </p:nvSpPr>
          <p:spPr>
            <a:xfrm>
              <a:off x="2930404" y="4158954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Churn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Models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ECB5894-AECD-969F-DD9C-5D3AE82CD528}"/>
                </a:ext>
              </a:extLst>
            </p:cNvPr>
            <p:cNvSpPr/>
            <p:nvPr/>
          </p:nvSpPr>
          <p:spPr>
            <a:xfrm>
              <a:off x="2930404" y="4553318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Value </a:t>
              </a: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Models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22F286-89C0-153E-37FE-F91DF85E019E}"/>
              </a:ext>
            </a:extLst>
          </p:cNvPr>
          <p:cNvGrpSpPr/>
          <p:nvPr/>
        </p:nvGrpSpPr>
        <p:grpSpPr>
          <a:xfrm>
            <a:off x="4605676" y="2746385"/>
            <a:ext cx="1692574" cy="2290834"/>
            <a:chOff x="2822904" y="2746385"/>
            <a:chExt cx="1692574" cy="2290834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F8F693DC-BC2B-7E1C-1D8E-1419A4170178}"/>
                </a:ext>
              </a:extLst>
            </p:cNvPr>
            <p:cNvSpPr/>
            <p:nvPr/>
          </p:nvSpPr>
          <p:spPr>
            <a:xfrm>
              <a:off x="2822904" y="2746385"/>
              <a:ext cx="1692574" cy="2290834"/>
            </a:xfrm>
            <a:prstGeom prst="roundRect">
              <a:avLst>
                <a:gd name="adj" fmla="val 1813"/>
              </a:avLst>
            </a:prstGeom>
            <a:noFill/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4CD2F00-0ABC-5AE2-6709-96CD14C0C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5557" t="1" r="82124" b="3620"/>
            <a:stretch/>
          </p:blipFill>
          <p:spPr>
            <a:xfrm>
              <a:off x="2874937" y="2842690"/>
              <a:ext cx="421341" cy="329650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10322E3-6B83-98B4-55D5-265DCC43C166}"/>
                </a:ext>
              </a:extLst>
            </p:cNvPr>
            <p:cNvCxnSpPr/>
            <p:nvPr/>
          </p:nvCxnSpPr>
          <p:spPr>
            <a:xfrm>
              <a:off x="2926120" y="3245434"/>
              <a:ext cx="147066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E44F9B1-C63E-E6F0-7804-9CFCF516C968}"/>
                </a:ext>
              </a:extLst>
            </p:cNvPr>
            <p:cNvSpPr txBox="1"/>
            <p:nvPr/>
          </p:nvSpPr>
          <p:spPr>
            <a:xfrm>
              <a:off x="3296278" y="2796304"/>
              <a:ext cx="12192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05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Datamarts</a:t>
              </a:r>
              <a:r>
                <a:rPr kumimoji="0" lang="tr-TR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: 9+ </a:t>
              </a:r>
              <a:r>
                <a:rPr kumimoji="0" lang="tr-TR" sz="105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datamarts</a:t>
              </a:r>
              <a:endParaRPr kumimoji="0" lang="tr-T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706323C-0BAD-9E9F-AB7D-618A1306AEF2}"/>
                </a:ext>
              </a:extLst>
            </p:cNvPr>
            <p:cNvSpPr/>
            <p:nvPr/>
          </p:nvSpPr>
          <p:spPr>
            <a:xfrm>
              <a:off x="2930404" y="3383466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External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Data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tr-TR" sz="900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KKB, </a:t>
              </a:r>
              <a:r>
                <a:rPr lang="tr-TR" sz="900" dirty="0" err="1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Primary</a:t>
              </a:r>
              <a:r>
                <a:rPr lang="tr-TR" sz="900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Bank</a:t>
              </a:r>
              <a:endParaRPr kumimoji="0" lang="tr-TR" sz="9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47DDF43-8B84-D648-8935-8082B00D0307}"/>
                </a:ext>
              </a:extLst>
            </p:cNvPr>
            <p:cNvSpPr/>
            <p:nvPr/>
          </p:nvSpPr>
          <p:spPr>
            <a:xfrm>
              <a:off x="2930404" y="3770759"/>
              <a:ext cx="1466376" cy="46058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Product Data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tr-TR" sz="900" dirty="0" err="1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Ent</a:t>
              </a:r>
              <a:r>
                <a:rPr lang="tr-TR" sz="900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. </a:t>
              </a:r>
              <a:r>
                <a:rPr lang="tr-TR" sz="900" dirty="0" err="1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Datamart</a:t>
              </a:r>
              <a:r>
                <a:rPr lang="tr-TR" sz="900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, </a:t>
              </a:r>
              <a:r>
                <a:rPr lang="tr-TR" sz="900" dirty="0" err="1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Principality</a:t>
              </a:r>
              <a:r>
                <a:rPr lang="tr-TR" sz="900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, Daily Activity</a:t>
              </a:r>
              <a:endParaRPr kumimoji="0" lang="tr-TR" sz="9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21E62B8-AFFC-E2AF-3736-9C0C0E200C16}"/>
                </a:ext>
              </a:extLst>
            </p:cNvPr>
            <p:cNvSpPr/>
            <p:nvPr/>
          </p:nvSpPr>
          <p:spPr>
            <a:xfrm>
              <a:off x="2930404" y="4267703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Service Data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tr-TR" sz="900" dirty="0" err="1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Transactions</a:t>
              </a:r>
              <a:r>
                <a:rPr lang="tr-TR" sz="900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, </a:t>
              </a:r>
              <a:r>
                <a:rPr lang="tr-TR" sz="900" dirty="0" err="1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Contact</a:t>
              </a:r>
              <a:r>
                <a:rPr lang="tr-TR" sz="900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, IDX</a:t>
              </a:r>
              <a:endParaRPr kumimoji="0" lang="tr-TR" sz="9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AE138E4-92DB-DFA8-593E-436C375C2CBF}"/>
                </a:ext>
              </a:extLst>
            </p:cNvPr>
            <p:cNvSpPr/>
            <p:nvPr/>
          </p:nvSpPr>
          <p:spPr>
            <a:xfrm>
              <a:off x="2930404" y="4662067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Segment Data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tr-TR" sz="900" dirty="0" err="1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Segmentation</a:t>
              </a:r>
              <a:r>
                <a:rPr lang="tr-TR" sz="900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, </a:t>
              </a:r>
              <a:r>
                <a:rPr lang="tr-TR" sz="900" dirty="0" err="1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Official</a:t>
              </a:r>
              <a:r>
                <a:rPr lang="tr-TR" sz="900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SME</a:t>
              </a:r>
              <a:endParaRPr kumimoji="0" lang="tr-TR" sz="9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E1B687B-7C8F-8D0C-64FD-92EBBF097E3F}"/>
              </a:ext>
            </a:extLst>
          </p:cNvPr>
          <p:cNvGrpSpPr/>
          <p:nvPr/>
        </p:nvGrpSpPr>
        <p:grpSpPr>
          <a:xfrm>
            <a:off x="6388448" y="2746385"/>
            <a:ext cx="1692574" cy="2290834"/>
            <a:chOff x="2822904" y="2746385"/>
            <a:chExt cx="1692574" cy="2290834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CC99093B-9B06-2B55-8587-3889CA9E0B73}"/>
                </a:ext>
              </a:extLst>
            </p:cNvPr>
            <p:cNvSpPr/>
            <p:nvPr/>
          </p:nvSpPr>
          <p:spPr>
            <a:xfrm>
              <a:off x="2822904" y="2746385"/>
              <a:ext cx="1692574" cy="2290834"/>
            </a:xfrm>
            <a:prstGeom prst="roundRect">
              <a:avLst>
                <a:gd name="adj" fmla="val 1813"/>
              </a:avLst>
            </a:prstGeom>
            <a:noFill/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DC6F7FD7-CD62-2B5D-D829-837187AE4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30128" t="1" r="57553" b="3620"/>
            <a:stretch/>
          </p:blipFill>
          <p:spPr>
            <a:xfrm>
              <a:off x="2874937" y="2842690"/>
              <a:ext cx="421341" cy="329650"/>
            </a:xfrm>
            <a:prstGeom prst="rect">
              <a:avLst/>
            </a:prstGeom>
          </p:spPr>
        </p:pic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8810E70-625F-37AB-CD85-B78955F51D54}"/>
                </a:ext>
              </a:extLst>
            </p:cNvPr>
            <p:cNvCxnSpPr/>
            <p:nvPr/>
          </p:nvCxnSpPr>
          <p:spPr>
            <a:xfrm>
              <a:off x="2926120" y="3245434"/>
              <a:ext cx="147066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F94EB9D-7A94-89A0-2C65-70D90846522D}"/>
                </a:ext>
              </a:extLst>
            </p:cNvPr>
            <p:cNvSpPr txBox="1"/>
            <p:nvPr/>
          </p:nvSpPr>
          <p:spPr>
            <a:xfrm>
              <a:off x="3296278" y="2796304"/>
              <a:ext cx="12192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Excel </a:t>
              </a:r>
              <a:r>
                <a:rPr kumimoji="0" lang="tr-TR" sz="105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Files</a:t>
              </a:r>
              <a:r>
                <a:rPr kumimoji="0" lang="tr-TR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: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6643D2C7-2278-3C2A-A6D4-110F025D279C}"/>
                </a:ext>
              </a:extLst>
            </p:cNvPr>
            <p:cNvSpPr/>
            <p:nvPr/>
          </p:nvSpPr>
          <p:spPr>
            <a:xfrm>
              <a:off x="2930404" y="3383466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Pusula </a:t>
              </a: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Lists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98BCD8C7-4ECA-405D-30DE-BA2E4C5DCD53}"/>
                </a:ext>
              </a:extLst>
            </p:cNvPr>
            <p:cNvSpPr/>
            <p:nvPr/>
          </p:nvSpPr>
          <p:spPr>
            <a:xfrm>
              <a:off x="2930404" y="3770759"/>
              <a:ext cx="1466376" cy="34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Temporal </a:t>
              </a: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Priorities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CE0385CC-45E4-3963-3AE3-4F77BE26EA72}"/>
                </a:ext>
              </a:extLst>
            </p:cNvPr>
            <p:cNvSpPr/>
            <p:nvPr/>
          </p:nvSpPr>
          <p:spPr>
            <a:xfrm>
              <a:off x="2930404" y="4175236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Subsidiary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Potential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Customers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2CABFFE5-E1B2-02EE-B9E9-4C8B861F9E8A}"/>
                </a:ext>
              </a:extLst>
            </p:cNvPr>
            <p:cNvSpPr/>
            <p:nvPr/>
          </p:nvSpPr>
          <p:spPr>
            <a:xfrm>
              <a:off x="2930404" y="4569600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Operational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Activities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5CA20AF-BE30-D2AF-C919-D090F25FD263}"/>
              </a:ext>
            </a:extLst>
          </p:cNvPr>
          <p:cNvGrpSpPr/>
          <p:nvPr/>
        </p:nvGrpSpPr>
        <p:grpSpPr>
          <a:xfrm>
            <a:off x="8184965" y="2746385"/>
            <a:ext cx="1692574" cy="2290834"/>
            <a:chOff x="2822904" y="2746385"/>
            <a:chExt cx="1692574" cy="2290834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FAF76388-8E9A-3A3B-AEB6-12CAB2442755}"/>
                </a:ext>
              </a:extLst>
            </p:cNvPr>
            <p:cNvSpPr/>
            <p:nvPr/>
          </p:nvSpPr>
          <p:spPr>
            <a:xfrm>
              <a:off x="2822904" y="2746385"/>
              <a:ext cx="1692574" cy="2290834"/>
            </a:xfrm>
            <a:prstGeom prst="roundRect">
              <a:avLst>
                <a:gd name="adj" fmla="val 1813"/>
              </a:avLst>
            </a:prstGeom>
            <a:noFill/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98359EC5-DB60-66D1-AA0B-93FFD06D5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79304" t="1" r="8377" b="3620"/>
            <a:stretch/>
          </p:blipFill>
          <p:spPr>
            <a:xfrm>
              <a:off x="2874937" y="2842690"/>
              <a:ext cx="421341" cy="329650"/>
            </a:xfrm>
            <a:prstGeom prst="rect">
              <a:avLst/>
            </a:prstGeom>
          </p:spPr>
        </p:pic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38725E9-5E78-DBF0-C833-4515E5982335}"/>
                </a:ext>
              </a:extLst>
            </p:cNvPr>
            <p:cNvCxnSpPr/>
            <p:nvPr/>
          </p:nvCxnSpPr>
          <p:spPr>
            <a:xfrm>
              <a:off x="2926120" y="3245434"/>
              <a:ext cx="147066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129399A-B10B-F539-1F31-C84E9CC7746C}"/>
                </a:ext>
              </a:extLst>
            </p:cNvPr>
            <p:cNvSpPr txBox="1"/>
            <p:nvPr/>
          </p:nvSpPr>
          <p:spPr>
            <a:xfrm>
              <a:off x="3296278" y="2796304"/>
              <a:ext cx="12192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RM </a:t>
              </a:r>
              <a:r>
                <a:rPr kumimoji="0" lang="tr-TR" sz="105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Inputs</a:t>
              </a:r>
              <a:r>
                <a:rPr kumimoji="0" lang="tr-TR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:</a:t>
              </a: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F163A6B2-968B-730A-8D67-1E0671B3DB89}"/>
                </a:ext>
              </a:extLst>
            </p:cNvPr>
            <p:cNvSpPr/>
            <p:nvPr/>
          </p:nvSpPr>
          <p:spPr>
            <a:xfrm>
              <a:off x="2930404" y="3383466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Visit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/Call </a:t>
              </a: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Notes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ECED1EA4-6366-73A4-F15B-99F627E89261}"/>
                </a:ext>
              </a:extLst>
            </p:cNvPr>
            <p:cNvSpPr/>
            <p:nvPr/>
          </p:nvSpPr>
          <p:spPr>
            <a:xfrm>
              <a:off x="2930404" y="3770759"/>
              <a:ext cx="1466376" cy="34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Investment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plans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3C6B525B-2248-F8AF-B445-4F8C0B819685}"/>
                </a:ext>
              </a:extLst>
            </p:cNvPr>
            <p:cNvSpPr/>
            <p:nvPr/>
          </p:nvSpPr>
          <p:spPr>
            <a:xfrm>
              <a:off x="2930404" y="4176640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Preferences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E3C3D923-1891-A911-AEB2-9CAF23EDE95A}"/>
                </a:ext>
              </a:extLst>
            </p:cNvPr>
            <p:cNvSpPr/>
            <p:nvPr/>
          </p:nvSpPr>
          <p:spPr>
            <a:xfrm>
              <a:off x="2930404" y="4571004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Reminders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509EB2A0-F079-3EFC-2A89-13461CC5F0B6}"/>
              </a:ext>
            </a:extLst>
          </p:cNvPr>
          <p:cNvSpPr/>
          <p:nvPr/>
        </p:nvSpPr>
        <p:spPr>
          <a:xfrm rot="5400000">
            <a:off x="9545082" y="3855934"/>
            <a:ext cx="1228150" cy="21006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3A165902-8A83-93D5-7B9F-C8878F0FBDA8}"/>
              </a:ext>
            </a:extLst>
          </p:cNvPr>
          <p:cNvSpPr/>
          <p:nvPr/>
        </p:nvSpPr>
        <p:spPr>
          <a:xfrm>
            <a:off x="10465576" y="2746385"/>
            <a:ext cx="1399212" cy="2266352"/>
          </a:xfrm>
          <a:prstGeom prst="roundRect">
            <a:avLst>
              <a:gd name="adj" fmla="val 7697"/>
            </a:avLst>
          </a:prstGeom>
          <a:solidFill>
            <a:srgbClr val="E1E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75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5F17D7C3-EA4F-3D07-9D17-A3F4390C5F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42500" y1="31375" x2="42500" y2="31375"/>
                        <a14:foregroundMark x1="40500" y1="44750" x2="40500" y2="44750"/>
                        <a14:foregroundMark x1="39125" y1="59875" x2="39125" y2="59875"/>
                        <a14:foregroundMark x1="64625" y1="55625" x2="64625" y2="55625"/>
                        <a14:foregroundMark x1="74250" y1="50750" x2="74250" y2="50750"/>
                        <a14:foregroundMark x1="71250" y1="45625" x2="71250" y2="45625"/>
                        <a14:foregroundMark x1="63500" y1="44000" x2="63500" y2="44000"/>
                        <a14:foregroundMark x1="54125" y1="45125" x2="54125" y2="45125"/>
                        <a14:foregroundMark x1="53125" y1="63875" x2="53125" y2="63875"/>
                        <a14:foregroundMark x1="69000" y1="62875" x2="69000" y2="62875"/>
                        <a14:foregroundMark x1="69750" y1="72250" x2="69750" y2="72250"/>
                        <a14:foregroundMark x1="54625" y1="74000" x2="54625" y2="74000"/>
                        <a14:foregroundMark x1="65000" y1="81875" x2="65000" y2="81875"/>
                        <a14:foregroundMark x1="45375" y1="36625" x2="45375" y2="36625"/>
                        <a14:foregroundMark x1="42875" y1="36250" x2="42875" y2="36250"/>
                        <a14:foregroundMark x1="55625" y1="81375" x2="55625" y2="81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65577" y="2808601"/>
            <a:ext cx="421140" cy="421140"/>
          </a:xfrm>
          <a:prstGeom prst="rect">
            <a:avLst/>
          </a:prstGeom>
          <a:effectLst/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D97506B8-97AA-B7AF-F339-676C1DCF62FC}"/>
              </a:ext>
            </a:extLst>
          </p:cNvPr>
          <p:cNvSpPr txBox="1"/>
          <p:nvPr/>
        </p:nvSpPr>
        <p:spPr>
          <a:xfrm>
            <a:off x="10886717" y="2842690"/>
            <a:ext cx="8420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Signal</a:t>
            </a:r>
            <a:r>
              <a: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tr-TR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Pool</a:t>
            </a:r>
            <a:endParaRPr kumimoji="0" lang="tr-T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900A207-C63B-3820-A922-5FB90FF0ABCF}"/>
              </a:ext>
            </a:extLst>
          </p:cNvPr>
          <p:cNvCxnSpPr/>
          <p:nvPr/>
        </p:nvCxnSpPr>
        <p:spPr>
          <a:xfrm>
            <a:off x="10449580" y="3211802"/>
            <a:ext cx="1413275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ight Brace 85">
            <a:extLst>
              <a:ext uri="{FF2B5EF4-FFF2-40B4-BE49-F238E27FC236}">
                <a16:creationId xmlns:a16="http://schemas.microsoft.com/office/drawing/2014/main" id="{45DA0A6B-1138-42DB-57B6-1D0BE35BE483}"/>
              </a:ext>
            </a:extLst>
          </p:cNvPr>
          <p:cNvSpPr/>
          <p:nvPr/>
        </p:nvSpPr>
        <p:spPr>
          <a:xfrm rot="5400000">
            <a:off x="7098161" y="1460890"/>
            <a:ext cx="223153" cy="7675533"/>
          </a:xfrm>
          <a:prstGeom prst="rightBrace">
            <a:avLst>
              <a:gd name="adj1" fmla="val 121539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DE68BDE-C9C5-2C90-7F7A-933A4A77DD3E}"/>
              </a:ext>
            </a:extLst>
          </p:cNvPr>
          <p:cNvSpPr/>
          <p:nvPr/>
        </p:nvSpPr>
        <p:spPr>
          <a:xfrm>
            <a:off x="3124649" y="5415817"/>
            <a:ext cx="1142338" cy="684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Signal</a:t>
            </a: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Owner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3B1B5BA6-C1E4-85F1-3741-4FE6392E033D}"/>
              </a:ext>
            </a:extLst>
          </p:cNvPr>
          <p:cNvSpPr/>
          <p:nvPr/>
        </p:nvSpPr>
        <p:spPr>
          <a:xfrm>
            <a:off x="4356796" y="5415817"/>
            <a:ext cx="5980662" cy="68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Responsible</a:t>
            </a:r>
            <a:r>
              <a:rPr lang="tr-TR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Defining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signal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source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system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calculation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rules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tr-TR" sz="10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Monitoring</a:t>
            </a:r>
            <a:r>
              <a:rPr lang="tr-TR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generation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schedule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reporting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runtime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issues</a:t>
            </a:r>
            <a:endParaRPr lang="tr-TR" sz="1000" dirty="0">
              <a:solidFill>
                <a:srgbClr val="022460"/>
              </a:solidFill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Quality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Assurance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ensuring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that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signal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produces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expected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outputs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in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line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with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requirements</a:t>
            </a: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0B7C3BA-96E3-FE2D-5CDF-267CE7F9C57D}"/>
              </a:ext>
            </a:extLst>
          </p:cNvPr>
          <p:cNvSpPr txBox="1"/>
          <p:nvPr/>
        </p:nvSpPr>
        <p:spPr>
          <a:xfrm>
            <a:off x="10491204" y="3346513"/>
            <a:ext cx="13323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Centralized </a:t>
            </a:r>
            <a:r>
              <a:rPr lang="en-US" sz="1000" b="1" dirty="0"/>
              <a:t>repository </a:t>
            </a:r>
            <a:r>
              <a:rPr lang="en-US" sz="1000" dirty="0"/>
              <a:t>for validated signals, providing </a:t>
            </a:r>
            <a:r>
              <a:rPr lang="en-US" sz="1000" b="1" dirty="0"/>
              <a:t>standardized storage and access </a:t>
            </a:r>
            <a:r>
              <a:rPr lang="en-US" sz="1000" dirty="0"/>
              <a:t>for downstream consumption</a:t>
            </a:r>
            <a:endParaRPr lang="tr-TR" sz="1000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2DBE2DD-D739-2349-F872-DB2CD2AF3E97}"/>
              </a:ext>
            </a:extLst>
          </p:cNvPr>
          <p:cNvSpPr/>
          <p:nvPr/>
        </p:nvSpPr>
        <p:spPr>
          <a:xfrm>
            <a:off x="10449579" y="5415817"/>
            <a:ext cx="1413275" cy="684000"/>
          </a:xfrm>
          <a:prstGeom prst="roundRect">
            <a:avLst/>
          </a:prstGeom>
          <a:solidFill>
            <a:srgbClr val="73D7D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36000" rtlCol="0" anchor="ctr"/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Continuous</a:t>
            </a: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tr-TR" sz="11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Accountable</a:t>
            </a:r>
            <a:endParaRPr lang="tr-TR" sz="1100" b="1" dirty="0">
              <a:solidFill>
                <a:srgbClr val="022460"/>
              </a:solidFill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Qulity</a:t>
            </a:r>
            <a:r>
              <a:rPr lang="tr-TR" sz="11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tr-TR" sz="11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Assured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7C2D5-A0B3-3683-D462-1FCE1D7466AF}"/>
              </a:ext>
            </a:extLst>
          </p:cNvPr>
          <p:cNvSpPr txBox="1"/>
          <p:nvPr/>
        </p:nvSpPr>
        <p:spPr>
          <a:xfrm>
            <a:off x="251010" y="611626"/>
            <a:ext cx="768399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Centralized pool of multi-source indicators governed by common standards</a:t>
            </a:r>
            <a:endParaRPr kumimoji="0" lang="tr-TR" sz="1700" b="0" i="0" u="none" strike="noStrike" kern="1200" cap="none" spc="0" normalizeH="0" baseline="0" noProof="0" dirty="0">
              <a:ln>
                <a:noFill/>
              </a:ln>
              <a:solidFill>
                <a:srgbClr val="34C1D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2720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35B2B53-7187-B9A9-4F3A-0111165626A9}"/>
              </a:ext>
            </a:extLst>
          </p:cNvPr>
          <p:cNvSpPr/>
          <p:nvPr/>
        </p:nvSpPr>
        <p:spPr>
          <a:xfrm>
            <a:off x="0" y="-1"/>
            <a:ext cx="12185522" cy="1994400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194582-7BFB-D6B9-9EE1-FDF0828D9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250" y="0"/>
            <a:ext cx="5887272" cy="2010056"/>
          </a:xfrm>
          <a:prstGeom prst="rect">
            <a:avLst/>
          </a:prstGeom>
        </p:spPr>
      </p:pic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DF8F157A-9CC5-CB32-11D5-85701BAA6FAF}"/>
              </a:ext>
            </a:extLst>
          </p:cNvPr>
          <p:cNvGrpSpPr/>
          <p:nvPr/>
        </p:nvGrpSpPr>
        <p:grpSpPr>
          <a:xfrm>
            <a:off x="327212" y="1410611"/>
            <a:ext cx="11537576" cy="698038"/>
            <a:chOff x="327212" y="1635018"/>
            <a:chExt cx="11537576" cy="698038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44BC0CF-1C8A-7B3C-DC20-40966C3A9F8D}"/>
                </a:ext>
              </a:extLst>
            </p:cNvPr>
            <p:cNvSpPr/>
            <p:nvPr/>
          </p:nvSpPr>
          <p:spPr>
            <a:xfrm>
              <a:off x="327212" y="1635018"/>
              <a:ext cx="11537576" cy="698038"/>
            </a:xfrm>
            <a:prstGeom prst="roundRect">
              <a:avLst/>
            </a:prstGeom>
            <a:solidFill>
              <a:srgbClr val="022460"/>
            </a:solidFill>
            <a:ln w="9525">
              <a:solidFill>
                <a:schemeClr val="tx2">
                  <a:lumMod val="75000"/>
                  <a:lumOff val="2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4619390-A47D-2971-22A2-904E75B3B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06415" y="1780617"/>
              <a:ext cx="590632" cy="43821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72003C5-B245-81CA-5350-ED44EA1CB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72364" y1="33387" x2="72364" y2="33387"/>
                          <a14:foregroundMark x1="63578" y1="39457" x2="63578" y2="39457"/>
                          <a14:foregroundMark x1="49521" y1="40096" x2="49521" y2="40096"/>
                          <a14:foregroundMark x1="49521" y1="51917" x2="49521" y2="51917"/>
                          <a14:foregroundMark x1="35463" y1="40895" x2="35463" y2="40895"/>
                          <a14:foregroundMark x1="26518" y1="34984" x2="26518" y2="34984"/>
                          <a14:foregroundMark x1="18371" y1="32748" x2="18371" y2="327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10151" y="1729476"/>
              <a:ext cx="490701" cy="490701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81B40E5-492E-B9FA-8FF4-3A28170D3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4524" y="1724492"/>
              <a:ext cx="628738" cy="54300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1F465454-BE3F-1861-3910-4A82AE65E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28669" y="1734106"/>
              <a:ext cx="562053" cy="485843"/>
            </a:xfrm>
            <a:prstGeom prst="rect">
              <a:avLst/>
            </a:prstGeom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A69D0EE-F442-8C9C-B0B6-23943873CB03}"/>
                </a:ext>
              </a:extLst>
            </p:cNvPr>
            <p:cNvCxnSpPr/>
            <p:nvPr/>
          </p:nvCxnSpPr>
          <p:spPr>
            <a:xfrm>
              <a:off x="2595212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1627677-7314-8455-C230-2533695E9D5E}"/>
                </a:ext>
              </a:extLst>
            </p:cNvPr>
            <p:cNvCxnSpPr/>
            <p:nvPr/>
          </p:nvCxnSpPr>
          <p:spPr>
            <a:xfrm>
              <a:off x="5255575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B37961-40D6-2BA1-DE8A-B65CC6F4D7BC}"/>
                </a:ext>
              </a:extLst>
            </p:cNvPr>
            <p:cNvCxnSpPr/>
            <p:nvPr/>
          </p:nvCxnSpPr>
          <p:spPr>
            <a:xfrm>
              <a:off x="8184965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A8CEB40-25C6-DD18-4500-1F95BC97984B}"/>
                </a:ext>
              </a:extLst>
            </p:cNvPr>
            <p:cNvSpPr txBox="1"/>
            <p:nvPr/>
          </p:nvSpPr>
          <p:spPr>
            <a:xfrm>
              <a:off x="3578245" y="1679843"/>
              <a:ext cx="12365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30+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2B1DD53-C25B-7918-2097-081EEEAB6C34}"/>
                </a:ext>
              </a:extLst>
            </p:cNvPr>
            <p:cNvSpPr txBox="1"/>
            <p:nvPr/>
          </p:nvSpPr>
          <p:spPr>
            <a:xfrm>
              <a:off x="6141662" y="1679840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Calibri" panose="020F0502020204030204" pitchFamily="34" charset="0"/>
                </a:rPr>
                <a:t>200+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B31349-E11F-E371-ECAA-4E277512E659}"/>
                </a:ext>
              </a:extLst>
            </p:cNvPr>
            <p:cNvSpPr txBox="1"/>
            <p:nvPr/>
          </p:nvSpPr>
          <p:spPr>
            <a:xfrm>
              <a:off x="1061900" y="1680877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C544F6E-1058-CC38-D31D-70AB243B7355}"/>
                </a:ext>
              </a:extLst>
            </p:cNvPr>
            <p:cNvSpPr txBox="1"/>
            <p:nvPr/>
          </p:nvSpPr>
          <p:spPr>
            <a:xfrm>
              <a:off x="9238763" y="1751563"/>
              <a:ext cx="6434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23B445A-30A3-111F-27B2-77F3776ED619}"/>
                </a:ext>
              </a:extLst>
            </p:cNvPr>
            <p:cNvSpPr txBox="1"/>
            <p:nvPr/>
          </p:nvSpPr>
          <p:spPr>
            <a:xfrm>
              <a:off x="3569281" y="2001357"/>
              <a:ext cx="12235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Analytic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9738018-8E24-A0D7-3DAE-01B667582588}"/>
                </a:ext>
              </a:extLst>
            </p:cNvPr>
            <p:cNvSpPr txBox="1"/>
            <p:nvPr/>
          </p:nvSpPr>
          <p:spPr>
            <a:xfrm>
              <a:off x="6208340" y="2001357"/>
              <a:ext cx="13567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Distinct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Signals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18C0F2B-9456-C31B-F7D2-B615CD2282DA}"/>
                </a:ext>
              </a:extLst>
            </p:cNvPr>
            <p:cNvSpPr txBox="1"/>
            <p:nvPr/>
          </p:nvSpPr>
          <p:spPr>
            <a:xfrm>
              <a:off x="1079830" y="2011356"/>
              <a:ext cx="16581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Layers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F7A6F03-32C5-BCDC-11A2-9360F86B14BC}"/>
                </a:ext>
              </a:extLst>
            </p:cNvPr>
            <p:cNvSpPr txBox="1"/>
            <p:nvPr/>
          </p:nvSpPr>
          <p:spPr>
            <a:xfrm>
              <a:off x="9216823" y="2001357"/>
              <a:ext cx="6875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Engines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49EC395A-F70F-B403-3B1F-46F3853962F3}"/>
                </a:ext>
              </a:extLst>
            </p:cNvPr>
            <p:cNvSpPr txBox="1"/>
            <p:nvPr/>
          </p:nvSpPr>
          <p:spPr>
            <a:xfrm>
              <a:off x="10381933" y="1751563"/>
              <a:ext cx="6434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D42C4787-5AEF-49E5-E0B3-C3BF446AD566}"/>
                </a:ext>
              </a:extLst>
            </p:cNvPr>
            <p:cNvSpPr txBox="1"/>
            <p:nvPr/>
          </p:nvSpPr>
          <p:spPr>
            <a:xfrm>
              <a:off x="10359993" y="2001357"/>
              <a:ext cx="6875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Pools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CAF3423-A05F-9CB5-E83A-2478FF1CA4BB}"/>
              </a:ext>
            </a:extLst>
          </p:cNvPr>
          <p:cNvSpPr/>
          <p:nvPr/>
        </p:nvSpPr>
        <p:spPr>
          <a:xfrm>
            <a:off x="0" y="6711900"/>
            <a:ext cx="12185522" cy="171241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6EEFC906-5946-6DC3-94F7-605DC112A2BB}"/>
              </a:ext>
            </a:extLst>
          </p:cNvPr>
          <p:cNvCxnSpPr>
            <a:cxnSpLocks/>
          </p:cNvCxnSpPr>
          <p:nvPr/>
        </p:nvCxnSpPr>
        <p:spPr>
          <a:xfrm flipH="1">
            <a:off x="10065520" y="1601185"/>
            <a:ext cx="149566" cy="365060"/>
          </a:xfrm>
          <a:prstGeom prst="line">
            <a:avLst/>
          </a:prstGeom>
          <a:ln>
            <a:solidFill>
              <a:srgbClr val="34C1D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133B993-F9DB-C4B6-7AE1-29DB50148F77}"/>
              </a:ext>
            </a:extLst>
          </p:cNvPr>
          <p:cNvSpPr txBox="1"/>
          <p:nvPr/>
        </p:nvSpPr>
        <p:spPr>
          <a:xfrm>
            <a:off x="268940" y="2781"/>
            <a:ext cx="1019663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1 : Action Management : Action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2A1B24F-8913-642A-4860-3EC891D9515A}"/>
              </a:ext>
            </a:extLst>
          </p:cNvPr>
          <p:cNvSpPr/>
          <p:nvPr/>
        </p:nvSpPr>
        <p:spPr>
          <a:xfrm>
            <a:off x="2822904" y="2746385"/>
            <a:ext cx="7029834" cy="2290834"/>
          </a:xfrm>
          <a:prstGeom prst="roundRect">
            <a:avLst>
              <a:gd name="adj" fmla="val 1813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509EB2A0-F079-3EFC-2A89-13461CC5F0B6}"/>
              </a:ext>
            </a:extLst>
          </p:cNvPr>
          <p:cNvSpPr/>
          <p:nvPr/>
        </p:nvSpPr>
        <p:spPr>
          <a:xfrm rot="5400000">
            <a:off x="9545082" y="3855934"/>
            <a:ext cx="1228150" cy="21006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3A165902-8A83-93D5-7B9F-C8878F0FBDA8}"/>
              </a:ext>
            </a:extLst>
          </p:cNvPr>
          <p:cNvSpPr/>
          <p:nvPr/>
        </p:nvSpPr>
        <p:spPr>
          <a:xfrm>
            <a:off x="10465576" y="2746385"/>
            <a:ext cx="1399212" cy="2266352"/>
          </a:xfrm>
          <a:prstGeom prst="roundRect">
            <a:avLst>
              <a:gd name="adj" fmla="val 7697"/>
            </a:avLst>
          </a:prstGeom>
          <a:solidFill>
            <a:srgbClr val="E1E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75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5F17D7C3-EA4F-3D07-9D17-A3F4390C5F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42500" y1="31375" x2="42500" y2="31375"/>
                        <a14:foregroundMark x1="40500" y1="44750" x2="40500" y2="44750"/>
                        <a14:foregroundMark x1="39125" y1="59875" x2="39125" y2="59875"/>
                        <a14:foregroundMark x1="64625" y1="55625" x2="64625" y2="55625"/>
                        <a14:foregroundMark x1="74250" y1="50750" x2="74250" y2="50750"/>
                        <a14:foregroundMark x1="71250" y1="45625" x2="71250" y2="45625"/>
                        <a14:foregroundMark x1="63500" y1="44000" x2="63500" y2="44000"/>
                        <a14:foregroundMark x1="54125" y1="45125" x2="54125" y2="45125"/>
                        <a14:foregroundMark x1="53125" y1="63875" x2="53125" y2="63875"/>
                        <a14:foregroundMark x1="69000" y1="62875" x2="69000" y2="62875"/>
                        <a14:foregroundMark x1="69750" y1="72250" x2="69750" y2="72250"/>
                        <a14:foregroundMark x1="54625" y1="74000" x2="54625" y2="74000"/>
                        <a14:foregroundMark x1="65000" y1="81875" x2="65000" y2="81875"/>
                        <a14:foregroundMark x1="45375" y1="36625" x2="45375" y2="36625"/>
                        <a14:foregroundMark x1="42875" y1="36250" x2="42875" y2="36250"/>
                        <a14:foregroundMark x1="55625" y1="81375" x2="55625" y2="81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65577" y="2808601"/>
            <a:ext cx="421140" cy="421140"/>
          </a:xfrm>
          <a:prstGeom prst="rect">
            <a:avLst/>
          </a:prstGeom>
          <a:effectLst/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D97506B8-97AA-B7AF-F339-676C1DCF62FC}"/>
              </a:ext>
            </a:extLst>
          </p:cNvPr>
          <p:cNvSpPr txBox="1"/>
          <p:nvPr/>
        </p:nvSpPr>
        <p:spPr>
          <a:xfrm>
            <a:off x="10886717" y="2842690"/>
            <a:ext cx="8420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Action </a:t>
            </a:r>
            <a:r>
              <a:rPr kumimoji="0" lang="tr-TR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Pool</a:t>
            </a:r>
            <a:endParaRPr kumimoji="0" lang="tr-T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900A207-C63B-3820-A922-5FB90FF0ABCF}"/>
              </a:ext>
            </a:extLst>
          </p:cNvPr>
          <p:cNvCxnSpPr/>
          <p:nvPr/>
        </p:nvCxnSpPr>
        <p:spPr>
          <a:xfrm>
            <a:off x="10449580" y="3211802"/>
            <a:ext cx="1413275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ight Brace 85">
            <a:extLst>
              <a:ext uri="{FF2B5EF4-FFF2-40B4-BE49-F238E27FC236}">
                <a16:creationId xmlns:a16="http://schemas.microsoft.com/office/drawing/2014/main" id="{45DA0A6B-1138-42DB-57B6-1D0BE35BE483}"/>
              </a:ext>
            </a:extLst>
          </p:cNvPr>
          <p:cNvSpPr/>
          <p:nvPr/>
        </p:nvSpPr>
        <p:spPr>
          <a:xfrm rot="5400000">
            <a:off x="7098161" y="1460890"/>
            <a:ext cx="223153" cy="7675533"/>
          </a:xfrm>
          <a:prstGeom prst="rightBrace">
            <a:avLst>
              <a:gd name="adj1" fmla="val 121539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DE68BDE-C9C5-2C90-7F7A-933A4A77DD3E}"/>
              </a:ext>
            </a:extLst>
          </p:cNvPr>
          <p:cNvSpPr/>
          <p:nvPr/>
        </p:nvSpPr>
        <p:spPr>
          <a:xfrm>
            <a:off x="3124649" y="5415817"/>
            <a:ext cx="1142338" cy="684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Action </a:t>
            </a: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Owner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3B1B5BA6-C1E4-85F1-3741-4FE6392E033D}"/>
              </a:ext>
            </a:extLst>
          </p:cNvPr>
          <p:cNvSpPr/>
          <p:nvPr/>
        </p:nvSpPr>
        <p:spPr>
          <a:xfrm>
            <a:off x="4356796" y="5415817"/>
            <a:ext cx="5980662" cy="68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Responsible</a:t>
            </a:r>
            <a:r>
              <a:rPr lang="tr-TR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Converting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signals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to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business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actions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using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enriched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SQL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queries</a:t>
            </a: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tr-TR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Define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what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to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do, how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to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do,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when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to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do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Rephrase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business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rules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into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clear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conciese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recipies</a:t>
            </a: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0B7C3BA-96E3-FE2D-5CDF-267CE7F9C57D}"/>
              </a:ext>
            </a:extLst>
          </p:cNvPr>
          <p:cNvSpPr txBox="1"/>
          <p:nvPr/>
        </p:nvSpPr>
        <p:spPr>
          <a:xfrm>
            <a:off x="10491204" y="3346513"/>
            <a:ext cx="13323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Centralized </a:t>
            </a:r>
            <a:r>
              <a:rPr lang="en-US" sz="1000" b="1" dirty="0"/>
              <a:t>repository</a:t>
            </a:r>
            <a:r>
              <a:rPr lang="en-US" sz="1000" dirty="0"/>
              <a:t> of validated and </a:t>
            </a:r>
            <a:r>
              <a:rPr lang="en-US" sz="1000" b="1" dirty="0"/>
              <a:t>reusable actions</a:t>
            </a:r>
            <a:r>
              <a:rPr lang="en-US" sz="1000" dirty="0"/>
              <a:t>, governed by </a:t>
            </a:r>
            <a:r>
              <a:rPr lang="en-US" sz="1000" b="1" dirty="0"/>
              <a:t>common standards </a:t>
            </a:r>
            <a:r>
              <a:rPr lang="en-US" sz="1000" dirty="0"/>
              <a:t>and ready for </a:t>
            </a:r>
            <a:r>
              <a:rPr lang="en-US" sz="1000" b="1" dirty="0"/>
              <a:t>scheduled execution</a:t>
            </a:r>
            <a:endParaRPr lang="tr-TR" sz="1000" b="1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2DBE2DD-D739-2349-F872-DB2CD2AF3E97}"/>
              </a:ext>
            </a:extLst>
          </p:cNvPr>
          <p:cNvSpPr/>
          <p:nvPr/>
        </p:nvSpPr>
        <p:spPr>
          <a:xfrm>
            <a:off x="10449579" y="5415817"/>
            <a:ext cx="1413275" cy="684000"/>
          </a:xfrm>
          <a:prstGeom prst="roundRect">
            <a:avLst/>
          </a:prstGeom>
          <a:solidFill>
            <a:srgbClr val="73D7D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36000" rtlCol="0" anchor="ctr"/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Continuous</a:t>
            </a: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tr-TR" sz="11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Accountable</a:t>
            </a:r>
            <a:endParaRPr lang="tr-TR" sz="1100" b="1" dirty="0">
              <a:solidFill>
                <a:srgbClr val="022460"/>
              </a:solidFill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Qulity</a:t>
            </a:r>
            <a:r>
              <a:rPr lang="tr-TR" sz="11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tr-TR" sz="11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Assured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7C2D5-A0B3-3683-D462-1FCE1D7466AF}"/>
              </a:ext>
            </a:extLst>
          </p:cNvPr>
          <p:cNvSpPr txBox="1"/>
          <p:nvPr/>
        </p:nvSpPr>
        <p:spPr>
          <a:xfrm>
            <a:off x="251010" y="611626"/>
            <a:ext cx="768399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From signals to standardized, governed and executable actions</a:t>
            </a:r>
            <a:endParaRPr kumimoji="0" lang="tr-TR" sz="1700" b="0" i="0" u="none" strike="noStrike" kern="1200" cap="none" spc="0" normalizeH="0" baseline="0" noProof="0" dirty="0">
              <a:ln>
                <a:noFill/>
              </a:ln>
              <a:solidFill>
                <a:srgbClr val="34C1D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9CE4544-E3D9-3AED-1A00-FC001DD88136}"/>
              </a:ext>
            </a:extLst>
          </p:cNvPr>
          <p:cNvGrpSpPr/>
          <p:nvPr/>
        </p:nvGrpSpPr>
        <p:grpSpPr>
          <a:xfrm>
            <a:off x="361862" y="2403238"/>
            <a:ext cx="2310859" cy="3856158"/>
            <a:chOff x="2642986" y="2403238"/>
            <a:chExt cx="2310859" cy="3856158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20021410-0E11-3E2B-AA0B-3DEA945A5DC0}"/>
                </a:ext>
              </a:extLst>
            </p:cNvPr>
            <p:cNvGrpSpPr/>
            <p:nvPr/>
          </p:nvGrpSpPr>
          <p:grpSpPr>
            <a:xfrm>
              <a:off x="2642986" y="2403238"/>
              <a:ext cx="2268000" cy="3856158"/>
              <a:chOff x="2859740" y="2478654"/>
              <a:chExt cx="2472549" cy="3856158"/>
            </a:xfrm>
          </p:grpSpPr>
          <p:sp>
            <p:nvSpPr>
              <p:cNvPr id="1024" name="Rectangle 1023">
                <a:extLst>
                  <a:ext uri="{FF2B5EF4-FFF2-40B4-BE49-F238E27FC236}">
                    <a16:creationId xmlns:a16="http://schemas.microsoft.com/office/drawing/2014/main" id="{AD1BB123-27AB-603F-D5E4-899444F3FC01}"/>
                  </a:ext>
                </a:extLst>
              </p:cNvPr>
              <p:cNvSpPr/>
              <p:nvPr/>
            </p:nvSpPr>
            <p:spPr>
              <a:xfrm>
                <a:off x="2859740" y="2478655"/>
                <a:ext cx="2472549" cy="3856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464169DA-CB61-497E-8149-F7AAC6D22F41}"/>
                  </a:ext>
                </a:extLst>
              </p:cNvPr>
              <p:cNvSpPr txBox="1"/>
              <p:nvPr/>
            </p:nvSpPr>
            <p:spPr>
              <a:xfrm>
                <a:off x="3362902" y="2478654"/>
                <a:ext cx="14602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r-TR" sz="1400" b="1" dirty="0">
                    <a:solidFill>
                      <a:schemeClr val="bg1">
                        <a:lumMod val="50000"/>
                      </a:schemeClr>
                    </a:solidFill>
                  </a:rPr>
                  <a:t>TRANSFORM</a:t>
                </a:r>
              </a:p>
            </p:txBody>
          </p:sp>
        </p:grp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1E3FC0A4-2D14-8C6D-5D11-427AA224E376}"/>
                </a:ext>
              </a:extLst>
            </p:cNvPr>
            <p:cNvSpPr/>
            <p:nvPr/>
          </p:nvSpPr>
          <p:spPr>
            <a:xfrm>
              <a:off x="2653986" y="3287502"/>
              <a:ext cx="726141" cy="34228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36000" rtlCol="0" anchor="ctr"/>
            <a:lstStyle/>
            <a:p>
              <a:pPr algn="ctr"/>
              <a:r>
                <a:rPr lang="tr-TR" sz="900" b="1" dirty="0" err="1"/>
                <a:t>Enrichment</a:t>
              </a:r>
              <a:endParaRPr lang="tr-TR" sz="900" b="1" dirty="0"/>
            </a:p>
          </p:txBody>
        </p:sp>
        <p:sp>
          <p:nvSpPr>
            <p:cNvPr id="110" name="Isosceles Triangle 109">
              <a:extLst>
                <a:ext uri="{FF2B5EF4-FFF2-40B4-BE49-F238E27FC236}">
                  <a16:creationId xmlns:a16="http://schemas.microsoft.com/office/drawing/2014/main" id="{1A523672-1C66-B861-7E80-D22CC9D2CDB2}"/>
                </a:ext>
              </a:extLst>
            </p:cNvPr>
            <p:cNvSpPr/>
            <p:nvPr/>
          </p:nvSpPr>
          <p:spPr>
            <a:xfrm rot="10800000">
              <a:off x="2805822" y="3652257"/>
              <a:ext cx="445756" cy="11776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9961E193-7E3A-643D-73AC-B91644BD0066}"/>
                </a:ext>
              </a:extLst>
            </p:cNvPr>
            <p:cNvGrpSpPr/>
            <p:nvPr/>
          </p:nvGrpSpPr>
          <p:grpSpPr>
            <a:xfrm>
              <a:off x="2652013" y="3814940"/>
              <a:ext cx="686118" cy="456091"/>
              <a:chOff x="2680379" y="3732294"/>
              <a:chExt cx="830203" cy="551870"/>
            </a:xfrm>
          </p:grpSpPr>
          <p:sp>
            <p:nvSpPr>
              <p:cNvPr id="125" name="Rectangle: Rounded Corners 124">
                <a:extLst>
                  <a:ext uri="{FF2B5EF4-FFF2-40B4-BE49-F238E27FC236}">
                    <a16:creationId xmlns:a16="http://schemas.microsoft.com/office/drawing/2014/main" id="{25775ED7-10B6-64CC-766C-8A6E81BD8903}"/>
                  </a:ext>
                </a:extLst>
              </p:cNvPr>
              <p:cNvSpPr/>
              <p:nvPr/>
            </p:nvSpPr>
            <p:spPr>
              <a:xfrm>
                <a:off x="2680379" y="3732294"/>
                <a:ext cx="726141" cy="414169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900" b="1" dirty="0" err="1"/>
                  <a:t>Sub-Signals</a:t>
                </a:r>
                <a:endParaRPr lang="tr-TR" sz="900" b="1" dirty="0"/>
              </a:p>
            </p:txBody>
          </p:sp>
          <p:sp>
            <p:nvSpPr>
              <p:cNvPr id="126" name="Rectangle: Rounded Corners 125">
                <a:extLst>
                  <a:ext uri="{FF2B5EF4-FFF2-40B4-BE49-F238E27FC236}">
                    <a16:creationId xmlns:a16="http://schemas.microsoft.com/office/drawing/2014/main" id="{F0ECF347-78FC-5B11-137A-DA087FF15B04}"/>
                  </a:ext>
                </a:extLst>
              </p:cNvPr>
              <p:cNvSpPr/>
              <p:nvPr/>
            </p:nvSpPr>
            <p:spPr>
              <a:xfrm>
                <a:off x="2727059" y="3794483"/>
                <a:ext cx="726141" cy="414169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900" b="1" dirty="0" err="1"/>
                  <a:t>Sub-Signals</a:t>
                </a:r>
                <a:endParaRPr lang="tr-TR" sz="900" b="1" dirty="0"/>
              </a:p>
            </p:txBody>
          </p:sp>
          <p:sp>
            <p:nvSpPr>
              <p:cNvPr id="127" name="Rectangle: Rounded Corners 126">
                <a:extLst>
                  <a:ext uri="{FF2B5EF4-FFF2-40B4-BE49-F238E27FC236}">
                    <a16:creationId xmlns:a16="http://schemas.microsoft.com/office/drawing/2014/main" id="{35FCEFB9-B832-258A-F359-08B0FFCF20E6}"/>
                  </a:ext>
                </a:extLst>
              </p:cNvPr>
              <p:cNvSpPr/>
              <p:nvPr/>
            </p:nvSpPr>
            <p:spPr>
              <a:xfrm>
                <a:off x="2784441" y="3869995"/>
                <a:ext cx="726141" cy="414169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900" b="1" dirty="0" err="1"/>
                  <a:t>Sub-Signals</a:t>
                </a:r>
                <a:endParaRPr lang="tr-TR" sz="900" b="1" dirty="0"/>
              </a:p>
            </p:txBody>
          </p:sp>
        </p:grp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04293982-BC8D-36C3-D409-9F6CCF083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9744" b="89776" l="5911" r="93770">
                          <a14:foregroundMark x1="6070" y1="42652" x2="6070" y2="42652"/>
                          <a14:foregroundMark x1="44249" y1="69808" x2="44249" y2="69808"/>
                          <a14:foregroundMark x1="50000" y1="70447" x2="50000" y2="70447"/>
                          <a14:foregroundMark x1="93770" y1="61022" x2="93770" y2="6102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457039" y="3675808"/>
              <a:ext cx="732487" cy="73248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78A3F44-671C-7C91-6C5C-B9FB6A98B729}"/>
                </a:ext>
              </a:extLst>
            </p:cNvPr>
            <p:cNvSpPr txBox="1"/>
            <p:nvPr/>
          </p:nvSpPr>
          <p:spPr>
            <a:xfrm>
              <a:off x="3453184" y="3320309"/>
              <a:ext cx="726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tr-TR"/>
              </a:defPPr>
              <a:lvl1pPr algn="ctr">
                <a:defRPr sz="1100" b="1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defRPr>
              </a:lvl1pPr>
            </a:lstStyle>
            <a:p>
              <a:r>
                <a:rPr lang="tr-TR" sz="1200" dirty="0"/>
                <a:t>Action Engine</a:t>
              </a:r>
            </a:p>
          </p:txBody>
        </p:sp>
        <p:sp>
          <p:nvSpPr>
            <p:cNvPr id="114" name="Isosceles Triangle 113">
              <a:extLst>
                <a:ext uri="{FF2B5EF4-FFF2-40B4-BE49-F238E27FC236}">
                  <a16:creationId xmlns:a16="http://schemas.microsoft.com/office/drawing/2014/main" id="{CFEB602A-256C-EC66-F337-CEBF28D50990}"/>
                </a:ext>
              </a:extLst>
            </p:cNvPr>
            <p:cNvSpPr/>
            <p:nvPr/>
          </p:nvSpPr>
          <p:spPr>
            <a:xfrm>
              <a:off x="3526157" y="4513292"/>
              <a:ext cx="445756" cy="11776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FF9094F6-4213-9602-B8DB-A5DF6A33ED32}"/>
                </a:ext>
              </a:extLst>
            </p:cNvPr>
            <p:cNvGrpSpPr/>
            <p:nvPr/>
          </p:nvGrpSpPr>
          <p:grpSpPr>
            <a:xfrm>
              <a:off x="3366376" y="5161477"/>
              <a:ext cx="926293" cy="342288"/>
              <a:chOff x="1581237" y="5092185"/>
              <a:chExt cx="926293" cy="342288"/>
            </a:xfrm>
          </p:grpSpPr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1C7F0D16-5081-957C-BCE3-F9D3356F0A57}"/>
                  </a:ext>
                </a:extLst>
              </p:cNvPr>
              <p:cNvSpPr/>
              <p:nvPr/>
            </p:nvSpPr>
            <p:spPr>
              <a:xfrm>
                <a:off x="1581237" y="5092185"/>
                <a:ext cx="926293" cy="342288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rtlCol="0" anchor="ctr"/>
              <a:lstStyle/>
              <a:p>
                <a:pPr algn="r"/>
                <a:r>
                  <a:rPr lang="tr-TR" sz="900" b="1" dirty="0" err="1"/>
                  <a:t>Governance</a:t>
                </a:r>
                <a:endParaRPr lang="tr-TR" sz="900" b="1" dirty="0"/>
              </a:p>
            </p:txBody>
          </p:sp>
          <p:pic>
            <p:nvPicPr>
              <p:cNvPr id="124" name="Picture 2" descr="85,500+ Security Staff Icon Stock Illustrations, Royalty-Free Vector  Graphics &amp; Clip Art - iStock">
                <a:extLst>
                  <a:ext uri="{FF2B5EF4-FFF2-40B4-BE49-F238E27FC236}">
                    <a16:creationId xmlns:a16="http://schemas.microsoft.com/office/drawing/2014/main" id="{B75F9748-824D-8414-F633-1A89DFF516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27451" b="73693" l="31373" r="67157">
                            <a14:foregroundMark x1="31373" y1="41340" x2="31373" y2="41340"/>
                            <a14:foregroundMark x1="42647" y1="51307" x2="42647" y2="51307"/>
                            <a14:foregroundMark x1="67157" y1="43301" x2="67157" y2="43301"/>
                            <a14:foregroundMark x1="49673" y1="27451" x2="49673" y2="27451"/>
                            <a14:foregroundMark x1="50327" y1="73693" x2="50327" y2="7369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465" t="23185" r="28931" b="23991"/>
              <a:stretch/>
            </p:blipFill>
            <p:spPr bwMode="auto">
              <a:xfrm>
                <a:off x="1603382" y="5114355"/>
                <a:ext cx="210914" cy="2555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0D1E5C00-C831-C4A3-FB0E-8131EC47FB71}"/>
                </a:ext>
              </a:extLst>
            </p:cNvPr>
            <p:cNvSpPr txBox="1"/>
            <p:nvPr/>
          </p:nvSpPr>
          <p:spPr>
            <a:xfrm>
              <a:off x="3293590" y="5495915"/>
              <a:ext cx="142250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/>
                <a:t>Action </a:t>
              </a:r>
              <a:r>
                <a:rPr lang="tr-TR" sz="800" dirty="0" err="1"/>
                <a:t>Owner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Enrichment</a:t>
              </a:r>
              <a:r>
                <a:rPr lang="tr-TR" sz="800" dirty="0"/>
                <a:t> </a:t>
              </a:r>
              <a:r>
                <a:rPr lang="tr-TR" sz="800" dirty="0" err="1"/>
                <a:t>SQLs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Quality</a:t>
              </a:r>
              <a:r>
                <a:rPr lang="tr-TR" sz="800" dirty="0"/>
                <a:t> Control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Audit</a:t>
              </a:r>
              <a:r>
                <a:rPr lang="tr-TR" sz="800" dirty="0"/>
                <a:t> / </a:t>
              </a:r>
              <a:r>
                <a:rPr lang="tr-TR" sz="800" dirty="0" err="1"/>
                <a:t>Change</a:t>
              </a:r>
              <a:r>
                <a:rPr lang="tr-TR" sz="800" dirty="0"/>
                <a:t> </a:t>
              </a:r>
              <a:r>
                <a:rPr lang="tr-TR" sz="800" dirty="0" err="1"/>
                <a:t>Mngmtn</a:t>
              </a:r>
              <a:endParaRPr lang="tr-TR" sz="800" dirty="0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388E7740-B861-527F-D3ED-73D668107689}"/>
                </a:ext>
              </a:extLst>
            </p:cNvPr>
            <p:cNvSpPr/>
            <p:nvPr/>
          </p:nvSpPr>
          <p:spPr>
            <a:xfrm>
              <a:off x="4221496" y="2788900"/>
              <a:ext cx="679704" cy="224831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7EA94D1D-9B19-148D-E538-A83ED5B7C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00" y1="31375" x2="42500" y2="31375"/>
                          <a14:foregroundMark x1="40500" y1="44750" x2="40500" y2="44750"/>
                          <a14:foregroundMark x1="39125" y1="59875" x2="39125" y2="59875"/>
                          <a14:foregroundMark x1="64625" y1="55625" x2="64625" y2="55625"/>
                          <a14:foregroundMark x1="74250" y1="50750" x2="74250" y2="50750"/>
                          <a14:foregroundMark x1="71250" y1="45625" x2="71250" y2="45625"/>
                          <a14:foregroundMark x1="63500" y1="44000" x2="63500" y2="44000"/>
                          <a14:foregroundMark x1="54125" y1="45125" x2="54125" y2="45125"/>
                          <a14:foregroundMark x1="53125" y1="63875" x2="53125" y2="63875"/>
                          <a14:foregroundMark x1="69000" y1="62875" x2="69000" y2="62875"/>
                          <a14:foregroundMark x1="69750" y1="72250" x2="69750" y2="72250"/>
                          <a14:foregroundMark x1="54625" y1="74000" x2="54625" y2="74000"/>
                          <a14:foregroundMark x1="65000" y1="81875" x2="65000" y2="81875"/>
                          <a14:foregroundMark x1="45375" y1="36625" x2="45375" y2="36625"/>
                          <a14:foregroundMark x1="42875" y1="36250" x2="42875" y2="36250"/>
                          <a14:foregroundMark x1="55625" y1="81375" x2="55625" y2="8137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57583" y="3723188"/>
              <a:ext cx="696262" cy="696262"/>
            </a:xfrm>
            <a:prstGeom prst="rect">
              <a:avLst/>
            </a:prstGeom>
            <a:effectLst/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3A283D41-8FF1-9A6F-1A95-965AEC4F3934}"/>
                </a:ext>
              </a:extLst>
            </p:cNvPr>
            <p:cNvSpPr txBox="1"/>
            <p:nvPr/>
          </p:nvSpPr>
          <p:spPr>
            <a:xfrm>
              <a:off x="4219252" y="2791239"/>
              <a:ext cx="66012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100" b="1" dirty="0">
                  <a:solidFill>
                    <a:schemeClr val="accent1">
                      <a:lumMod val="75000"/>
                    </a:schemeClr>
                  </a:solidFill>
                </a:rPr>
                <a:t>Action </a:t>
              </a:r>
              <a:r>
                <a:rPr lang="tr-TR" sz="1100" b="1" dirty="0" err="1">
                  <a:solidFill>
                    <a:schemeClr val="accent1">
                      <a:lumMod val="75000"/>
                    </a:schemeClr>
                  </a:solidFill>
                </a:rPr>
                <a:t>Pool</a:t>
              </a:r>
              <a:endParaRPr lang="tr-TR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6ADD51A3-CE86-7F9C-89F6-960403A8594E}"/>
                </a:ext>
              </a:extLst>
            </p:cNvPr>
            <p:cNvGrpSpPr/>
            <p:nvPr/>
          </p:nvGrpSpPr>
          <p:grpSpPr>
            <a:xfrm>
              <a:off x="3304786" y="4668540"/>
              <a:ext cx="878631" cy="342288"/>
              <a:chOff x="3567678" y="4743956"/>
              <a:chExt cx="878631" cy="342288"/>
            </a:xfrm>
          </p:grpSpPr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14BEAD90-2CE7-8A22-EAE8-9CC5C1DE047A}"/>
                  </a:ext>
                </a:extLst>
              </p:cNvPr>
              <p:cNvSpPr/>
              <p:nvPr/>
            </p:nvSpPr>
            <p:spPr>
              <a:xfrm>
                <a:off x="3567678" y="4743956"/>
                <a:ext cx="878631" cy="342288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rIns="36000" rtlCol="0" anchor="ctr"/>
              <a:lstStyle/>
              <a:p>
                <a:pPr algn="ctr"/>
                <a:r>
                  <a:rPr lang="tr-TR" sz="900" b="1" dirty="0"/>
                  <a:t>Action </a:t>
                </a:r>
              </a:p>
              <a:p>
                <a:pPr algn="ctr"/>
                <a:r>
                  <a:rPr lang="tr-TR" sz="900" b="1" dirty="0"/>
                  <a:t>Library</a:t>
                </a:r>
              </a:p>
            </p:txBody>
          </p:sp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B5EA731D-EA8D-28CA-0399-00D6F54C5E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ackgroundRemoval t="4205" b="96527" l="3929" r="96786">
                            <a14:foregroundMark x1="30179" y1="27057" x2="30179" y2="27057"/>
                            <a14:foregroundMark x1="49107" y1="22121" x2="49107" y2="22121"/>
                            <a14:foregroundMark x1="50536" y1="4205" x2="50536" y2="4205"/>
                            <a14:foregroundMark x1="19464" y1="78976" x2="19464" y2="78976"/>
                            <a14:foregroundMark x1="15893" y1="91773" x2="15893" y2="91773"/>
                            <a14:foregroundMark x1="38393" y1="74406" x2="38393" y2="74406"/>
                            <a14:foregroundMark x1="49464" y1="93419" x2="49464" y2="93419"/>
                            <a14:foregroundMark x1="65714" y1="92687" x2="65714" y2="92687"/>
                            <a14:foregroundMark x1="81250" y1="92870" x2="81607" y2="92870"/>
                            <a14:foregroundMark x1="91964" y1="96527" x2="91964" y2="96527"/>
                            <a14:foregroundMark x1="91964" y1="92687" x2="91964" y2="92687"/>
                            <a14:foregroundMark x1="96786" y1="95247" x2="96786" y2="95247"/>
                            <a14:foregroundMark x1="7857" y1="35283" x2="7857" y2="35283"/>
                            <a14:foregroundMark x1="3929" y1="95795" x2="3929" y2="95795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623250" y="4795842"/>
                <a:ext cx="238673" cy="233132"/>
              </a:xfrm>
              <a:prstGeom prst="rect">
                <a:avLst/>
              </a:prstGeom>
            </p:spPr>
          </p:pic>
        </p:grpSp>
      </p:grp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0DEB53C-4036-3C79-4C7B-0AD469C7D24D}"/>
              </a:ext>
            </a:extLst>
          </p:cNvPr>
          <p:cNvCxnSpPr>
            <a:cxnSpLocks/>
          </p:cNvCxnSpPr>
          <p:nvPr/>
        </p:nvCxnSpPr>
        <p:spPr>
          <a:xfrm>
            <a:off x="304800" y="5095747"/>
            <a:ext cx="234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3C1F4FA-EF82-8285-9409-207293594D7B}"/>
              </a:ext>
            </a:extLst>
          </p:cNvPr>
          <p:cNvCxnSpPr>
            <a:cxnSpLocks/>
          </p:cNvCxnSpPr>
          <p:nvPr/>
        </p:nvCxnSpPr>
        <p:spPr>
          <a:xfrm>
            <a:off x="304800" y="2711015"/>
            <a:ext cx="234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7" name="Picture 1026">
            <a:extLst>
              <a:ext uri="{FF2B5EF4-FFF2-40B4-BE49-F238E27FC236}">
                <a16:creationId xmlns:a16="http://schemas.microsoft.com/office/drawing/2014/main" id="{90103572-CD43-0190-12E1-60CBAD9E1E0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77655" y="3142530"/>
            <a:ext cx="845417" cy="845417"/>
          </a:xfrm>
          <a:prstGeom prst="rect">
            <a:avLst/>
          </a:prstGeom>
        </p:spPr>
      </p:pic>
      <p:sp>
        <p:nvSpPr>
          <p:cNvPr id="1029" name="Isosceles Triangle 1028">
            <a:extLst>
              <a:ext uri="{FF2B5EF4-FFF2-40B4-BE49-F238E27FC236}">
                <a16:creationId xmlns:a16="http://schemas.microsoft.com/office/drawing/2014/main" id="{061D45DA-CF1A-857D-ABE6-19BAEE920228}"/>
              </a:ext>
            </a:extLst>
          </p:cNvPr>
          <p:cNvSpPr/>
          <p:nvPr/>
        </p:nvSpPr>
        <p:spPr>
          <a:xfrm rot="5400000">
            <a:off x="4079683" y="3593313"/>
            <a:ext cx="445756" cy="11776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C2E34049-E070-7B23-C5AE-FFD0499354BB}"/>
              </a:ext>
            </a:extLst>
          </p:cNvPr>
          <p:cNvSpPr txBox="1"/>
          <p:nvPr/>
        </p:nvSpPr>
        <p:spPr>
          <a:xfrm>
            <a:off x="2953113" y="4102184"/>
            <a:ext cx="95608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b="1" dirty="0"/>
              <a:t>SQL </a:t>
            </a:r>
            <a:r>
              <a:rPr lang="tr-TR" sz="900" dirty="0" err="1"/>
              <a:t>Queries</a:t>
            </a:r>
            <a:r>
              <a:rPr lang="tr-TR" sz="900" dirty="0"/>
              <a:t> </a:t>
            </a:r>
            <a:r>
              <a:rPr lang="tr-TR" sz="900" dirty="0" err="1"/>
              <a:t>prepared</a:t>
            </a:r>
            <a:r>
              <a:rPr lang="tr-TR" sz="900" dirty="0"/>
              <a:t> </a:t>
            </a:r>
            <a:r>
              <a:rPr lang="tr-TR" sz="900" dirty="0" err="1"/>
              <a:t>by</a:t>
            </a:r>
            <a:r>
              <a:rPr lang="tr-TR" sz="900" dirty="0"/>
              <a:t> </a:t>
            </a:r>
            <a:r>
              <a:rPr lang="tr-TR" sz="900" b="1" dirty="0"/>
              <a:t>Action </a:t>
            </a:r>
            <a:r>
              <a:rPr lang="tr-TR" sz="900" b="1" dirty="0" err="1"/>
              <a:t>Owners</a:t>
            </a:r>
            <a:endParaRPr lang="tr-TR" sz="900" b="1" dirty="0"/>
          </a:p>
        </p:txBody>
      </p:sp>
      <p:pic>
        <p:nvPicPr>
          <p:cNvPr id="1031" name="Picture 1030">
            <a:extLst>
              <a:ext uri="{FF2B5EF4-FFF2-40B4-BE49-F238E27FC236}">
                <a16:creationId xmlns:a16="http://schemas.microsoft.com/office/drawing/2014/main" id="{96FBEE2B-3A26-ADD9-C59E-B9D030CD7C96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>
                        <a14:foregroundMark x1="43863" y1="62274" x2="43863" y2="62274"/>
                        <a14:foregroundMark x1="57581" y1="57220" x2="57581" y2="57220"/>
                        <a14:foregroundMark x1="62635" y1="63357" x2="62635" y2="63357"/>
                        <a14:foregroundMark x1="74910" y1="83394" x2="74910" y2="83394"/>
                        <a14:foregroundMark x1="57581" y1="84657" x2="57581" y2="84657"/>
                        <a14:foregroundMark x1="30866" y1="29242" x2="30866" y2="29242"/>
                        <a14:foregroundMark x1="39531" y1="31047" x2="39531" y2="31047"/>
                        <a14:foregroundMark x1="30144" y1="46570" x2="30144" y2="46570"/>
                        <a14:foregroundMark x1="38989" y1="46931" x2="38989" y2="46931"/>
                        <a14:foregroundMark x1="30686" y1="61552" x2="30686" y2="61552"/>
                        <a14:foregroundMark x1="38628" y1="62455" x2="38628" y2="6245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82048" y="3052447"/>
            <a:ext cx="1156177" cy="1156177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B13CD172-D1E9-210A-81E6-B3660A085A6B}"/>
              </a:ext>
            </a:extLst>
          </p:cNvPr>
          <p:cNvSpPr txBox="1"/>
          <p:nvPr/>
        </p:nvSpPr>
        <p:spPr>
          <a:xfrm>
            <a:off x="4888241" y="4102184"/>
            <a:ext cx="956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 err="1"/>
              <a:t>Queries</a:t>
            </a:r>
            <a:r>
              <a:rPr lang="tr-TR" sz="900" dirty="0"/>
              <a:t> </a:t>
            </a:r>
            <a:r>
              <a:rPr lang="tr-TR" sz="900" dirty="0" err="1"/>
              <a:t>are</a:t>
            </a:r>
            <a:r>
              <a:rPr lang="tr-TR" sz="900" dirty="0"/>
              <a:t> </a:t>
            </a:r>
            <a:r>
              <a:rPr lang="tr-TR" sz="900" dirty="0" err="1"/>
              <a:t>checked</a:t>
            </a:r>
            <a:r>
              <a:rPr lang="tr-TR" sz="900" dirty="0"/>
              <a:t> </a:t>
            </a:r>
            <a:r>
              <a:rPr lang="tr-TR" sz="900" dirty="0" err="1"/>
              <a:t>and</a:t>
            </a:r>
            <a:r>
              <a:rPr lang="tr-TR" sz="900" dirty="0"/>
              <a:t> </a:t>
            </a:r>
            <a:r>
              <a:rPr lang="tr-TR" sz="900" b="1" dirty="0" err="1"/>
              <a:t>approved</a:t>
            </a:r>
            <a:r>
              <a:rPr lang="tr-TR" sz="900" b="1" dirty="0"/>
              <a:t> </a:t>
            </a:r>
            <a:r>
              <a:rPr lang="tr-TR" sz="900" dirty="0" err="1"/>
              <a:t>systematically</a:t>
            </a:r>
            <a:endParaRPr lang="tr-TR" sz="900" dirty="0"/>
          </a:p>
        </p:txBody>
      </p:sp>
      <p:sp>
        <p:nvSpPr>
          <p:cNvPr id="1033" name="Isosceles Triangle 1032">
            <a:extLst>
              <a:ext uri="{FF2B5EF4-FFF2-40B4-BE49-F238E27FC236}">
                <a16:creationId xmlns:a16="http://schemas.microsoft.com/office/drawing/2014/main" id="{65769929-22D1-0012-B8D6-CD3B453EA6BD}"/>
              </a:ext>
            </a:extLst>
          </p:cNvPr>
          <p:cNvSpPr/>
          <p:nvPr/>
        </p:nvSpPr>
        <p:spPr>
          <a:xfrm rot="5400000">
            <a:off x="6194836" y="3593313"/>
            <a:ext cx="445756" cy="11776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1034" name="Picture 1033">
            <a:extLst>
              <a:ext uri="{FF2B5EF4-FFF2-40B4-BE49-F238E27FC236}">
                <a16:creationId xmlns:a16="http://schemas.microsoft.com/office/drawing/2014/main" id="{46E183F7-515C-3C85-C3BF-146277078F0B}"/>
              </a:ext>
            </a:extLst>
          </p:cNvPr>
          <p:cNvPicPr>
            <a:picLocks noChangeAspect="1"/>
          </p:cNvPicPr>
          <p:nvPr/>
        </p:nvPicPr>
        <p:blipFill>
          <a:blip r:embed="rId20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2186" b="98907" l="1792" r="97312">
                        <a14:foregroundMark x1="23835" y1="10565" x2="24373" y2="10565"/>
                        <a14:foregroundMark x1="43190" y1="11658" x2="43190" y2="11658"/>
                        <a14:foregroundMark x1="62186" y1="12568" x2="62186" y2="12568"/>
                        <a14:foregroundMark x1="26344" y1="2186" x2="26344" y2="2186"/>
                        <a14:foregroundMark x1="3584" y1="12750" x2="3584" y2="12750"/>
                        <a14:foregroundMark x1="14516" y1="11293" x2="14516" y2="11293"/>
                        <a14:foregroundMark x1="2330" y1="18761" x2="2330" y2="18761"/>
                        <a14:foregroundMark x1="15412" y1="44444" x2="15412" y2="44444"/>
                        <a14:foregroundMark x1="32079" y1="45537" x2="32079" y2="45537"/>
                        <a14:foregroundMark x1="52330" y1="46266" x2="52330" y2="46266"/>
                        <a14:foregroundMark x1="35125" y1="58106" x2="35125" y2="58106"/>
                        <a14:foregroundMark x1="19355" y1="59381" x2="19355" y2="59381"/>
                        <a14:foregroundMark x1="19355" y1="71403" x2="19355" y2="71403"/>
                        <a14:foregroundMark x1="30287" y1="70674" x2="30287" y2="70674"/>
                        <a14:foregroundMark x1="54659" y1="61384" x2="54659" y2="61384"/>
                        <a14:foregroundMark x1="74731" y1="69581" x2="74731" y2="69581"/>
                        <a14:foregroundMark x1="96774" y1="66120" x2="96774" y2="66120"/>
                        <a14:foregroundMark x1="84409" y1="95264" x2="84409" y2="95264"/>
                        <a14:foregroundMark x1="63620" y1="93807" x2="63620" y2="93807"/>
                        <a14:foregroundMark x1="96595" y1="83424" x2="96595" y2="83424"/>
                        <a14:foregroundMark x1="97491" y1="79053" x2="97133" y2="67395"/>
                        <a14:foregroundMark x1="97133" y1="67395" x2="92652" y2="58470"/>
                        <a14:foregroundMark x1="92652" y1="58470" x2="82975" y2="51184"/>
                        <a14:foregroundMark x1="82975" y1="51184" x2="72401" y2="49545"/>
                        <a14:foregroundMark x1="72401" y1="49545" x2="63082" y2="52095"/>
                        <a14:foregroundMark x1="63082" y1="52095" x2="55018" y2="59927"/>
                        <a14:foregroundMark x1="55018" y1="59927" x2="52151" y2="68852"/>
                        <a14:foregroundMark x1="52151" y1="68852" x2="51971" y2="80328"/>
                        <a14:foregroundMark x1="51971" y1="80328" x2="57168" y2="89071"/>
                        <a14:foregroundMark x1="57168" y1="89071" x2="67025" y2="94536"/>
                        <a14:foregroundMark x1="67025" y1="94536" x2="78674" y2="96721"/>
                        <a14:foregroundMark x1="78674" y1="96721" x2="89068" y2="92168"/>
                        <a14:foregroundMark x1="89068" y1="92168" x2="95161" y2="85246"/>
                        <a14:foregroundMark x1="95161" y1="85246" x2="97491" y2="79781"/>
                        <a14:foregroundMark x1="74731" y1="65756" x2="76523" y2="75774"/>
                        <a14:foregroundMark x1="76523" y1="75774" x2="82437" y2="80874"/>
                        <a14:foregroundMark x1="74014" y1="97996" x2="78136" y2="99089"/>
                        <a14:foregroundMark x1="37993" y1="85246" x2="20968" y2="85610"/>
                        <a14:foregroundMark x1="2509" y1="71949" x2="3405" y2="53370"/>
                        <a14:foregroundMark x1="6292" y1="82791" x2="7168" y2="84335"/>
                        <a14:foregroundMark x1="1792" y1="74863" x2="3654" y2="78144"/>
                        <a14:foregroundMark x1="7168" y1="84335" x2="16487" y2="85064"/>
                        <a14:foregroundMark x1="16487" y1="85064" x2="19892" y2="84699"/>
                        <a14:backgroundMark x1="45699" y1="50273" x2="45699" y2="50273"/>
                        <a14:backgroundMark x1="5556" y1="82149" x2="5556" y2="82149"/>
                        <a14:backgroundMark x1="5376" y1="80874" x2="5376" y2="80874"/>
                        <a14:backgroundMark x1="5376" y1="80146" x2="5376" y2="80146"/>
                        <a14:backgroundMark x1="4659" y1="79964" x2="6452" y2="82696"/>
                        <a14:backgroundMark x1="5197" y1="78871" x2="4480" y2="803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96139" y="3192162"/>
            <a:ext cx="851950" cy="838209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6DF73339-5222-CF69-81A3-7BE733F57322}"/>
              </a:ext>
            </a:extLst>
          </p:cNvPr>
          <p:cNvSpPr txBox="1"/>
          <p:nvPr/>
        </p:nvSpPr>
        <p:spPr>
          <a:xfrm>
            <a:off x="8604391" y="4102184"/>
            <a:ext cx="95608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 err="1"/>
              <a:t>Queries</a:t>
            </a:r>
            <a:r>
              <a:rPr lang="tr-TR" sz="900" dirty="0"/>
              <a:t> </a:t>
            </a:r>
            <a:r>
              <a:rPr lang="tr-TR" sz="900" dirty="0" err="1"/>
              <a:t>are</a:t>
            </a:r>
            <a:r>
              <a:rPr lang="tr-TR" sz="900" dirty="0"/>
              <a:t> </a:t>
            </a:r>
            <a:r>
              <a:rPr lang="tr-TR" sz="900" b="1" dirty="0" err="1"/>
              <a:t>scheduled</a:t>
            </a:r>
            <a:r>
              <a:rPr lang="tr-TR" sz="900" b="1" dirty="0"/>
              <a:t> </a:t>
            </a:r>
            <a:r>
              <a:rPr lang="tr-TR" sz="900" dirty="0" err="1"/>
              <a:t>to</a:t>
            </a:r>
            <a:r>
              <a:rPr lang="tr-TR" sz="900" dirty="0"/>
              <a:t> </a:t>
            </a:r>
            <a:r>
              <a:rPr lang="tr-TR" sz="900" dirty="0" err="1"/>
              <a:t>run</a:t>
            </a:r>
            <a:r>
              <a:rPr lang="tr-TR" sz="900" dirty="0"/>
              <a:t> </a:t>
            </a:r>
            <a:r>
              <a:rPr lang="tr-TR" sz="900" dirty="0" err="1"/>
              <a:t>periodically</a:t>
            </a:r>
            <a:endParaRPr lang="tr-TR" sz="900" dirty="0"/>
          </a:p>
        </p:txBody>
      </p:sp>
      <p:pic>
        <p:nvPicPr>
          <p:cNvPr id="1036" name="Picture 1035">
            <a:extLst>
              <a:ext uri="{FF2B5EF4-FFF2-40B4-BE49-F238E27FC236}">
                <a16:creationId xmlns:a16="http://schemas.microsoft.com/office/drawing/2014/main" id="{35D967D8-FA4E-84C1-371C-63DA25529622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3291" b="97989" l="2500" r="96786">
                        <a14:foregroundMark x1="32857" y1="21207" x2="32857" y2="21207"/>
                        <a14:foregroundMark x1="50714" y1="23218" x2="50714" y2="23218"/>
                        <a14:foregroundMark x1="50357" y1="3839" x2="50357" y2="3839"/>
                        <a14:foregroundMark x1="20893" y1="59963" x2="20893" y2="59963"/>
                        <a14:foregroundMark x1="8750" y1="35466" x2="8750" y2="35466"/>
                        <a14:foregroundMark x1="47679" y1="95978" x2="47679" y2="95978"/>
                        <a14:foregroundMark x1="53393" y1="90859" x2="53393" y2="90859"/>
                        <a14:foregroundMark x1="83036" y1="92322" x2="83036" y2="92322"/>
                        <a14:foregroundMark x1="93750" y1="94150" x2="93750" y2="94150"/>
                        <a14:foregroundMark x1="96964" y1="96161" x2="96964" y2="96161"/>
                        <a14:foregroundMark x1="63393" y1="70384" x2="63393" y2="70384"/>
                        <a14:foregroundMark x1="7143" y1="94516" x2="7143" y2="94516"/>
                        <a14:foregroundMark x1="5536" y1="95978" x2="5536" y2="95978"/>
                        <a14:foregroundMark x1="2500" y1="97989" x2="2500" y2="979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6897201" y="3130282"/>
            <a:ext cx="839963" cy="820464"/>
          </a:xfrm>
          <a:prstGeom prst="rect">
            <a:avLst/>
          </a:prstGeom>
        </p:spPr>
      </p:pic>
      <p:sp>
        <p:nvSpPr>
          <p:cNvPr id="1037" name="TextBox 1036">
            <a:extLst>
              <a:ext uri="{FF2B5EF4-FFF2-40B4-BE49-F238E27FC236}">
                <a16:creationId xmlns:a16="http://schemas.microsoft.com/office/drawing/2014/main" id="{3DF46EA8-151D-1735-9DDA-40B5D72C6651}"/>
              </a:ext>
            </a:extLst>
          </p:cNvPr>
          <p:cNvSpPr txBox="1"/>
          <p:nvPr/>
        </p:nvSpPr>
        <p:spPr>
          <a:xfrm>
            <a:off x="6869084" y="4102184"/>
            <a:ext cx="956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 err="1"/>
              <a:t>Qualified</a:t>
            </a:r>
            <a:r>
              <a:rPr lang="tr-TR" sz="900" dirty="0"/>
              <a:t> </a:t>
            </a:r>
            <a:r>
              <a:rPr lang="tr-TR" sz="900" dirty="0" err="1"/>
              <a:t>queries</a:t>
            </a:r>
            <a:r>
              <a:rPr lang="tr-TR" sz="900" dirty="0"/>
              <a:t> </a:t>
            </a:r>
            <a:r>
              <a:rPr lang="tr-TR" sz="900" dirty="0" err="1"/>
              <a:t>are</a:t>
            </a:r>
            <a:r>
              <a:rPr lang="tr-TR" sz="900" dirty="0"/>
              <a:t> </a:t>
            </a:r>
            <a:r>
              <a:rPr lang="tr-TR" sz="900" dirty="0" err="1"/>
              <a:t>stored</a:t>
            </a:r>
            <a:r>
              <a:rPr lang="tr-TR" sz="900" dirty="0"/>
              <a:t> </a:t>
            </a:r>
            <a:r>
              <a:rPr lang="tr-TR" sz="900" dirty="0" err="1"/>
              <a:t>into</a:t>
            </a:r>
            <a:r>
              <a:rPr lang="tr-TR" sz="900" dirty="0"/>
              <a:t> </a:t>
            </a:r>
            <a:r>
              <a:rPr lang="tr-TR" sz="900" dirty="0" err="1"/>
              <a:t>the</a:t>
            </a:r>
            <a:r>
              <a:rPr lang="tr-TR" sz="900" dirty="0"/>
              <a:t> </a:t>
            </a:r>
            <a:r>
              <a:rPr lang="tr-TR" sz="900" b="1" dirty="0"/>
              <a:t>Action Library</a:t>
            </a:r>
          </a:p>
        </p:txBody>
      </p:sp>
      <p:sp>
        <p:nvSpPr>
          <p:cNvPr id="1038" name="Isosceles Triangle 1037">
            <a:extLst>
              <a:ext uri="{FF2B5EF4-FFF2-40B4-BE49-F238E27FC236}">
                <a16:creationId xmlns:a16="http://schemas.microsoft.com/office/drawing/2014/main" id="{F939F8E9-80C8-1C0A-8F8C-2BADEB1E4B07}"/>
              </a:ext>
            </a:extLst>
          </p:cNvPr>
          <p:cNvSpPr/>
          <p:nvPr/>
        </p:nvSpPr>
        <p:spPr>
          <a:xfrm rot="5400000">
            <a:off x="7993774" y="3593313"/>
            <a:ext cx="445756" cy="11776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38730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35B2B53-7187-B9A9-4F3A-0111165626A9}"/>
              </a:ext>
            </a:extLst>
          </p:cNvPr>
          <p:cNvSpPr/>
          <p:nvPr/>
        </p:nvSpPr>
        <p:spPr>
          <a:xfrm>
            <a:off x="0" y="-1"/>
            <a:ext cx="12185522" cy="1994400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194582-7BFB-D6B9-9EE1-FDF0828D9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250" y="0"/>
            <a:ext cx="5887272" cy="2010056"/>
          </a:xfrm>
          <a:prstGeom prst="rect">
            <a:avLst/>
          </a:prstGeom>
        </p:spPr>
      </p:pic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DF8F157A-9CC5-CB32-11D5-85701BAA6FAF}"/>
              </a:ext>
            </a:extLst>
          </p:cNvPr>
          <p:cNvGrpSpPr/>
          <p:nvPr/>
        </p:nvGrpSpPr>
        <p:grpSpPr>
          <a:xfrm>
            <a:off x="327212" y="1410611"/>
            <a:ext cx="11537576" cy="698038"/>
            <a:chOff x="327212" y="1635018"/>
            <a:chExt cx="11537576" cy="698038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44BC0CF-1C8A-7B3C-DC20-40966C3A9F8D}"/>
                </a:ext>
              </a:extLst>
            </p:cNvPr>
            <p:cNvSpPr/>
            <p:nvPr/>
          </p:nvSpPr>
          <p:spPr>
            <a:xfrm>
              <a:off x="327212" y="1635018"/>
              <a:ext cx="11537576" cy="698038"/>
            </a:xfrm>
            <a:prstGeom prst="roundRect">
              <a:avLst/>
            </a:prstGeom>
            <a:solidFill>
              <a:srgbClr val="022460"/>
            </a:solidFill>
            <a:ln w="9525">
              <a:solidFill>
                <a:schemeClr val="tx2">
                  <a:lumMod val="75000"/>
                  <a:lumOff val="2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4619390-A47D-2971-22A2-904E75B3B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06415" y="1780617"/>
              <a:ext cx="590632" cy="43821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72003C5-B245-81CA-5350-ED44EA1CB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72364" y1="33387" x2="72364" y2="33387"/>
                          <a14:foregroundMark x1="63578" y1="39457" x2="63578" y2="39457"/>
                          <a14:foregroundMark x1="49521" y1="40096" x2="49521" y2="40096"/>
                          <a14:foregroundMark x1="49521" y1="51917" x2="49521" y2="51917"/>
                          <a14:foregroundMark x1="35463" y1="40895" x2="35463" y2="40895"/>
                          <a14:foregroundMark x1="26518" y1="34984" x2="26518" y2="34984"/>
                          <a14:foregroundMark x1="18371" y1="32748" x2="18371" y2="327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10151" y="1729476"/>
              <a:ext cx="490701" cy="490701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81B40E5-492E-B9FA-8FF4-3A28170D3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4524" y="1724492"/>
              <a:ext cx="628738" cy="54300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1F465454-BE3F-1861-3910-4A82AE65E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28669" y="1734106"/>
              <a:ext cx="562053" cy="485843"/>
            </a:xfrm>
            <a:prstGeom prst="rect">
              <a:avLst/>
            </a:prstGeom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A69D0EE-F442-8C9C-B0B6-23943873CB03}"/>
                </a:ext>
              </a:extLst>
            </p:cNvPr>
            <p:cNvCxnSpPr/>
            <p:nvPr/>
          </p:nvCxnSpPr>
          <p:spPr>
            <a:xfrm>
              <a:off x="2595212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1627677-7314-8455-C230-2533695E9D5E}"/>
                </a:ext>
              </a:extLst>
            </p:cNvPr>
            <p:cNvCxnSpPr/>
            <p:nvPr/>
          </p:nvCxnSpPr>
          <p:spPr>
            <a:xfrm>
              <a:off x="5255575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B37961-40D6-2BA1-DE8A-B65CC6F4D7BC}"/>
                </a:ext>
              </a:extLst>
            </p:cNvPr>
            <p:cNvCxnSpPr/>
            <p:nvPr/>
          </p:nvCxnSpPr>
          <p:spPr>
            <a:xfrm>
              <a:off x="8184965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A8CEB40-25C6-DD18-4500-1F95BC97984B}"/>
                </a:ext>
              </a:extLst>
            </p:cNvPr>
            <p:cNvSpPr txBox="1"/>
            <p:nvPr/>
          </p:nvSpPr>
          <p:spPr>
            <a:xfrm>
              <a:off x="3578245" y="1679843"/>
              <a:ext cx="12365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30+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2B1DD53-C25B-7918-2097-081EEEAB6C34}"/>
                </a:ext>
              </a:extLst>
            </p:cNvPr>
            <p:cNvSpPr txBox="1"/>
            <p:nvPr/>
          </p:nvSpPr>
          <p:spPr>
            <a:xfrm>
              <a:off x="6141662" y="1679840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Calibri" panose="020F0502020204030204" pitchFamily="34" charset="0"/>
                </a:rPr>
                <a:t>200+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B31349-E11F-E371-ECAA-4E277512E659}"/>
                </a:ext>
              </a:extLst>
            </p:cNvPr>
            <p:cNvSpPr txBox="1"/>
            <p:nvPr/>
          </p:nvSpPr>
          <p:spPr>
            <a:xfrm>
              <a:off x="1061900" y="1680877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C544F6E-1058-CC38-D31D-70AB243B7355}"/>
                </a:ext>
              </a:extLst>
            </p:cNvPr>
            <p:cNvSpPr txBox="1"/>
            <p:nvPr/>
          </p:nvSpPr>
          <p:spPr>
            <a:xfrm>
              <a:off x="9238763" y="1751563"/>
              <a:ext cx="6434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23B445A-30A3-111F-27B2-77F3776ED619}"/>
                </a:ext>
              </a:extLst>
            </p:cNvPr>
            <p:cNvSpPr txBox="1"/>
            <p:nvPr/>
          </p:nvSpPr>
          <p:spPr>
            <a:xfrm>
              <a:off x="3569281" y="2001357"/>
              <a:ext cx="12235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Analytic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9738018-8E24-A0D7-3DAE-01B667582588}"/>
                </a:ext>
              </a:extLst>
            </p:cNvPr>
            <p:cNvSpPr txBox="1"/>
            <p:nvPr/>
          </p:nvSpPr>
          <p:spPr>
            <a:xfrm>
              <a:off x="6208340" y="2001357"/>
              <a:ext cx="13567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Distinct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Signals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18C0F2B-9456-C31B-F7D2-B615CD2282DA}"/>
                </a:ext>
              </a:extLst>
            </p:cNvPr>
            <p:cNvSpPr txBox="1"/>
            <p:nvPr/>
          </p:nvSpPr>
          <p:spPr>
            <a:xfrm>
              <a:off x="1079830" y="2011356"/>
              <a:ext cx="16581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Layers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F7A6F03-32C5-BCDC-11A2-9360F86B14BC}"/>
                </a:ext>
              </a:extLst>
            </p:cNvPr>
            <p:cNvSpPr txBox="1"/>
            <p:nvPr/>
          </p:nvSpPr>
          <p:spPr>
            <a:xfrm>
              <a:off x="9216823" y="2001357"/>
              <a:ext cx="6875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Engines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49EC395A-F70F-B403-3B1F-46F3853962F3}"/>
                </a:ext>
              </a:extLst>
            </p:cNvPr>
            <p:cNvSpPr txBox="1"/>
            <p:nvPr/>
          </p:nvSpPr>
          <p:spPr>
            <a:xfrm>
              <a:off x="10381933" y="1751563"/>
              <a:ext cx="6434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D42C4787-5AEF-49E5-E0B3-C3BF446AD566}"/>
                </a:ext>
              </a:extLst>
            </p:cNvPr>
            <p:cNvSpPr txBox="1"/>
            <p:nvPr/>
          </p:nvSpPr>
          <p:spPr>
            <a:xfrm>
              <a:off x="10359993" y="2001357"/>
              <a:ext cx="6875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Pools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CAF3423-A05F-9CB5-E83A-2478FF1CA4BB}"/>
              </a:ext>
            </a:extLst>
          </p:cNvPr>
          <p:cNvSpPr/>
          <p:nvPr/>
        </p:nvSpPr>
        <p:spPr>
          <a:xfrm>
            <a:off x="0" y="6711900"/>
            <a:ext cx="12185522" cy="171241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6EEFC906-5946-6DC3-94F7-605DC112A2BB}"/>
              </a:ext>
            </a:extLst>
          </p:cNvPr>
          <p:cNvCxnSpPr>
            <a:cxnSpLocks/>
          </p:cNvCxnSpPr>
          <p:nvPr/>
        </p:nvCxnSpPr>
        <p:spPr>
          <a:xfrm flipH="1">
            <a:off x="10065520" y="1601185"/>
            <a:ext cx="149566" cy="365060"/>
          </a:xfrm>
          <a:prstGeom prst="line">
            <a:avLst/>
          </a:prstGeom>
          <a:ln>
            <a:solidFill>
              <a:srgbClr val="34C1D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133B993-F9DB-C4B6-7AE1-29DB50148F77}"/>
              </a:ext>
            </a:extLst>
          </p:cNvPr>
          <p:cNvSpPr txBox="1"/>
          <p:nvPr/>
        </p:nvSpPr>
        <p:spPr>
          <a:xfrm>
            <a:off x="268940" y="2781"/>
            <a:ext cx="1019663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1 : Action Management : </a:t>
            </a:r>
            <a:r>
              <a:rPr kumimoji="0" lang="tr-TR" sz="4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Priority</a:t>
            </a:r>
            <a:endParaRPr kumimoji="0" lang="tr-TR" sz="4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2A1B24F-8913-642A-4860-3EC891D9515A}"/>
              </a:ext>
            </a:extLst>
          </p:cNvPr>
          <p:cNvSpPr/>
          <p:nvPr/>
        </p:nvSpPr>
        <p:spPr>
          <a:xfrm>
            <a:off x="2822904" y="2746385"/>
            <a:ext cx="7029834" cy="2290834"/>
          </a:xfrm>
          <a:prstGeom prst="roundRect">
            <a:avLst>
              <a:gd name="adj" fmla="val 1813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509EB2A0-F079-3EFC-2A89-13461CC5F0B6}"/>
              </a:ext>
            </a:extLst>
          </p:cNvPr>
          <p:cNvSpPr/>
          <p:nvPr/>
        </p:nvSpPr>
        <p:spPr>
          <a:xfrm rot="5400000">
            <a:off x="9545082" y="3855934"/>
            <a:ext cx="1228150" cy="21006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3A165902-8A83-93D5-7B9F-C8878F0FBDA8}"/>
              </a:ext>
            </a:extLst>
          </p:cNvPr>
          <p:cNvSpPr/>
          <p:nvPr/>
        </p:nvSpPr>
        <p:spPr>
          <a:xfrm>
            <a:off x="10465576" y="2746385"/>
            <a:ext cx="1399212" cy="2266352"/>
          </a:xfrm>
          <a:prstGeom prst="roundRect">
            <a:avLst>
              <a:gd name="adj" fmla="val 7697"/>
            </a:avLst>
          </a:prstGeom>
          <a:solidFill>
            <a:srgbClr val="E1E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75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5F17D7C3-EA4F-3D07-9D17-A3F4390C5F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42500" y1="31375" x2="42500" y2="31375"/>
                        <a14:foregroundMark x1="40500" y1="44750" x2="40500" y2="44750"/>
                        <a14:foregroundMark x1="39125" y1="59875" x2="39125" y2="59875"/>
                        <a14:foregroundMark x1="64625" y1="55625" x2="64625" y2="55625"/>
                        <a14:foregroundMark x1="74250" y1="50750" x2="74250" y2="50750"/>
                        <a14:foregroundMark x1="71250" y1="45625" x2="71250" y2="45625"/>
                        <a14:foregroundMark x1="63500" y1="44000" x2="63500" y2="44000"/>
                        <a14:foregroundMark x1="54125" y1="45125" x2="54125" y2="45125"/>
                        <a14:foregroundMark x1="53125" y1="63875" x2="53125" y2="63875"/>
                        <a14:foregroundMark x1="69000" y1="62875" x2="69000" y2="62875"/>
                        <a14:foregroundMark x1="69750" y1="72250" x2="69750" y2="72250"/>
                        <a14:foregroundMark x1="54625" y1="74000" x2="54625" y2="74000"/>
                        <a14:foregroundMark x1="65000" y1="81875" x2="65000" y2="81875"/>
                        <a14:foregroundMark x1="45375" y1="36625" x2="45375" y2="36625"/>
                        <a14:foregroundMark x1="42875" y1="36250" x2="42875" y2="36250"/>
                        <a14:foregroundMark x1="55625" y1="81375" x2="55625" y2="81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65577" y="2808601"/>
            <a:ext cx="421140" cy="421140"/>
          </a:xfrm>
          <a:prstGeom prst="rect">
            <a:avLst/>
          </a:prstGeom>
          <a:effectLst/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D97506B8-97AA-B7AF-F339-676C1DCF62FC}"/>
              </a:ext>
            </a:extLst>
          </p:cNvPr>
          <p:cNvSpPr txBox="1"/>
          <p:nvPr/>
        </p:nvSpPr>
        <p:spPr>
          <a:xfrm>
            <a:off x="10830155" y="2776701"/>
            <a:ext cx="10017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Dynamic</a:t>
            </a:r>
            <a:r>
              <a: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Action </a:t>
            </a:r>
            <a:r>
              <a:rPr kumimoji="0" lang="tr-TR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Scores</a:t>
            </a:r>
            <a:endParaRPr kumimoji="0" lang="tr-T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900A207-C63B-3820-A922-5FB90FF0ABCF}"/>
              </a:ext>
            </a:extLst>
          </p:cNvPr>
          <p:cNvCxnSpPr/>
          <p:nvPr/>
        </p:nvCxnSpPr>
        <p:spPr>
          <a:xfrm>
            <a:off x="10449580" y="3211802"/>
            <a:ext cx="1413275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ight Brace 85">
            <a:extLst>
              <a:ext uri="{FF2B5EF4-FFF2-40B4-BE49-F238E27FC236}">
                <a16:creationId xmlns:a16="http://schemas.microsoft.com/office/drawing/2014/main" id="{45DA0A6B-1138-42DB-57B6-1D0BE35BE483}"/>
              </a:ext>
            </a:extLst>
          </p:cNvPr>
          <p:cNvSpPr/>
          <p:nvPr/>
        </p:nvSpPr>
        <p:spPr>
          <a:xfrm rot="5400000">
            <a:off x="7098161" y="1432609"/>
            <a:ext cx="223153" cy="7675533"/>
          </a:xfrm>
          <a:prstGeom prst="rightBrace">
            <a:avLst>
              <a:gd name="adj1" fmla="val 121539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DE68BDE-C9C5-2C90-7F7A-933A4A77DD3E}"/>
              </a:ext>
            </a:extLst>
          </p:cNvPr>
          <p:cNvSpPr/>
          <p:nvPr/>
        </p:nvSpPr>
        <p:spPr>
          <a:xfrm>
            <a:off x="3124649" y="5415817"/>
            <a:ext cx="1142338" cy="684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Performance</a:t>
            </a: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Owner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3B1B5BA6-C1E4-85F1-3741-4FE6392E033D}"/>
              </a:ext>
            </a:extLst>
          </p:cNvPr>
          <p:cNvSpPr/>
          <p:nvPr/>
        </p:nvSpPr>
        <p:spPr>
          <a:xfrm>
            <a:off x="4356796" y="5415817"/>
            <a:ext cx="5980662" cy="68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Responsible</a:t>
            </a:r>
            <a:r>
              <a:rPr lang="tr-TR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Defining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organizational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priorities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tr-TR" sz="10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Communicating</a:t>
            </a:r>
            <a:r>
              <a:rPr lang="tr-TR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  <a:r>
              <a:rPr lang="tr-TR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adjusting</a:t>
            </a:r>
            <a:r>
              <a:rPr lang="tr-TR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scoring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weights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including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underlying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rationale</a:t>
            </a:r>
            <a:endParaRPr lang="tr-TR" sz="1000" dirty="0">
              <a:solidFill>
                <a:srgbClr val="022460"/>
              </a:solidFill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Monitoring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impact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outcomes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of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scoring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adjustments</a:t>
            </a: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0B7C3BA-96E3-FE2D-5CDF-267CE7F9C57D}"/>
              </a:ext>
            </a:extLst>
          </p:cNvPr>
          <p:cNvSpPr txBox="1"/>
          <p:nvPr/>
        </p:nvSpPr>
        <p:spPr>
          <a:xfrm>
            <a:off x="10491204" y="3299378"/>
            <a:ext cx="133231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Continuously recalculated action scores combining RM KPIs, organizational priorities, customer propensity and profitability through configurable weights.</a:t>
            </a:r>
            <a:endParaRPr lang="tr-TR" sz="1000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2DBE2DD-D739-2349-F872-DB2CD2AF3E97}"/>
              </a:ext>
            </a:extLst>
          </p:cNvPr>
          <p:cNvSpPr/>
          <p:nvPr/>
        </p:nvSpPr>
        <p:spPr>
          <a:xfrm>
            <a:off x="10449579" y="5415817"/>
            <a:ext cx="1413275" cy="684000"/>
          </a:xfrm>
          <a:prstGeom prst="roundRect">
            <a:avLst/>
          </a:prstGeom>
          <a:solidFill>
            <a:srgbClr val="73D7D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36000" rtlCol="0" anchor="ctr"/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Continuous</a:t>
            </a: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tr-TR" sz="11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Accountable</a:t>
            </a:r>
            <a:endParaRPr lang="tr-TR" sz="1100" b="1" dirty="0">
              <a:solidFill>
                <a:srgbClr val="022460"/>
              </a:solidFill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Qulity</a:t>
            </a:r>
            <a:r>
              <a:rPr lang="tr-TR" sz="11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tr-TR" sz="11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Assured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7C2D5-A0B3-3683-D462-1FCE1D7466AF}"/>
              </a:ext>
            </a:extLst>
          </p:cNvPr>
          <p:cNvSpPr txBox="1"/>
          <p:nvPr/>
        </p:nvSpPr>
        <p:spPr>
          <a:xfrm>
            <a:off x="251010" y="611626"/>
            <a:ext cx="98031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Dynamic prioritization scores combining multiple business dimensions through configurable weights.</a:t>
            </a:r>
            <a:endParaRPr kumimoji="0" lang="tr-TR" sz="1700" b="0" i="0" u="none" strike="noStrike" kern="1200" cap="none" spc="0" normalizeH="0" baseline="0" noProof="0" dirty="0">
              <a:ln>
                <a:noFill/>
              </a:ln>
              <a:solidFill>
                <a:srgbClr val="34C1D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C40D2AD-FC03-EF92-CAFD-5E8C07FE9FC8}"/>
              </a:ext>
            </a:extLst>
          </p:cNvPr>
          <p:cNvGrpSpPr/>
          <p:nvPr/>
        </p:nvGrpSpPr>
        <p:grpSpPr>
          <a:xfrm>
            <a:off x="359104" y="2403238"/>
            <a:ext cx="2268000" cy="3856158"/>
            <a:chOff x="4958761" y="2403238"/>
            <a:chExt cx="2268000" cy="3856158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C0BF70F-F347-B984-6107-26578BF0396C}"/>
                </a:ext>
              </a:extLst>
            </p:cNvPr>
            <p:cNvGrpSpPr/>
            <p:nvPr/>
          </p:nvGrpSpPr>
          <p:grpSpPr>
            <a:xfrm>
              <a:off x="4958761" y="2403238"/>
              <a:ext cx="2268000" cy="3856158"/>
              <a:chOff x="2859740" y="2478654"/>
              <a:chExt cx="2472549" cy="3856158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29002270-722F-1C9A-8DD6-FC102F07B621}"/>
                  </a:ext>
                </a:extLst>
              </p:cNvPr>
              <p:cNvSpPr/>
              <p:nvPr/>
            </p:nvSpPr>
            <p:spPr>
              <a:xfrm>
                <a:off x="2859740" y="2478655"/>
                <a:ext cx="2472549" cy="3856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AE557A3-23C8-A2A0-776F-38EA9D5F7A3F}"/>
                  </a:ext>
                </a:extLst>
              </p:cNvPr>
              <p:cNvSpPr txBox="1"/>
              <p:nvPr/>
            </p:nvSpPr>
            <p:spPr>
              <a:xfrm>
                <a:off x="3362902" y="2478654"/>
                <a:ext cx="14602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r-TR" sz="1400" b="1" dirty="0">
                    <a:solidFill>
                      <a:schemeClr val="bg1">
                        <a:lumMod val="50000"/>
                      </a:schemeClr>
                    </a:solidFill>
                  </a:rPr>
                  <a:t>PRIORITIZE</a:t>
                </a:r>
              </a:p>
            </p:txBody>
          </p:sp>
        </p:grp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365E9206-40C1-6A9F-C551-C073BCCB7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5272" b="93930" l="3994" r="95208">
                          <a14:foregroundMark x1="17093" y1="9105" x2="17093" y2="9105"/>
                          <a14:foregroundMark x1="22045" y1="5591" x2="22045" y2="5591"/>
                          <a14:foregroundMark x1="4313" y1="19329" x2="4313" y2="19329"/>
                          <a14:foregroundMark x1="15335" y1="23323" x2="15335" y2="23323"/>
                          <a14:foregroundMark x1="50000" y1="18690" x2="50000" y2="18690"/>
                          <a14:foregroundMark x1="54153" y1="24601" x2="54153" y2="24601"/>
                          <a14:foregroundMark x1="61342" y1="43291" x2="61342" y2="43291"/>
                          <a14:foregroundMark x1="62141" y1="49361" x2="62141" y2="49361"/>
                          <a14:foregroundMark x1="63259" y1="56550" x2="63259" y2="56550"/>
                          <a14:foregroundMark x1="64856" y1="62141" x2="64856" y2="62141"/>
                          <a14:foregroundMark x1="73642" y1="59425" x2="73642" y2="59425"/>
                          <a14:foregroundMark x1="84345" y1="49521" x2="84345" y2="49521"/>
                          <a14:foregroundMark x1="85304" y1="53674" x2="85304" y2="53674"/>
                          <a14:foregroundMark x1="86102" y1="49521" x2="86102" y2="49521"/>
                          <a14:foregroundMark x1="89137" y1="52077" x2="89137" y2="52077"/>
                          <a14:foregroundMark x1="94888" y1="60703" x2="94888" y2="60703"/>
                          <a14:foregroundMark x1="95367" y1="74441" x2="95367" y2="74441"/>
                          <a14:foregroundMark x1="60863" y1="75080" x2="60863" y2="75080"/>
                          <a14:foregroundMark x1="59425" y1="80511" x2="59425" y2="80511"/>
                          <a14:foregroundMark x1="52556" y1="87220" x2="52556" y2="87220"/>
                          <a14:foregroundMark x1="29393" y1="87061" x2="29393" y2="87061"/>
                          <a14:foregroundMark x1="36262" y1="93291" x2="56869" y2="93930"/>
                          <a14:foregroundMark x1="73802" y1="87700" x2="73482" y2="76677"/>
                          <a14:foregroundMark x1="70128" y1="74601" x2="55112" y2="74920"/>
                          <a14:foregroundMark x1="45208" y1="87061" x2="53035" y2="87540"/>
                          <a14:backgroundMark x1="20607" y1="52875" x2="20607" y2="52875"/>
                          <a14:backgroundMark x1="83706" y1="52875" x2="83706" y2="5287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298250" y="3573530"/>
              <a:ext cx="732487" cy="73248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CC00932-CC6C-F532-84AE-D31811E95C41}"/>
                </a:ext>
              </a:extLst>
            </p:cNvPr>
            <p:cNvSpPr txBox="1"/>
            <p:nvPr/>
          </p:nvSpPr>
          <p:spPr>
            <a:xfrm>
              <a:off x="6247607" y="3129562"/>
              <a:ext cx="7261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200" b="1" dirty="0" err="1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Scoring</a:t>
              </a:r>
              <a:r>
                <a:rPr lang="tr-TR" sz="1200" b="1" dirty="0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 Engine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F40E20E-ED03-D11F-0760-552820D7558E}"/>
                </a:ext>
              </a:extLst>
            </p:cNvPr>
            <p:cNvGrpSpPr/>
            <p:nvPr/>
          </p:nvGrpSpPr>
          <p:grpSpPr>
            <a:xfrm>
              <a:off x="6212720" y="4668540"/>
              <a:ext cx="878631" cy="342288"/>
              <a:chOff x="3567678" y="4743956"/>
              <a:chExt cx="878631" cy="342288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3DD5B92C-88CE-D399-6671-024A59889B5B}"/>
                  </a:ext>
                </a:extLst>
              </p:cNvPr>
              <p:cNvSpPr/>
              <p:nvPr/>
            </p:nvSpPr>
            <p:spPr>
              <a:xfrm>
                <a:off x="3567678" y="4743956"/>
                <a:ext cx="878631" cy="342288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rIns="36000" rtlCol="0" anchor="ctr"/>
              <a:lstStyle/>
              <a:p>
                <a:pPr algn="ctr"/>
                <a:r>
                  <a:rPr lang="tr-TR" sz="900" b="1" dirty="0"/>
                  <a:t>Formula </a:t>
                </a:r>
              </a:p>
              <a:p>
                <a:pPr algn="ctr"/>
                <a:r>
                  <a:rPr lang="tr-TR" sz="900" b="1" dirty="0"/>
                  <a:t>Library</a:t>
                </a:r>
              </a:p>
            </p:txBody>
          </p:sp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9B95F9C5-1A2F-4B5B-8D79-52BC547A38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4205" b="96527" l="3929" r="96786">
                            <a14:foregroundMark x1="30179" y1="27057" x2="30179" y2="27057"/>
                            <a14:foregroundMark x1="49107" y1="22121" x2="49107" y2="22121"/>
                            <a14:foregroundMark x1="50536" y1="4205" x2="50536" y2="4205"/>
                            <a14:foregroundMark x1="19464" y1="78976" x2="19464" y2="78976"/>
                            <a14:foregroundMark x1="15893" y1="91773" x2="15893" y2="91773"/>
                            <a14:foregroundMark x1="38393" y1="74406" x2="38393" y2="74406"/>
                            <a14:foregroundMark x1="49464" y1="93419" x2="49464" y2="93419"/>
                            <a14:foregroundMark x1="65714" y1="92687" x2="65714" y2="92687"/>
                            <a14:foregroundMark x1="81250" y1="92870" x2="81607" y2="92870"/>
                            <a14:foregroundMark x1="91964" y1="96527" x2="91964" y2="96527"/>
                            <a14:foregroundMark x1="91964" y1="92687" x2="91964" y2="92687"/>
                            <a14:foregroundMark x1="96786" y1="95247" x2="96786" y2="95247"/>
                            <a14:foregroundMark x1="7857" y1="35283" x2="7857" y2="35283"/>
                            <a14:foregroundMark x1="3929" y1="95795" x2="3929" y2="95795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623250" y="4795842"/>
                <a:ext cx="238673" cy="233132"/>
              </a:xfrm>
              <a:prstGeom prst="rect">
                <a:avLst/>
              </a:prstGeom>
            </p:spPr>
          </p:pic>
        </p:grp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8BEAE470-A241-C043-111D-40471CB6DB82}"/>
                </a:ext>
              </a:extLst>
            </p:cNvPr>
            <p:cNvSpPr/>
            <p:nvPr/>
          </p:nvSpPr>
          <p:spPr>
            <a:xfrm>
              <a:off x="6434091" y="4513292"/>
              <a:ext cx="445756" cy="11776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5BF4D08-F253-8976-7674-CBD92FBA9D2A}"/>
                </a:ext>
              </a:extLst>
            </p:cNvPr>
            <p:cNvGrpSpPr/>
            <p:nvPr/>
          </p:nvGrpSpPr>
          <p:grpSpPr>
            <a:xfrm>
              <a:off x="5122982" y="2788900"/>
              <a:ext cx="726141" cy="2080442"/>
              <a:chOff x="484094" y="2864680"/>
              <a:chExt cx="726141" cy="2080442"/>
            </a:xfrm>
          </p:grpSpPr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0AA8D792-DEFB-67DA-8992-EF416D7586C3}"/>
                  </a:ext>
                </a:extLst>
              </p:cNvPr>
              <p:cNvSpPr/>
              <p:nvPr/>
            </p:nvSpPr>
            <p:spPr>
              <a:xfrm>
                <a:off x="484094" y="3421929"/>
                <a:ext cx="726141" cy="342288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900" dirty="0"/>
                  <a:t>RM </a:t>
                </a:r>
                <a:r>
                  <a:rPr lang="tr-TR" sz="900" dirty="0" err="1"/>
                  <a:t>KPIs</a:t>
                </a:r>
                <a:endParaRPr lang="tr-TR" sz="900" dirty="0"/>
              </a:p>
            </p:txBody>
          </p:sp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6E774EA1-2CB1-2789-8193-FA8A53F41F8E}"/>
                  </a:ext>
                </a:extLst>
              </p:cNvPr>
              <p:cNvSpPr/>
              <p:nvPr/>
            </p:nvSpPr>
            <p:spPr>
              <a:xfrm>
                <a:off x="484094" y="3815564"/>
                <a:ext cx="726141" cy="342288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r>
                  <a:rPr lang="tr-TR" sz="900" dirty="0"/>
                  <a:t>Org. </a:t>
                </a:r>
                <a:r>
                  <a:rPr lang="tr-TR" sz="900" dirty="0" err="1"/>
                  <a:t>Priorities</a:t>
                </a:r>
                <a:endParaRPr lang="tr-TR" sz="900" dirty="0"/>
              </a:p>
            </p:txBody>
          </p:sp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EB798930-C9D3-A685-9CD8-64DFBAA8FDA2}"/>
                  </a:ext>
                </a:extLst>
              </p:cNvPr>
              <p:cNvSpPr/>
              <p:nvPr/>
            </p:nvSpPr>
            <p:spPr>
              <a:xfrm>
                <a:off x="484094" y="4209199"/>
                <a:ext cx="726141" cy="342288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900" dirty="0" err="1"/>
                  <a:t>Customer</a:t>
                </a:r>
                <a:r>
                  <a:rPr lang="tr-TR" sz="900" dirty="0"/>
                  <a:t> </a:t>
                </a:r>
                <a:r>
                  <a:rPr lang="tr-TR" sz="900" dirty="0" err="1"/>
                  <a:t>Reqrmnts</a:t>
                </a:r>
                <a:endParaRPr lang="tr-TR" sz="900" dirty="0"/>
              </a:p>
            </p:txBody>
          </p:sp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FA96AE74-944D-1F5E-14DC-18E93249D89F}"/>
                  </a:ext>
                </a:extLst>
              </p:cNvPr>
              <p:cNvSpPr/>
              <p:nvPr/>
            </p:nvSpPr>
            <p:spPr>
              <a:xfrm>
                <a:off x="484094" y="4602834"/>
                <a:ext cx="726141" cy="342288"/>
              </a:xfrm>
              <a:prstGeom prst="round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sz="900" dirty="0" err="1"/>
                  <a:t>Profitblty</a:t>
                </a:r>
                <a:endParaRPr lang="tr-TR" sz="900" dirty="0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C59D1C6-6CD0-2A0B-0030-6A412CCF8392}"/>
                  </a:ext>
                </a:extLst>
              </p:cNvPr>
              <p:cNvSpPr txBox="1"/>
              <p:nvPr/>
            </p:nvSpPr>
            <p:spPr>
              <a:xfrm>
                <a:off x="484094" y="2864680"/>
                <a:ext cx="72614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r-TR" sz="1100" b="1" dirty="0" err="1"/>
                  <a:t>Priority</a:t>
                </a:r>
                <a:r>
                  <a:rPr lang="tr-TR" sz="1100" b="1" dirty="0"/>
                  <a:t> </a:t>
                </a:r>
                <a:r>
                  <a:rPr lang="tr-TR" sz="1100" b="1" dirty="0" err="1"/>
                  <a:t>Signals</a:t>
                </a:r>
                <a:endParaRPr lang="tr-TR" sz="1100" b="1" dirty="0"/>
              </a:p>
            </p:txBody>
          </p: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2C2C8FB-D7F1-A078-FED9-52ACEED4DE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094" y="3305156"/>
                <a:ext cx="72614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4" name="Right Brace 73">
              <a:extLst>
                <a:ext uri="{FF2B5EF4-FFF2-40B4-BE49-F238E27FC236}">
                  <a16:creationId xmlns:a16="http://schemas.microsoft.com/office/drawing/2014/main" id="{448E9A24-2908-CABF-C4F2-4F0BEB62CBD6}"/>
                </a:ext>
              </a:extLst>
            </p:cNvPr>
            <p:cNvSpPr/>
            <p:nvPr/>
          </p:nvSpPr>
          <p:spPr>
            <a:xfrm>
              <a:off x="5861040" y="3334365"/>
              <a:ext cx="196337" cy="1538326"/>
            </a:xfrm>
            <a:prstGeom prst="rightBrace">
              <a:avLst>
                <a:gd name="adj1" fmla="val 121539"/>
                <a:gd name="adj2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87B3CD5-B2C7-F8B3-C26D-EDB2C4634295}"/>
                </a:ext>
              </a:extLst>
            </p:cNvPr>
            <p:cNvGrpSpPr/>
            <p:nvPr/>
          </p:nvGrpSpPr>
          <p:grpSpPr>
            <a:xfrm>
              <a:off x="5613062" y="5161477"/>
              <a:ext cx="926293" cy="342288"/>
              <a:chOff x="1581237" y="5092185"/>
              <a:chExt cx="926293" cy="342288"/>
            </a:xfrm>
          </p:grpSpPr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EA74AF16-768A-2B3A-3DE5-714C19D4DC9E}"/>
                  </a:ext>
                </a:extLst>
              </p:cNvPr>
              <p:cNvSpPr/>
              <p:nvPr/>
            </p:nvSpPr>
            <p:spPr>
              <a:xfrm>
                <a:off x="1581237" y="5092185"/>
                <a:ext cx="926293" cy="342288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rtlCol="0" anchor="ctr"/>
              <a:lstStyle/>
              <a:p>
                <a:pPr algn="r"/>
                <a:r>
                  <a:rPr lang="tr-TR" sz="900" b="1" dirty="0" err="1"/>
                  <a:t>Governance</a:t>
                </a:r>
                <a:endParaRPr lang="tr-TR" sz="900" b="1" dirty="0"/>
              </a:p>
            </p:txBody>
          </p:sp>
          <p:pic>
            <p:nvPicPr>
              <p:cNvPr id="78" name="Picture 2" descr="85,500+ Security Staff Icon Stock Illustrations, Royalty-Free Vector  Graphics &amp; Clip Art - iStock">
                <a:extLst>
                  <a:ext uri="{FF2B5EF4-FFF2-40B4-BE49-F238E27FC236}">
                    <a16:creationId xmlns:a16="http://schemas.microsoft.com/office/drawing/2014/main" id="{E3A37CC8-4992-D663-15E8-721F047545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backgroundRemoval t="27451" b="73693" l="31373" r="67157">
                            <a14:foregroundMark x1="31373" y1="41340" x2="31373" y2="41340"/>
                            <a14:foregroundMark x1="42647" y1="51307" x2="42647" y2="51307"/>
                            <a14:foregroundMark x1="67157" y1="43301" x2="67157" y2="43301"/>
                            <a14:foregroundMark x1="49673" y1="27451" x2="49673" y2="27451"/>
                            <a14:foregroundMark x1="50327" y1="73693" x2="50327" y2="7369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465" t="23185" r="28931" b="23991"/>
              <a:stretch/>
            </p:blipFill>
            <p:spPr bwMode="auto">
              <a:xfrm>
                <a:off x="1603382" y="5114355"/>
                <a:ext cx="210914" cy="2555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DF3F9CD-2626-9A46-428A-4FBA1EAA5D97}"/>
                </a:ext>
              </a:extLst>
            </p:cNvPr>
            <p:cNvSpPr txBox="1"/>
            <p:nvPr/>
          </p:nvSpPr>
          <p:spPr>
            <a:xfrm>
              <a:off x="5513244" y="5495915"/>
              <a:ext cx="15966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/>
                <a:t>Strategic </a:t>
              </a:r>
              <a:r>
                <a:rPr lang="tr-TR" sz="800" dirty="0" err="1"/>
                <a:t>Priority</a:t>
              </a:r>
              <a:r>
                <a:rPr lang="tr-TR" sz="800" dirty="0"/>
                <a:t> </a:t>
              </a:r>
              <a:r>
                <a:rPr lang="tr-TR" sz="800" dirty="0" err="1"/>
                <a:t>Owner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Signal</a:t>
              </a:r>
              <a:r>
                <a:rPr lang="tr-TR" sz="800" dirty="0"/>
                <a:t> </a:t>
              </a:r>
              <a:r>
                <a:rPr lang="tr-TR" sz="800" dirty="0" err="1"/>
                <a:t>Weights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Organizational</a:t>
              </a:r>
              <a:r>
                <a:rPr lang="tr-TR" sz="800" dirty="0"/>
                <a:t> </a:t>
              </a:r>
              <a:r>
                <a:rPr lang="tr-TR" sz="800" dirty="0" err="1"/>
                <a:t>Diversity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Audit</a:t>
              </a:r>
              <a:r>
                <a:rPr lang="tr-TR" sz="800" dirty="0"/>
                <a:t> / </a:t>
              </a:r>
              <a:r>
                <a:rPr lang="tr-TR" sz="800" dirty="0" err="1"/>
                <a:t>Change</a:t>
              </a:r>
              <a:r>
                <a:rPr lang="tr-TR" sz="800" dirty="0"/>
                <a:t> </a:t>
              </a:r>
              <a:r>
                <a:rPr lang="tr-TR" sz="800" dirty="0" err="1"/>
                <a:t>Mngmtn</a:t>
              </a:r>
              <a:endParaRPr lang="tr-TR" sz="800" dirty="0"/>
            </a:p>
          </p:txBody>
        </p:sp>
      </p:grp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0DEB53C-4036-3C79-4C7B-0AD469C7D24D}"/>
              </a:ext>
            </a:extLst>
          </p:cNvPr>
          <p:cNvCxnSpPr>
            <a:cxnSpLocks/>
          </p:cNvCxnSpPr>
          <p:nvPr/>
        </p:nvCxnSpPr>
        <p:spPr>
          <a:xfrm>
            <a:off x="304800" y="5095747"/>
            <a:ext cx="234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3C1F4FA-EF82-8285-9409-207293594D7B}"/>
              </a:ext>
            </a:extLst>
          </p:cNvPr>
          <p:cNvCxnSpPr>
            <a:cxnSpLocks/>
          </p:cNvCxnSpPr>
          <p:nvPr/>
        </p:nvCxnSpPr>
        <p:spPr>
          <a:xfrm>
            <a:off x="304800" y="2711015"/>
            <a:ext cx="234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" name="TextBox 1025">
            <a:extLst>
              <a:ext uri="{FF2B5EF4-FFF2-40B4-BE49-F238E27FC236}">
                <a16:creationId xmlns:a16="http://schemas.microsoft.com/office/drawing/2014/main" id="{C74FF22D-8D7B-D92F-6A44-1F5CABF60C6F}"/>
              </a:ext>
            </a:extLst>
          </p:cNvPr>
          <p:cNvSpPr txBox="1"/>
          <p:nvPr/>
        </p:nvSpPr>
        <p:spPr>
          <a:xfrm>
            <a:off x="7644602" y="3443589"/>
            <a:ext cx="2768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1028" name="Rectangle: Rounded Corners 1027">
            <a:extLst>
              <a:ext uri="{FF2B5EF4-FFF2-40B4-BE49-F238E27FC236}">
                <a16:creationId xmlns:a16="http://schemas.microsoft.com/office/drawing/2014/main" id="{1B6F8BCB-AF9B-3D59-E957-1E42DA38F06C}"/>
              </a:ext>
            </a:extLst>
          </p:cNvPr>
          <p:cNvSpPr/>
          <p:nvPr/>
        </p:nvSpPr>
        <p:spPr>
          <a:xfrm>
            <a:off x="8180260" y="2807673"/>
            <a:ext cx="1443240" cy="342288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tr-TR" sz="900" dirty="0" err="1"/>
              <a:t>Score</a:t>
            </a:r>
            <a:r>
              <a:rPr lang="tr-TR" sz="900" dirty="0"/>
              <a:t> </a:t>
            </a:r>
            <a:r>
              <a:rPr lang="tr-TR" sz="900" dirty="0" err="1"/>
              <a:t>Weights</a:t>
            </a:r>
            <a:endParaRPr lang="tr-TR" sz="900" dirty="0"/>
          </a:p>
        </p:txBody>
      </p: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DFA7DB29-8F3C-BE34-7FE5-4F44F1388481}"/>
              </a:ext>
            </a:extLst>
          </p:cNvPr>
          <p:cNvGrpSpPr/>
          <p:nvPr/>
        </p:nvGrpSpPr>
        <p:grpSpPr>
          <a:xfrm>
            <a:off x="2853161" y="2817100"/>
            <a:ext cx="1152000" cy="2209815"/>
            <a:chOff x="2796599" y="2807673"/>
            <a:chExt cx="1152000" cy="2209815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8168A501-D64C-4314-43FA-CB962E6CD9E8}"/>
                </a:ext>
              </a:extLst>
            </p:cNvPr>
            <p:cNvSpPr/>
            <p:nvPr/>
          </p:nvSpPr>
          <p:spPr>
            <a:xfrm>
              <a:off x="2883022" y="2807673"/>
              <a:ext cx="979154" cy="3422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sz="900" dirty="0"/>
                <a:t>RM </a:t>
              </a:r>
              <a:r>
                <a:rPr lang="tr-TR" sz="900" dirty="0" err="1"/>
                <a:t>KPIs</a:t>
              </a:r>
              <a:endParaRPr lang="tr-TR" sz="900" dirty="0"/>
            </a:p>
          </p:txBody>
        </p:sp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FADD086D-9CF2-250C-939F-168945DAA025}"/>
                </a:ext>
              </a:extLst>
            </p:cNvPr>
            <p:cNvSpPr txBox="1"/>
            <p:nvPr/>
          </p:nvSpPr>
          <p:spPr>
            <a:xfrm>
              <a:off x="2796599" y="3205803"/>
              <a:ext cx="1152000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4138" indent="-84138">
                <a:spcAft>
                  <a:spcPts val="600"/>
                </a:spcAft>
                <a:buFontTx/>
                <a:buChar char="-"/>
              </a:pPr>
              <a:r>
                <a:rPr lang="tr-TR" sz="900" dirty="0" err="1"/>
                <a:t>Actions</a:t>
              </a:r>
              <a:r>
                <a:rPr lang="tr-TR" sz="900" dirty="0"/>
                <a:t> </a:t>
              </a:r>
              <a:r>
                <a:rPr lang="tr-TR" sz="900" dirty="0" err="1"/>
                <a:t>mapped</a:t>
              </a:r>
              <a:r>
                <a:rPr lang="tr-TR" sz="900" dirty="0"/>
                <a:t> </a:t>
              </a:r>
              <a:r>
                <a:rPr lang="tr-TR" sz="900" dirty="0" err="1"/>
                <a:t>to</a:t>
              </a:r>
              <a:r>
                <a:rPr lang="tr-TR" sz="900" dirty="0"/>
                <a:t> </a:t>
              </a:r>
              <a:r>
                <a:rPr lang="tr-TR" sz="900" dirty="0" err="1"/>
                <a:t>products</a:t>
              </a:r>
              <a:endParaRPr lang="tr-TR" sz="900" dirty="0"/>
            </a:p>
            <a:p>
              <a:pPr marL="84138" indent="-84138">
                <a:spcAft>
                  <a:spcPts val="600"/>
                </a:spcAft>
                <a:buFontTx/>
                <a:buChar char="-"/>
              </a:pPr>
              <a:r>
                <a:rPr lang="tr-TR" sz="900" dirty="0" err="1"/>
                <a:t>Products</a:t>
              </a:r>
              <a:r>
                <a:rPr lang="tr-TR" sz="900" dirty="0"/>
                <a:t> </a:t>
              </a:r>
              <a:r>
                <a:rPr lang="tr-TR" sz="900" dirty="0" err="1"/>
                <a:t>mapped</a:t>
              </a:r>
              <a:r>
                <a:rPr lang="tr-TR" sz="900" dirty="0"/>
                <a:t> </a:t>
              </a:r>
              <a:r>
                <a:rPr lang="tr-TR" sz="900" dirty="0" err="1"/>
                <a:t>to</a:t>
              </a:r>
              <a:r>
                <a:rPr lang="tr-TR" sz="900" dirty="0"/>
                <a:t> Pusula </a:t>
              </a:r>
              <a:r>
                <a:rPr lang="tr-TR" sz="900" dirty="0" err="1"/>
                <a:t>KPIs</a:t>
              </a:r>
              <a:endParaRPr lang="tr-TR" sz="900" dirty="0"/>
            </a:p>
            <a:p>
              <a:pPr marL="84138" indent="-84138">
                <a:spcAft>
                  <a:spcPts val="600"/>
                </a:spcAft>
                <a:buFontTx/>
                <a:buChar char="-"/>
              </a:pPr>
              <a:r>
                <a:rPr lang="tr-TR" sz="900" dirty="0" err="1"/>
                <a:t>Easch</a:t>
              </a:r>
              <a:r>
                <a:rPr lang="tr-TR" sz="900" dirty="0"/>
                <a:t> </a:t>
              </a:r>
              <a:r>
                <a:rPr lang="tr-TR" sz="900" dirty="0" err="1"/>
                <a:t>action</a:t>
              </a:r>
              <a:r>
                <a:rPr lang="tr-TR" sz="900" dirty="0"/>
                <a:t> </a:t>
              </a:r>
              <a:r>
                <a:rPr lang="tr-TR" sz="900" dirty="0" err="1"/>
                <a:t>score</a:t>
              </a:r>
              <a:r>
                <a:rPr lang="tr-TR" sz="900" dirty="0"/>
                <a:t> is </a:t>
              </a:r>
              <a:r>
                <a:rPr lang="tr-TR" sz="900" dirty="0" err="1"/>
                <a:t>calculated</a:t>
              </a:r>
              <a:r>
                <a:rPr lang="tr-TR" sz="900" dirty="0"/>
                <a:t> </a:t>
              </a:r>
              <a:r>
                <a:rPr lang="tr-TR" sz="900" dirty="0" err="1"/>
                <a:t>based</a:t>
              </a:r>
              <a:r>
                <a:rPr lang="tr-TR" sz="900" dirty="0"/>
                <a:t> on </a:t>
              </a:r>
              <a:r>
                <a:rPr lang="tr-TR" sz="900" b="1" dirty="0" err="1"/>
                <a:t>RMs</a:t>
              </a:r>
              <a:r>
                <a:rPr lang="tr-TR" sz="900" b="1" dirty="0"/>
                <a:t> KPI </a:t>
              </a:r>
              <a:r>
                <a:rPr lang="tr-TR" sz="900" b="1" dirty="0" err="1"/>
                <a:t>gaps</a:t>
              </a:r>
              <a:endParaRPr lang="tr-TR" sz="900" b="1" dirty="0"/>
            </a:p>
          </p:txBody>
        </p:sp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DA5935FA-9BDC-7F97-BC5A-6E084EB3A4D2}"/>
                </a:ext>
              </a:extLst>
            </p:cNvPr>
            <p:cNvSpPr txBox="1"/>
            <p:nvPr/>
          </p:nvSpPr>
          <p:spPr>
            <a:xfrm>
              <a:off x="3054122" y="4771267"/>
              <a:ext cx="636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0 - 100</a:t>
              </a:r>
            </a:p>
          </p:txBody>
        </p:sp>
      </p:grp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A87E08FE-0C8C-13EF-E1FA-B408BC863C16}"/>
              </a:ext>
            </a:extLst>
          </p:cNvPr>
          <p:cNvGrpSpPr/>
          <p:nvPr/>
        </p:nvGrpSpPr>
        <p:grpSpPr>
          <a:xfrm>
            <a:off x="4043503" y="2817100"/>
            <a:ext cx="1152000" cy="2209815"/>
            <a:chOff x="3840037" y="2807673"/>
            <a:chExt cx="1152000" cy="2209815"/>
          </a:xfrm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79A326FC-AFC8-22B6-9AC6-E94394F3F027}"/>
                </a:ext>
              </a:extLst>
            </p:cNvPr>
            <p:cNvSpPr/>
            <p:nvPr/>
          </p:nvSpPr>
          <p:spPr>
            <a:xfrm>
              <a:off x="3926460" y="2807673"/>
              <a:ext cx="979154" cy="3422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tr-TR" sz="900" dirty="0"/>
                <a:t>Org. </a:t>
              </a:r>
              <a:r>
                <a:rPr lang="tr-TR" sz="900" dirty="0" err="1"/>
                <a:t>Priorities</a:t>
              </a:r>
              <a:endParaRPr lang="tr-TR" sz="900" dirty="0"/>
            </a:p>
          </p:txBody>
        </p: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97E0239E-FFA9-627F-4A34-DE81911A7AEE}"/>
                </a:ext>
              </a:extLst>
            </p:cNvPr>
            <p:cNvSpPr txBox="1"/>
            <p:nvPr/>
          </p:nvSpPr>
          <p:spPr>
            <a:xfrm>
              <a:off x="3840037" y="3205803"/>
              <a:ext cx="1152000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4138" indent="-84138">
                <a:spcAft>
                  <a:spcPts val="600"/>
                </a:spcAft>
                <a:buFontTx/>
                <a:buChar char="-"/>
              </a:pPr>
              <a:r>
                <a:rPr lang="tr-TR" sz="900" dirty="0"/>
                <a:t>Product </a:t>
              </a:r>
              <a:r>
                <a:rPr lang="tr-TR" sz="900" dirty="0" err="1"/>
                <a:t>priorities</a:t>
              </a:r>
              <a:r>
                <a:rPr lang="tr-TR" sz="900" dirty="0"/>
                <a:t> </a:t>
              </a:r>
              <a:r>
                <a:rPr lang="tr-TR" sz="900" dirty="0" err="1"/>
                <a:t>defined</a:t>
              </a:r>
              <a:r>
                <a:rPr lang="tr-TR" sz="900" dirty="0"/>
                <a:t> </a:t>
              </a:r>
              <a:r>
                <a:rPr lang="tr-TR" sz="900" dirty="0" err="1"/>
                <a:t>by</a:t>
              </a:r>
              <a:r>
                <a:rPr lang="tr-TR" sz="900" dirty="0"/>
                <a:t> </a:t>
              </a:r>
              <a:r>
                <a:rPr lang="tr-TR" sz="900" dirty="0" err="1"/>
                <a:t>LOBs</a:t>
              </a:r>
              <a:endParaRPr lang="tr-TR" sz="900" dirty="0"/>
            </a:p>
            <a:p>
              <a:pPr marL="84138" indent="-84138">
                <a:spcAft>
                  <a:spcPts val="600"/>
                </a:spcAft>
                <a:buFontTx/>
                <a:buChar char="-"/>
              </a:pPr>
              <a:r>
                <a:rPr lang="tr-TR" sz="900" dirty="0"/>
                <a:t>Can be </a:t>
              </a:r>
              <a:r>
                <a:rPr lang="tr-TR" sz="900" dirty="0" err="1"/>
                <a:t>configured</a:t>
              </a:r>
              <a:r>
                <a:rPr lang="tr-TR" sz="900" dirty="0"/>
                <a:t> as </a:t>
              </a:r>
              <a:r>
                <a:rPr lang="tr-TR" sz="900" dirty="0" err="1"/>
                <a:t>needed</a:t>
              </a:r>
              <a:endParaRPr lang="tr-TR" sz="900" dirty="0"/>
            </a:p>
            <a:p>
              <a:pPr marL="84138" indent="-84138">
                <a:spcAft>
                  <a:spcPts val="600"/>
                </a:spcAft>
                <a:buFontTx/>
                <a:buChar char="-"/>
              </a:pPr>
              <a:r>
                <a:rPr lang="tr-TR" sz="900" dirty="0"/>
                <a:t>Action </a:t>
              </a:r>
              <a:r>
                <a:rPr lang="tr-TR" sz="900" dirty="0" err="1"/>
                <a:t>score</a:t>
              </a:r>
              <a:r>
                <a:rPr lang="tr-TR" sz="900" dirty="0"/>
                <a:t> </a:t>
              </a:r>
              <a:r>
                <a:rPr lang="tr-TR" sz="900" dirty="0" err="1"/>
                <a:t>are</a:t>
              </a:r>
              <a:r>
                <a:rPr lang="tr-TR" sz="900" dirty="0"/>
                <a:t> </a:t>
              </a:r>
              <a:r>
                <a:rPr lang="tr-TR" sz="900" b="1" dirty="0" err="1"/>
                <a:t>recalculated</a:t>
              </a:r>
              <a:r>
                <a:rPr lang="tr-TR" sz="900" b="1" dirty="0"/>
                <a:t> on </a:t>
              </a:r>
              <a:r>
                <a:rPr lang="tr-TR" sz="900" b="1" dirty="0" err="1"/>
                <a:t>priority</a:t>
              </a:r>
              <a:r>
                <a:rPr lang="tr-TR" sz="900" b="1" dirty="0"/>
                <a:t> </a:t>
              </a:r>
              <a:r>
                <a:rPr lang="tr-TR" sz="900" b="1" dirty="0" err="1"/>
                <a:t>change</a:t>
              </a:r>
              <a:endParaRPr lang="tr-TR" sz="900" b="1" dirty="0"/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AC492EBA-FF43-806F-6663-61F30E33E20D}"/>
                </a:ext>
              </a:extLst>
            </p:cNvPr>
            <p:cNvSpPr txBox="1"/>
            <p:nvPr/>
          </p:nvSpPr>
          <p:spPr>
            <a:xfrm>
              <a:off x="4097560" y="4771267"/>
              <a:ext cx="636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0 - 100</a:t>
              </a:r>
            </a:p>
          </p:txBody>
        </p:sp>
      </p:grpSp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50E42926-F77A-A2BF-B1B8-4B975FDDCAE4}"/>
              </a:ext>
            </a:extLst>
          </p:cNvPr>
          <p:cNvGrpSpPr/>
          <p:nvPr/>
        </p:nvGrpSpPr>
        <p:grpSpPr>
          <a:xfrm>
            <a:off x="5233845" y="2817100"/>
            <a:ext cx="1188000" cy="2209815"/>
            <a:chOff x="4904173" y="2807673"/>
            <a:chExt cx="1188000" cy="2209815"/>
          </a:xfrm>
        </p:grpSpPr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D94C0F62-B02A-DE6F-BAD7-65B73F63636A}"/>
                </a:ext>
              </a:extLst>
            </p:cNvPr>
            <p:cNvSpPr/>
            <p:nvPr/>
          </p:nvSpPr>
          <p:spPr>
            <a:xfrm>
              <a:off x="4990596" y="2807673"/>
              <a:ext cx="979154" cy="3422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tr-TR" sz="900" dirty="0" err="1"/>
                <a:t>Customer</a:t>
              </a:r>
              <a:r>
                <a:rPr lang="tr-TR" sz="900" dirty="0"/>
                <a:t> </a:t>
              </a:r>
              <a:r>
                <a:rPr lang="tr-TR" sz="900" dirty="0" err="1"/>
                <a:t>Requirements</a:t>
              </a:r>
              <a:endParaRPr lang="tr-TR" sz="900" dirty="0"/>
            </a:p>
          </p:txBody>
        </p:sp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245CADF1-3A96-1A3B-7479-6BC46CB00C10}"/>
                </a:ext>
              </a:extLst>
            </p:cNvPr>
            <p:cNvSpPr txBox="1"/>
            <p:nvPr/>
          </p:nvSpPr>
          <p:spPr>
            <a:xfrm>
              <a:off x="4904173" y="3205803"/>
              <a:ext cx="1188000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4138" indent="-84138">
                <a:spcAft>
                  <a:spcPts val="600"/>
                </a:spcAft>
                <a:buFontTx/>
                <a:buChar char="-"/>
              </a:pPr>
              <a:r>
                <a:rPr lang="tr-TR" sz="900" dirty="0"/>
                <a:t>Product </a:t>
              </a:r>
              <a:r>
                <a:rPr lang="tr-TR" sz="900" dirty="0" err="1"/>
                <a:t>propensity</a:t>
              </a:r>
              <a:r>
                <a:rPr lang="tr-TR" sz="900" dirty="0"/>
                <a:t> </a:t>
              </a:r>
              <a:r>
                <a:rPr lang="tr-TR" sz="900" dirty="0" err="1"/>
                <a:t>for</a:t>
              </a:r>
              <a:r>
                <a:rPr lang="tr-TR" sz="900" dirty="0"/>
                <a:t> </a:t>
              </a:r>
              <a:r>
                <a:rPr lang="tr-TR" sz="900" dirty="0" err="1"/>
                <a:t>each</a:t>
              </a:r>
              <a:r>
                <a:rPr lang="tr-TR" sz="900" dirty="0"/>
                <a:t> </a:t>
              </a:r>
              <a:r>
                <a:rPr lang="tr-TR" sz="900" dirty="0" err="1"/>
                <a:t>customer</a:t>
              </a:r>
              <a:r>
                <a:rPr lang="tr-TR" sz="900" dirty="0"/>
                <a:t> is </a:t>
              </a:r>
              <a:r>
                <a:rPr lang="tr-TR" sz="900" dirty="0" err="1"/>
                <a:t>calculated</a:t>
              </a:r>
              <a:endParaRPr lang="tr-TR" sz="900" dirty="0"/>
            </a:p>
            <a:p>
              <a:pPr marL="84138" indent="-84138">
                <a:spcAft>
                  <a:spcPts val="600"/>
                </a:spcAft>
                <a:buFontTx/>
                <a:buChar char="-"/>
              </a:pPr>
              <a:r>
                <a:rPr lang="tr-TR" sz="900" dirty="0" err="1"/>
                <a:t>Each</a:t>
              </a:r>
              <a:r>
                <a:rPr lang="tr-TR" sz="900" dirty="0"/>
                <a:t> </a:t>
              </a:r>
              <a:r>
                <a:rPr lang="tr-TR" sz="900" dirty="0" err="1"/>
                <a:t>action</a:t>
              </a:r>
              <a:r>
                <a:rPr lang="tr-TR" sz="900" dirty="0"/>
                <a:t> </a:t>
              </a:r>
              <a:r>
                <a:rPr lang="tr-TR" sz="900" dirty="0" err="1"/>
                <a:t>score</a:t>
              </a:r>
              <a:r>
                <a:rPr lang="tr-TR" sz="900" dirty="0"/>
                <a:t> </a:t>
              </a:r>
              <a:r>
                <a:rPr lang="tr-TR" sz="900" dirty="0" err="1"/>
                <a:t>incorporates</a:t>
              </a:r>
              <a:r>
                <a:rPr lang="tr-TR" sz="900" dirty="0"/>
                <a:t> </a:t>
              </a:r>
              <a:r>
                <a:rPr lang="tr-TR" sz="900" dirty="0" err="1"/>
                <a:t>the</a:t>
              </a:r>
              <a:r>
                <a:rPr lang="tr-TR" sz="900" b="1" dirty="0"/>
                <a:t> </a:t>
              </a:r>
              <a:r>
                <a:rPr lang="tr-TR" sz="900" b="1" dirty="0" err="1"/>
                <a:t>customer</a:t>
              </a:r>
              <a:r>
                <a:rPr lang="tr-TR" sz="900" b="1" dirty="0"/>
                <a:t> </a:t>
              </a:r>
              <a:r>
                <a:rPr lang="tr-TR" sz="900" b="1" dirty="0" err="1"/>
                <a:t>product</a:t>
              </a:r>
              <a:r>
                <a:rPr lang="tr-TR" sz="900" b="1" dirty="0"/>
                <a:t> </a:t>
              </a:r>
              <a:r>
                <a:rPr lang="tr-TR" sz="900" b="1" dirty="0" err="1"/>
                <a:t>propensity</a:t>
              </a:r>
              <a:endParaRPr lang="tr-TR" sz="900" b="1" dirty="0"/>
            </a:p>
          </p:txBody>
        </p:sp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DE99965B-B141-0FEA-D4A7-A84A59B4953D}"/>
                </a:ext>
              </a:extLst>
            </p:cNvPr>
            <p:cNvSpPr txBox="1"/>
            <p:nvPr/>
          </p:nvSpPr>
          <p:spPr>
            <a:xfrm>
              <a:off x="5161696" y="4771267"/>
              <a:ext cx="636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0 - 100</a:t>
              </a:r>
            </a:p>
          </p:txBody>
        </p:sp>
      </p:grpSp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3F31BF72-CEC3-6392-61C0-EA789EBB1869}"/>
              </a:ext>
            </a:extLst>
          </p:cNvPr>
          <p:cNvGrpSpPr/>
          <p:nvPr/>
        </p:nvGrpSpPr>
        <p:grpSpPr>
          <a:xfrm>
            <a:off x="6424188" y="2817100"/>
            <a:ext cx="1237624" cy="2209815"/>
            <a:chOff x="5962341" y="2807673"/>
            <a:chExt cx="1237624" cy="2209815"/>
          </a:xfrm>
        </p:grpSpPr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E695E298-5CD3-7058-AA3A-D90A57ECE002}"/>
                </a:ext>
              </a:extLst>
            </p:cNvPr>
            <p:cNvSpPr/>
            <p:nvPr/>
          </p:nvSpPr>
          <p:spPr>
            <a:xfrm>
              <a:off x="6091576" y="2807673"/>
              <a:ext cx="979154" cy="34228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tr-TR" sz="900" dirty="0" err="1"/>
                <a:t>Profitability</a:t>
              </a:r>
              <a:endParaRPr lang="tr-TR" sz="900" dirty="0"/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961076A1-9CAA-403C-795F-3EC23892EF40}"/>
                </a:ext>
              </a:extLst>
            </p:cNvPr>
            <p:cNvSpPr txBox="1"/>
            <p:nvPr/>
          </p:nvSpPr>
          <p:spPr>
            <a:xfrm>
              <a:off x="5962341" y="3205803"/>
              <a:ext cx="1237624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4138" indent="-84138">
                <a:spcAft>
                  <a:spcPts val="600"/>
                </a:spcAft>
                <a:buFontTx/>
                <a:buChar char="-"/>
              </a:pPr>
              <a:r>
                <a:rPr lang="tr-TR" sz="900" dirty="0"/>
                <a:t>Product </a:t>
              </a:r>
              <a:r>
                <a:rPr lang="tr-TR" sz="900" dirty="0" err="1"/>
                <a:t>unit</a:t>
              </a:r>
              <a:r>
                <a:rPr lang="tr-TR" sz="900" dirty="0"/>
                <a:t> </a:t>
              </a:r>
              <a:r>
                <a:rPr lang="tr-TR" sz="900" dirty="0" err="1"/>
                <a:t>profitability</a:t>
              </a:r>
              <a:r>
                <a:rPr lang="tr-TR" sz="900" dirty="0"/>
                <a:t> is </a:t>
              </a:r>
              <a:r>
                <a:rPr lang="tr-TR" sz="900" dirty="0" err="1"/>
                <a:t>calculated</a:t>
              </a:r>
              <a:r>
                <a:rPr lang="tr-TR" sz="900" dirty="0"/>
                <a:t> </a:t>
              </a:r>
              <a:r>
                <a:rPr lang="tr-TR" sz="900" dirty="0" err="1"/>
                <a:t>by</a:t>
              </a:r>
              <a:r>
                <a:rPr lang="tr-TR" sz="900" dirty="0"/>
                <a:t> </a:t>
              </a:r>
              <a:r>
                <a:rPr lang="tr-TR" sz="900" dirty="0" err="1"/>
                <a:t>customer</a:t>
              </a:r>
              <a:r>
                <a:rPr lang="tr-TR" sz="900" dirty="0"/>
                <a:t> </a:t>
              </a:r>
              <a:r>
                <a:rPr lang="tr-TR" sz="900" dirty="0" err="1"/>
                <a:t>scale</a:t>
              </a:r>
              <a:r>
                <a:rPr lang="tr-TR" sz="900" dirty="0"/>
                <a:t> </a:t>
              </a:r>
              <a:r>
                <a:rPr lang="tr-TR" sz="900" dirty="0" err="1"/>
                <a:t>and</a:t>
              </a:r>
              <a:r>
                <a:rPr lang="tr-TR" sz="900" dirty="0"/>
                <a:t> </a:t>
              </a:r>
              <a:r>
                <a:rPr lang="tr-TR" sz="900" dirty="0" err="1"/>
                <a:t>sector</a:t>
              </a:r>
              <a:endParaRPr lang="tr-TR" sz="900" dirty="0"/>
            </a:p>
            <a:p>
              <a:pPr marL="84138" indent="-84138">
                <a:spcAft>
                  <a:spcPts val="600"/>
                </a:spcAft>
                <a:buFontTx/>
                <a:buChar char="-"/>
              </a:pPr>
              <a:r>
                <a:rPr lang="tr-TR" sz="900" dirty="0" err="1"/>
                <a:t>Each</a:t>
              </a:r>
              <a:r>
                <a:rPr lang="tr-TR" sz="900" dirty="0"/>
                <a:t> </a:t>
              </a:r>
              <a:r>
                <a:rPr lang="tr-TR" sz="900" dirty="0" err="1"/>
                <a:t>action</a:t>
              </a:r>
              <a:r>
                <a:rPr lang="tr-TR" sz="900" dirty="0"/>
                <a:t> </a:t>
              </a:r>
              <a:r>
                <a:rPr lang="tr-TR" sz="900" dirty="0" err="1"/>
                <a:t>score</a:t>
              </a:r>
              <a:r>
                <a:rPr lang="tr-TR" sz="900" dirty="0"/>
                <a:t> is </a:t>
              </a:r>
              <a:r>
                <a:rPr lang="tr-TR" sz="900" b="1" dirty="0" err="1"/>
                <a:t>calculated</a:t>
              </a:r>
              <a:r>
                <a:rPr lang="tr-TR" sz="900" b="1" dirty="0"/>
                <a:t> </a:t>
              </a:r>
              <a:r>
                <a:rPr lang="tr-TR" sz="900" b="1" dirty="0" err="1"/>
                <a:t>by</a:t>
              </a:r>
              <a:r>
                <a:rPr lang="tr-TR" sz="900" b="1" dirty="0"/>
                <a:t> </a:t>
              </a:r>
              <a:r>
                <a:rPr lang="tr-TR" sz="900" b="1" dirty="0" err="1"/>
                <a:t>the</a:t>
              </a:r>
              <a:r>
                <a:rPr lang="tr-TR" sz="900" b="1" dirty="0"/>
                <a:t> </a:t>
              </a:r>
              <a:r>
                <a:rPr lang="tr-TR" sz="900" b="1" dirty="0" err="1"/>
                <a:t>customer</a:t>
              </a:r>
              <a:r>
                <a:rPr lang="tr-TR" sz="900" b="1" dirty="0"/>
                <a:t> </a:t>
              </a:r>
              <a:r>
                <a:rPr lang="tr-TR" sz="900" b="1" dirty="0" err="1"/>
                <a:t>product</a:t>
              </a:r>
              <a:r>
                <a:rPr lang="tr-TR" sz="900" b="1" dirty="0"/>
                <a:t> </a:t>
              </a:r>
              <a:r>
                <a:rPr lang="tr-TR" sz="900" b="1" dirty="0" err="1"/>
                <a:t>tendency</a:t>
              </a:r>
              <a:endParaRPr lang="tr-TR" sz="900" b="1" dirty="0"/>
            </a:p>
          </p:txBody>
        </p:sp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A8ADCCAB-4223-9C55-B129-D62E9628E511}"/>
                </a:ext>
              </a:extLst>
            </p:cNvPr>
            <p:cNvSpPr txBox="1"/>
            <p:nvPr/>
          </p:nvSpPr>
          <p:spPr>
            <a:xfrm>
              <a:off x="6262676" y="4771267"/>
              <a:ext cx="6369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0 - 100</a:t>
              </a:r>
            </a:p>
          </p:txBody>
        </p:sp>
      </p:grp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69606DBE-89A4-C82D-D4DC-44E4697BFAB0}"/>
              </a:ext>
            </a:extLst>
          </p:cNvPr>
          <p:cNvCxnSpPr>
            <a:cxnSpLocks/>
          </p:cNvCxnSpPr>
          <p:nvPr/>
        </p:nvCxnSpPr>
        <p:spPr>
          <a:xfrm>
            <a:off x="2970819" y="4748246"/>
            <a:ext cx="4653285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9" name="TextBox 1048">
            <a:extLst>
              <a:ext uri="{FF2B5EF4-FFF2-40B4-BE49-F238E27FC236}">
                <a16:creationId xmlns:a16="http://schemas.microsoft.com/office/drawing/2014/main" id="{C4636173-210C-296C-1222-334CD11D81C0}"/>
              </a:ext>
            </a:extLst>
          </p:cNvPr>
          <p:cNvSpPr txBox="1"/>
          <p:nvPr/>
        </p:nvSpPr>
        <p:spPr>
          <a:xfrm>
            <a:off x="9110752" y="3264059"/>
            <a:ext cx="6369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%25</a:t>
            </a:r>
          </a:p>
        </p:txBody>
      </p:sp>
      <p:sp>
        <p:nvSpPr>
          <p:cNvPr id="1050" name="Rectangle: Rounded Corners 1049">
            <a:extLst>
              <a:ext uri="{FF2B5EF4-FFF2-40B4-BE49-F238E27FC236}">
                <a16:creationId xmlns:a16="http://schemas.microsoft.com/office/drawing/2014/main" id="{10779B2F-AE20-8211-238C-3EDE99D61483}"/>
              </a:ext>
            </a:extLst>
          </p:cNvPr>
          <p:cNvSpPr/>
          <p:nvPr/>
        </p:nvSpPr>
        <p:spPr>
          <a:xfrm>
            <a:off x="8170268" y="3224560"/>
            <a:ext cx="900000" cy="3422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>
                <a:solidFill>
                  <a:schemeClr val="accent1"/>
                </a:solidFill>
              </a:rPr>
              <a:t>RM </a:t>
            </a:r>
            <a:r>
              <a:rPr lang="tr-TR" sz="900" b="1" dirty="0" err="1">
                <a:solidFill>
                  <a:schemeClr val="accent1"/>
                </a:solidFill>
              </a:rPr>
              <a:t>KPIs</a:t>
            </a:r>
            <a:endParaRPr lang="tr-TR" sz="900" b="1" dirty="0">
              <a:solidFill>
                <a:schemeClr val="accent1"/>
              </a:solidFill>
            </a:endParaRPr>
          </a:p>
        </p:txBody>
      </p:sp>
      <p:sp>
        <p:nvSpPr>
          <p:cNvPr id="1051" name="Rectangle: Rounded Corners 1050">
            <a:extLst>
              <a:ext uri="{FF2B5EF4-FFF2-40B4-BE49-F238E27FC236}">
                <a16:creationId xmlns:a16="http://schemas.microsoft.com/office/drawing/2014/main" id="{66B3EE72-1746-B8AD-0F1D-877C16A88E1C}"/>
              </a:ext>
            </a:extLst>
          </p:cNvPr>
          <p:cNvSpPr/>
          <p:nvPr/>
        </p:nvSpPr>
        <p:spPr>
          <a:xfrm>
            <a:off x="8170268" y="3580487"/>
            <a:ext cx="900000" cy="3422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tr-TR" sz="900" b="1" dirty="0">
                <a:solidFill>
                  <a:schemeClr val="accent1"/>
                </a:solidFill>
              </a:rPr>
              <a:t>Org. </a:t>
            </a:r>
            <a:r>
              <a:rPr lang="tr-TR" sz="900" b="1" dirty="0" err="1">
                <a:solidFill>
                  <a:schemeClr val="accent1"/>
                </a:solidFill>
              </a:rPr>
              <a:t>Priorities</a:t>
            </a:r>
            <a:endParaRPr lang="tr-TR" sz="900" b="1" dirty="0">
              <a:solidFill>
                <a:schemeClr val="accent1"/>
              </a:solidFill>
            </a:endParaRPr>
          </a:p>
        </p:txBody>
      </p:sp>
      <p:sp>
        <p:nvSpPr>
          <p:cNvPr id="1052" name="Rectangle: Rounded Corners 1051">
            <a:extLst>
              <a:ext uri="{FF2B5EF4-FFF2-40B4-BE49-F238E27FC236}">
                <a16:creationId xmlns:a16="http://schemas.microsoft.com/office/drawing/2014/main" id="{D0FD9C1D-DFA8-90F9-3CED-A818E0F83C39}"/>
              </a:ext>
            </a:extLst>
          </p:cNvPr>
          <p:cNvSpPr/>
          <p:nvPr/>
        </p:nvSpPr>
        <p:spPr>
          <a:xfrm>
            <a:off x="8170268" y="3936414"/>
            <a:ext cx="900000" cy="3422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 err="1">
                <a:solidFill>
                  <a:schemeClr val="accent1"/>
                </a:solidFill>
              </a:rPr>
              <a:t>Customer</a:t>
            </a:r>
            <a:r>
              <a:rPr lang="tr-TR" sz="900" b="1" dirty="0">
                <a:solidFill>
                  <a:schemeClr val="accent1"/>
                </a:solidFill>
              </a:rPr>
              <a:t> </a:t>
            </a:r>
            <a:r>
              <a:rPr lang="tr-TR" sz="900" b="1" dirty="0" err="1">
                <a:solidFill>
                  <a:schemeClr val="accent1"/>
                </a:solidFill>
              </a:rPr>
              <a:t>Reqrmnts</a:t>
            </a:r>
            <a:endParaRPr lang="tr-TR" sz="900" b="1" dirty="0">
              <a:solidFill>
                <a:schemeClr val="accent1"/>
              </a:solidFill>
            </a:endParaRPr>
          </a:p>
        </p:txBody>
      </p:sp>
      <p:sp>
        <p:nvSpPr>
          <p:cNvPr id="1053" name="Rectangle: Rounded Corners 1052">
            <a:extLst>
              <a:ext uri="{FF2B5EF4-FFF2-40B4-BE49-F238E27FC236}">
                <a16:creationId xmlns:a16="http://schemas.microsoft.com/office/drawing/2014/main" id="{E5FB54B2-F112-1F91-B64B-55E459AB5619}"/>
              </a:ext>
            </a:extLst>
          </p:cNvPr>
          <p:cNvSpPr/>
          <p:nvPr/>
        </p:nvSpPr>
        <p:spPr>
          <a:xfrm>
            <a:off x="8170268" y="4301768"/>
            <a:ext cx="900000" cy="3422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b="1" dirty="0" err="1">
                <a:solidFill>
                  <a:schemeClr val="accent1"/>
                </a:solidFill>
              </a:rPr>
              <a:t>Profitblty</a:t>
            </a:r>
            <a:endParaRPr lang="tr-TR" sz="900" b="1" dirty="0">
              <a:solidFill>
                <a:schemeClr val="accent1"/>
              </a:solidFill>
            </a:endParaRP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258EF726-DC67-6E9F-FD63-0F656C7D8F52}"/>
              </a:ext>
            </a:extLst>
          </p:cNvPr>
          <p:cNvSpPr txBox="1"/>
          <p:nvPr/>
        </p:nvSpPr>
        <p:spPr>
          <a:xfrm>
            <a:off x="9110752" y="3614612"/>
            <a:ext cx="6369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%25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6FBA9232-314C-CFD9-02C4-37B97FEB123A}"/>
              </a:ext>
            </a:extLst>
          </p:cNvPr>
          <p:cNvSpPr txBox="1"/>
          <p:nvPr/>
        </p:nvSpPr>
        <p:spPr>
          <a:xfrm>
            <a:off x="9110752" y="3975362"/>
            <a:ext cx="6369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%25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6FF44079-84FB-9F77-3551-5571C95788C9}"/>
              </a:ext>
            </a:extLst>
          </p:cNvPr>
          <p:cNvSpPr txBox="1"/>
          <p:nvPr/>
        </p:nvSpPr>
        <p:spPr>
          <a:xfrm>
            <a:off x="9110752" y="4313799"/>
            <a:ext cx="6369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%25</a:t>
            </a:r>
          </a:p>
        </p:txBody>
      </p:sp>
      <p:cxnSp>
        <p:nvCxnSpPr>
          <p:cNvPr id="1057" name="Straight Connector 1056">
            <a:extLst>
              <a:ext uri="{FF2B5EF4-FFF2-40B4-BE49-F238E27FC236}">
                <a16:creationId xmlns:a16="http://schemas.microsoft.com/office/drawing/2014/main" id="{18DAD336-367B-AEC2-EF36-5742B9FDED59}"/>
              </a:ext>
            </a:extLst>
          </p:cNvPr>
          <p:cNvCxnSpPr>
            <a:cxnSpLocks/>
          </p:cNvCxnSpPr>
          <p:nvPr/>
        </p:nvCxnSpPr>
        <p:spPr>
          <a:xfrm>
            <a:off x="8184965" y="4738819"/>
            <a:ext cx="1562742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9" name="TextBox 1058">
            <a:extLst>
              <a:ext uri="{FF2B5EF4-FFF2-40B4-BE49-F238E27FC236}">
                <a16:creationId xmlns:a16="http://schemas.microsoft.com/office/drawing/2014/main" id="{7A155FF1-66ED-4C78-39A0-3C049DCC7424}"/>
              </a:ext>
            </a:extLst>
          </p:cNvPr>
          <p:cNvSpPr txBox="1"/>
          <p:nvPr/>
        </p:nvSpPr>
        <p:spPr>
          <a:xfrm>
            <a:off x="9095856" y="4771267"/>
            <a:ext cx="6369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0 - 100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3B18E869-477B-49EC-C168-8D50AC1F6261}"/>
              </a:ext>
            </a:extLst>
          </p:cNvPr>
          <p:cNvSpPr txBox="1"/>
          <p:nvPr/>
        </p:nvSpPr>
        <p:spPr>
          <a:xfrm>
            <a:off x="8180260" y="4771267"/>
            <a:ext cx="8900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</a:t>
            </a:r>
            <a:r>
              <a:rPr lang="tr-TR" sz="1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endParaRPr lang="tr-TR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984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0C9D5B1-3F88-D47F-9921-FF6EE8E6E5E4}"/>
              </a:ext>
            </a:extLst>
          </p:cNvPr>
          <p:cNvGrpSpPr/>
          <p:nvPr/>
        </p:nvGrpSpPr>
        <p:grpSpPr>
          <a:xfrm>
            <a:off x="353053" y="2403238"/>
            <a:ext cx="2268000" cy="3856158"/>
            <a:chOff x="7281014" y="2403238"/>
            <a:chExt cx="2268000" cy="385615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D8222F3-FE5D-86EF-8B1B-1BBAEFF94C7F}"/>
                </a:ext>
              </a:extLst>
            </p:cNvPr>
            <p:cNvGrpSpPr/>
            <p:nvPr/>
          </p:nvGrpSpPr>
          <p:grpSpPr>
            <a:xfrm>
              <a:off x="7281014" y="2403238"/>
              <a:ext cx="2268000" cy="3856158"/>
              <a:chOff x="2859740" y="2478654"/>
              <a:chExt cx="2472549" cy="3856158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0860BA4-3C3B-FC99-7FC0-472B37C662D4}"/>
                  </a:ext>
                </a:extLst>
              </p:cNvPr>
              <p:cNvSpPr/>
              <p:nvPr/>
            </p:nvSpPr>
            <p:spPr>
              <a:xfrm>
                <a:off x="2859740" y="2478655"/>
                <a:ext cx="2472549" cy="3856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276CF30-FBBD-8704-5325-26D09522AA3A}"/>
                  </a:ext>
                </a:extLst>
              </p:cNvPr>
              <p:cNvSpPr txBox="1"/>
              <p:nvPr/>
            </p:nvSpPr>
            <p:spPr>
              <a:xfrm>
                <a:off x="3362902" y="2478654"/>
                <a:ext cx="14602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r-TR" sz="1400" b="1" dirty="0">
                    <a:solidFill>
                      <a:schemeClr val="bg1">
                        <a:lumMod val="50000"/>
                      </a:schemeClr>
                    </a:solidFill>
                  </a:rPr>
                  <a:t>ACTIVATE</a:t>
                </a:r>
              </a:p>
            </p:txBody>
          </p: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D2F0FE6-6F2E-B211-E4EF-D510DCD20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809" b="89793" l="7018" r="93301">
                          <a14:foregroundMark x1="93381" y1="25040" x2="93381" y2="25040"/>
                          <a14:foregroundMark x1="88676" y1="22568" x2="88676" y2="22568"/>
                          <a14:foregroundMark x1="72169" y1="20654" x2="72169" y2="20654"/>
                          <a14:foregroundMark x1="56619" y1="19537" x2="56619" y2="19537"/>
                          <a14:foregroundMark x1="65470" y1="26555" x2="65470" y2="26555"/>
                          <a14:foregroundMark x1="78230" y1="25997" x2="78230" y2="25997"/>
                          <a14:foregroundMark x1="79984" y1="30622" x2="79984" y2="30622"/>
                          <a14:foregroundMark x1="93381" y1="66826" x2="93381" y2="66826"/>
                          <a14:foregroundMark x1="88278" y1="67384" x2="88278" y2="67384"/>
                          <a14:foregroundMark x1="86204" y1="71611" x2="86204" y2="71611"/>
                          <a14:foregroundMark x1="66507" y1="67065" x2="66507" y2="67065"/>
                          <a14:foregroundMark x1="52392" y1="68421" x2="52392" y2="68421"/>
                          <a14:foregroundMark x1="52392" y1="27352" x2="52392" y2="27352"/>
                          <a14:foregroundMark x1="22010" y1="41228" x2="22010" y2="41228"/>
                          <a14:foregroundMark x1="18421" y1="46571" x2="18421" y2="46571"/>
                          <a14:foregroundMark x1="21611" y1="51675" x2="21611" y2="51675"/>
                          <a14:foregroundMark x1="7018" y1="47528" x2="7018" y2="47528"/>
                          <a14:backgroundMark x1="64195" y1="28628" x2="64195" y2="28628"/>
                          <a14:backgroundMark x1="64195" y1="67225" x2="64195" y2="67225"/>
                          <a14:backgroundMark x1="64753" y1="72010" x2="64753" y2="72010"/>
                          <a14:backgroundMark x1="49601" y1="27193" x2="49601" y2="27193"/>
                          <a14:backgroundMark x1="49920" y1="68979" x2="49920" y2="6897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311336" y="3341542"/>
              <a:ext cx="1233471" cy="123347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0E8FDAB-43CA-8565-D0FA-E229452F36E6}"/>
                </a:ext>
              </a:extLst>
            </p:cNvPr>
            <p:cNvSpPr txBox="1"/>
            <p:nvPr/>
          </p:nvSpPr>
          <p:spPr>
            <a:xfrm>
              <a:off x="7517896" y="3082533"/>
              <a:ext cx="10631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200" b="1" dirty="0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A/B Test </a:t>
              </a:r>
              <a:r>
                <a:rPr lang="tr-TR" sz="1200" b="1" dirty="0" err="1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Split</a:t>
              </a:r>
              <a:r>
                <a:rPr lang="tr-TR" sz="1200" b="1" dirty="0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 Engine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8DA9515-8E15-A891-9739-AC17A1D644E0}"/>
                </a:ext>
              </a:extLst>
            </p:cNvPr>
            <p:cNvGrpSpPr/>
            <p:nvPr/>
          </p:nvGrpSpPr>
          <p:grpSpPr>
            <a:xfrm>
              <a:off x="7935008" y="5161477"/>
              <a:ext cx="926293" cy="342288"/>
              <a:chOff x="1581237" y="5092185"/>
              <a:chExt cx="926293" cy="342288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861617BC-81A1-84E7-40D8-10235D10DD3D}"/>
                  </a:ext>
                </a:extLst>
              </p:cNvPr>
              <p:cNvSpPr/>
              <p:nvPr/>
            </p:nvSpPr>
            <p:spPr>
              <a:xfrm>
                <a:off x="1581237" y="5092185"/>
                <a:ext cx="926293" cy="342288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rtlCol="0" anchor="ctr"/>
              <a:lstStyle/>
              <a:p>
                <a:pPr algn="r"/>
                <a:r>
                  <a:rPr lang="tr-TR" sz="900" b="1" dirty="0" err="1"/>
                  <a:t>Governance</a:t>
                </a:r>
                <a:endParaRPr lang="tr-TR" sz="900" b="1" dirty="0"/>
              </a:p>
            </p:txBody>
          </p:sp>
          <p:pic>
            <p:nvPicPr>
              <p:cNvPr id="42" name="Picture 2" descr="85,500+ Security Staff Icon Stock Illustrations, Royalty-Free Vector  Graphics &amp; Clip Art - iStock">
                <a:extLst>
                  <a:ext uri="{FF2B5EF4-FFF2-40B4-BE49-F238E27FC236}">
                    <a16:creationId xmlns:a16="http://schemas.microsoft.com/office/drawing/2014/main" id="{69A80779-943D-8BE8-D69B-B932D1A923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27451" b="73693" l="31373" r="67157">
                            <a14:foregroundMark x1="31373" y1="41340" x2="31373" y2="41340"/>
                            <a14:foregroundMark x1="42647" y1="51307" x2="42647" y2="51307"/>
                            <a14:foregroundMark x1="67157" y1="43301" x2="67157" y2="43301"/>
                            <a14:foregroundMark x1="49673" y1="27451" x2="49673" y2="27451"/>
                            <a14:foregroundMark x1="50327" y1="73693" x2="50327" y2="7369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465" t="23185" r="28931" b="23991"/>
              <a:stretch/>
            </p:blipFill>
            <p:spPr bwMode="auto">
              <a:xfrm>
                <a:off x="1603382" y="5114355"/>
                <a:ext cx="210914" cy="2555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C31AF3-D466-5F87-2636-A8854B1560DC}"/>
                </a:ext>
              </a:extLst>
            </p:cNvPr>
            <p:cNvSpPr txBox="1"/>
            <p:nvPr/>
          </p:nvSpPr>
          <p:spPr>
            <a:xfrm>
              <a:off x="7835190" y="5495915"/>
              <a:ext cx="15966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/>
                <a:t>A/B Test </a:t>
              </a:r>
              <a:r>
                <a:rPr lang="tr-TR" sz="800" dirty="0" err="1"/>
                <a:t>Owner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/>
                <a:t>Action </a:t>
              </a:r>
              <a:r>
                <a:rPr lang="tr-TR" sz="800" dirty="0" err="1"/>
                <a:t>Owner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Homogeneity</a:t>
              </a:r>
              <a:r>
                <a:rPr lang="tr-TR" sz="800" dirty="0"/>
                <a:t> </a:t>
              </a:r>
              <a:r>
                <a:rPr lang="tr-TR" sz="800" dirty="0" err="1"/>
                <a:t>Quality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Realization</a:t>
              </a:r>
              <a:r>
                <a:rPr lang="tr-TR" sz="800" dirty="0"/>
                <a:t> </a:t>
              </a:r>
              <a:r>
                <a:rPr lang="tr-TR" sz="800" dirty="0" err="1"/>
                <a:t>SQLs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Audit</a:t>
              </a:r>
              <a:r>
                <a:rPr lang="tr-TR" sz="800" dirty="0"/>
                <a:t> / </a:t>
              </a:r>
              <a:r>
                <a:rPr lang="tr-TR" sz="800" dirty="0" err="1"/>
                <a:t>Change</a:t>
              </a:r>
              <a:r>
                <a:rPr lang="tr-TR" sz="800" dirty="0"/>
                <a:t> </a:t>
              </a:r>
              <a:r>
                <a:rPr lang="tr-TR" sz="800" dirty="0" err="1"/>
                <a:t>Mngmtn</a:t>
              </a:r>
              <a:endParaRPr lang="tr-TR" sz="800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4A1485E-3630-19D5-D267-9A145AB0860E}"/>
                </a:ext>
              </a:extLst>
            </p:cNvPr>
            <p:cNvGrpSpPr/>
            <p:nvPr/>
          </p:nvGrpSpPr>
          <p:grpSpPr>
            <a:xfrm>
              <a:off x="7473906" y="4668540"/>
              <a:ext cx="966494" cy="342288"/>
              <a:chOff x="3523746" y="4743956"/>
              <a:chExt cx="966494" cy="34228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8D55B532-63BA-8CE7-8BAF-65A945022355}"/>
                  </a:ext>
                </a:extLst>
              </p:cNvPr>
              <p:cNvSpPr/>
              <p:nvPr/>
            </p:nvSpPr>
            <p:spPr>
              <a:xfrm>
                <a:off x="3523746" y="4743956"/>
                <a:ext cx="966494" cy="342288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rIns="36000" rtlCol="0" anchor="ctr"/>
              <a:lstStyle/>
              <a:p>
                <a:pPr algn="ctr"/>
                <a:r>
                  <a:rPr lang="tr-TR" sz="900" b="1" dirty="0" err="1"/>
                  <a:t>Realization</a:t>
                </a:r>
                <a:endParaRPr lang="tr-TR" sz="900" b="1" dirty="0"/>
              </a:p>
              <a:p>
                <a:pPr algn="ctr"/>
                <a:r>
                  <a:rPr lang="tr-TR" sz="900" b="1" dirty="0"/>
                  <a:t>Library</a:t>
                </a:r>
              </a:p>
            </p:txBody>
          </p: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78870B5C-E9F9-D19D-FC30-B49FF72CFE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4205" b="96527" l="3929" r="96786">
                            <a14:foregroundMark x1="30179" y1="27057" x2="30179" y2="27057"/>
                            <a14:foregroundMark x1="49107" y1="22121" x2="49107" y2="22121"/>
                            <a14:foregroundMark x1="50536" y1="4205" x2="50536" y2="4205"/>
                            <a14:foregroundMark x1="19464" y1="78976" x2="19464" y2="78976"/>
                            <a14:foregroundMark x1="15893" y1="91773" x2="15893" y2="91773"/>
                            <a14:foregroundMark x1="38393" y1="74406" x2="38393" y2="74406"/>
                            <a14:foregroundMark x1="49464" y1="93419" x2="49464" y2="93419"/>
                            <a14:foregroundMark x1="65714" y1="92687" x2="65714" y2="92687"/>
                            <a14:foregroundMark x1="81250" y1="92870" x2="81607" y2="92870"/>
                            <a14:foregroundMark x1="91964" y1="96527" x2="91964" y2="96527"/>
                            <a14:foregroundMark x1="91964" y1="92687" x2="91964" y2="92687"/>
                            <a14:foregroundMark x1="96786" y1="95247" x2="96786" y2="95247"/>
                            <a14:foregroundMark x1="7857" y1="35283" x2="7857" y2="35283"/>
                            <a14:foregroundMark x1="3929" y1="95795" x2="3929" y2="95795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547834" y="4795842"/>
                <a:ext cx="238673" cy="233132"/>
              </a:xfrm>
              <a:prstGeom prst="rect">
                <a:avLst/>
              </a:prstGeom>
            </p:spPr>
          </p:pic>
        </p:grp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29716EE0-CE87-242A-D865-734821760CBB}"/>
                </a:ext>
              </a:extLst>
            </p:cNvPr>
            <p:cNvSpPr/>
            <p:nvPr/>
          </p:nvSpPr>
          <p:spPr>
            <a:xfrm>
              <a:off x="7739209" y="4513292"/>
              <a:ext cx="445756" cy="11776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E7DF8C8-F25B-886D-58FC-2DB8AF0B1E50}"/>
                </a:ext>
              </a:extLst>
            </p:cNvPr>
            <p:cNvSpPr/>
            <p:nvPr/>
          </p:nvSpPr>
          <p:spPr>
            <a:xfrm>
              <a:off x="8669692" y="2788900"/>
              <a:ext cx="867003" cy="224831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93C44A6-28B9-9BB0-5FF2-43AC9E8F9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00" y1="31375" x2="42500" y2="31375"/>
                          <a14:foregroundMark x1="40500" y1="44750" x2="40500" y2="44750"/>
                          <a14:foregroundMark x1="39125" y1="59875" x2="39125" y2="59875"/>
                          <a14:foregroundMark x1="64625" y1="55625" x2="64625" y2="55625"/>
                          <a14:foregroundMark x1="74250" y1="50750" x2="74250" y2="50750"/>
                          <a14:foregroundMark x1="71250" y1="45625" x2="71250" y2="45625"/>
                          <a14:foregroundMark x1="63500" y1="44000" x2="63500" y2="44000"/>
                          <a14:foregroundMark x1="54125" y1="45125" x2="54125" y2="45125"/>
                          <a14:foregroundMark x1="53125" y1="63875" x2="53125" y2="63875"/>
                          <a14:foregroundMark x1="69000" y1="62875" x2="69000" y2="62875"/>
                          <a14:foregroundMark x1="69750" y1="72250" x2="69750" y2="72250"/>
                          <a14:foregroundMark x1="54625" y1="74000" x2="54625" y2="74000"/>
                          <a14:foregroundMark x1="65000" y1="81875" x2="65000" y2="81875"/>
                          <a14:foregroundMark x1="45375" y1="36625" x2="45375" y2="36625"/>
                          <a14:foregroundMark x1="42875" y1="36250" x2="42875" y2="36250"/>
                          <a14:foregroundMark x1="55625" y1="81375" x2="55625" y2="8137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774099" y="3585468"/>
              <a:ext cx="765888" cy="765888"/>
            </a:xfrm>
            <a:prstGeom prst="rect">
              <a:avLst/>
            </a:prstGeom>
            <a:effectLst/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6A55118-0208-E0A4-5BC5-38E52AF169BE}"/>
                </a:ext>
              </a:extLst>
            </p:cNvPr>
            <p:cNvSpPr txBox="1"/>
            <p:nvPr/>
          </p:nvSpPr>
          <p:spPr>
            <a:xfrm>
              <a:off x="8743936" y="2794511"/>
              <a:ext cx="79875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100" b="1" dirty="0" err="1">
                  <a:solidFill>
                    <a:schemeClr val="accent1">
                      <a:lumMod val="75000"/>
                    </a:schemeClr>
                  </a:solidFill>
                </a:rPr>
                <a:t>Lifecycle</a:t>
              </a:r>
              <a:r>
                <a:rPr lang="tr-TR" sz="11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tr-TR" sz="1100" b="1" dirty="0" err="1">
                  <a:solidFill>
                    <a:schemeClr val="accent1">
                      <a:lumMod val="75000"/>
                    </a:schemeClr>
                  </a:solidFill>
                </a:rPr>
                <a:t>Pool</a:t>
              </a:r>
              <a:endParaRPr lang="tr-TR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64970A9-6B3B-12A8-9A88-C18D69A75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952448" y="4373577"/>
              <a:ext cx="409190" cy="40919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9A07E05-B09E-2F9B-C93C-53BB95420C02}"/>
                </a:ext>
              </a:extLst>
            </p:cNvPr>
            <p:cNvSpPr txBox="1"/>
            <p:nvPr/>
          </p:nvSpPr>
          <p:spPr>
            <a:xfrm>
              <a:off x="8757479" y="4713420"/>
              <a:ext cx="760363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tr-TR" sz="800" b="1" dirty="0">
                  <a:solidFill>
                    <a:srgbClr val="905D49"/>
                  </a:solidFill>
                </a:rPr>
                <a:t>RM Action </a:t>
              </a:r>
              <a:r>
                <a:rPr lang="tr-TR" sz="800" b="1" dirty="0" err="1">
                  <a:solidFill>
                    <a:srgbClr val="905D49"/>
                  </a:solidFill>
                </a:rPr>
                <a:t>Status</a:t>
              </a:r>
              <a:r>
                <a:rPr lang="tr-TR" sz="800" b="1" dirty="0">
                  <a:solidFill>
                    <a:srgbClr val="905D49"/>
                  </a:solidFill>
                </a:rPr>
                <a:t> </a:t>
              </a:r>
              <a:r>
                <a:rPr lang="tr-TR" sz="800" b="1" dirty="0" err="1">
                  <a:solidFill>
                    <a:srgbClr val="905D49"/>
                  </a:solidFill>
                </a:rPr>
                <a:t>Updates</a:t>
              </a:r>
              <a:endParaRPr lang="tr-TR" sz="800" b="1" dirty="0">
                <a:solidFill>
                  <a:srgbClr val="905D49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635B2B53-7187-B9A9-4F3A-0111165626A9}"/>
              </a:ext>
            </a:extLst>
          </p:cNvPr>
          <p:cNvSpPr/>
          <p:nvPr/>
        </p:nvSpPr>
        <p:spPr>
          <a:xfrm>
            <a:off x="0" y="-1"/>
            <a:ext cx="12185522" cy="1994400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194582-7BFB-D6B9-9EE1-FDF0828D97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8250" y="0"/>
            <a:ext cx="5887272" cy="2010056"/>
          </a:xfrm>
          <a:prstGeom prst="rect">
            <a:avLst/>
          </a:prstGeom>
        </p:spPr>
      </p:pic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DF8F157A-9CC5-CB32-11D5-85701BAA6FAF}"/>
              </a:ext>
            </a:extLst>
          </p:cNvPr>
          <p:cNvGrpSpPr/>
          <p:nvPr/>
        </p:nvGrpSpPr>
        <p:grpSpPr>
          <a:xfrm>
            <a:off x="327212" y="1410611"/>
            <a:ext cx="11537576" cy="698038"/>
            <a:chOff x="327212" y="1635018"/>
            <a:chExt cx="11537576" cy="698038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44BC0CF-1C8A-7B3C-DC20-40966C3A9F8D}"/>
                </a:ext>
              </a:extLst>
            </p:cNvPr>
            <p:cNvSpPr/>
            <p:nvPr/>
          </p:nvSpPr>
          <p:spPr>
            <a:xfrm>
              <a:off x="327212" y="1635018"/>
              <a:ext cx="11537576" cy="698038"/>
            </a:xfrm>
            <a:prstGeom prst="roundRect">
              <a:avLst/>
            </a:prstGeom>
            <a:solidFill>
              <a:srgbClr val="022460"/>
            </a:solidFill>
            <a:ln w="9525">
              <a:solidFill>
                <a:schemeClr val="tx2">
                  <a:lumMod val="75000"/>
                  <a:lumOff val="2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4619390-A47D-2971-22A2-904E75B3B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906415" y="1780617"/>
              <a:ext cx="590632" cy="43821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72003C5-B245-81CA-5350-ED44EA1CB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0000" b="90000" l="10000" r="90000">
                          <a14:foregroundMark x1="72364" y1="33387" x2="72364" y2="33387"/>
                          <a14:foregroundMark x1="63578" y1="39457" x2="63578" y2="39457"/>
                          <a14:foregroundMark x1="49521" y1="40096" x2="49521" y2="40096"/>
                          <a14:foregroundMark x1="49521" y1="51917" x2="49521" y2="51917"/>
                          <a14:foregroundMark x1="35463" y1="40895" x2="35463" y2="40895"/>
                          <a14:foregroundMark x1="26518" y1="34984" x2="26518" y2="34984"/>
                          <a14:foregroundMark x1="18371" y1="32748" x2="18371" y2="327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10151" y="1729476"/>
              <a:ext cx="490701" cy="490701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81B40E5-492E-B9FA-8FF4-3A28170D3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34524" y="1724492"/>
              <a:ext cx="628738" cy="54300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1F465454-BE3F-1861-3910-4A82AE65E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628669" y="1734106"/>
              <a:ext cx="562053" cy="485843"/>
            </a:xfrm>
            <a:prstGeom prst="rect">
              <a:avLst/>
            </a:prstGeom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A69D0EE-F442-8C9C-B0B6-23943873CB03}"/>
                </a:ext>
              </a:extLst>
            </p:cNvPr>
            <p:cNvCxnSpPr/>
            <p:nvPr/>
          </p:nvCxnSpPr>
          <p:spPr>
            <a:xfrm>
              <a:off x="2595212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1627677-7314-8455-C230-2533695E9D5E}"/>
                </a:ext>
              </a:extLst>
            </p:cNvPr>
            <p:cNvCxnSpPr/>
            <p:nvPr/>
          </p:nvCxnSpPr>
          <p:spPr>
            <a:xfrm>
              <a:off x="5255575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B37961-40D6-2BA1-DE8A-B65CC6F4D7BC}"/>
                </a:ext>
              </a:extLst>
            </p:cNvPr>
            <p:cNvCxnSpPr/>
            <p:nvPr/>
          </p:nvCxnSpPr>
          <p:spPr>
            <a:xfrm>
              <a:off x="8184965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A8CEB40-25C6-DD18-4500-1F95BC97984B}"/>
                </a:ext>
              </a:extLst>
            </p:cNvPr>
            <p:cNvSpPr txBox="1"/>
            <p:nvPr/>
          </p:nvSpPr>
          <p:spPr>
            <a:xfrm>
              <a:off x="3578245" y="1679843"/>
              <a:ext cx="12365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30+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2B1DD53-C25B-7918-2097-081EEEAB6C34}"/>
                </a:ext>
              </a:extLst>
            </p:cNvPr>
            <p:cNvSpPr txBox="1"/>
            <p:nvPr/>
          </p:nvSpPr>
          <p:spPr>
            <a:xfrm>
              <a:off x="6141662" y="1679840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Calibri" panose="020F0502020204030204" pitchFamily="34" charset="0"/>
                </a:rPr>
                <a:t>200+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B31349-E11F-E371-ECAA-4E277512E659}"/>
                </a:ext>
              </a:extLst>
            </p:cNvPr>
            <p:cNvSpPr txBox="1"/>
            <p:nvPr/>
          </p:nvSpPr>
          <p:spPr>
            <a:xfrm>
              <a:off x="1061900" y="1680877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C544F6E-1058-CC38-D31D-70AB243B7355}"/>
                </a:ext>
              </a:extLst>
            </p:cNvPr>
            <p:cNvSpPr txBox="1"/>
            <p:nvPr/>
          </p:nvSpPr>
          <p:spPr>
            <a:xfrm>
              <a:off x="9238763" y="1751563"/>
              <a:ext cx="6434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23B445A-30A3-111F-27B2-77F3776ED619}"/>
                </a:ext>
              </a:extLst>
            </p:cNvPr>
            <p:cNvSpPr txBox="1"/>
            <p:nvPr/>
          </p:nvSpPr>
          <p:spPr>
            <a:xfrm>
              <a:off x="3569281" y="2001357"/>
              <a:ext cx="12235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Analytic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9738018-8E24-A0D7-3DAE-01B667582588}"/>
                </a:ext>
              </a:extLst>
            </p:cNvPr>
            <p:cNvSpPr txBox="1"/>
            <p:nvPr/>
          </p:nvSpPr>
          <p:spPr>
            <a:xfrm>
              <a:off x="6208340" y="2001357"/>
              <a:ext cx="13567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Distinct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Signals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18C0F2B-9456-C31B-F7D2-B615CD2282DA}"/>
                </a:ext>
              </a:extLst>
            </p:cNvPr>
            <p:cNvSpPr txBox="1"/>
            <p:nvPr/>
          </p:nvSpPr>
          <p:spPr>
            <a:xfrm>
              <a:off x="1079830" y="2011356"/>
              <a:ext cx="16581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Layers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F7A6F03-32C5-BCDC-11A2-9360F86B14BC}"/>
                </a:ext>
              </a:extLst>
            </p:cNvPr>
            <p:cNvSpPr txBox="1"/>
            <p:nvPr/>
          </p:nvSpPr>
          <p:spPr>
            <a:xfrm>
              <a:off x="9216823" y="2001357"/>
              <a:ext cx="6875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Engines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49EC395A-F70F-B403-3B1F-46F3853962F3}"/>
                </a:ext>
              </a:extLst>
            </p:cNvPr>
            <p:cNvSpPr txBox="1"/>
            <p:nvPr/>
          </p:nvSpPr>
          <p:spPr>
            <a:xfrm>
              <a:off x="10381933" y="1751563"/>
              <a:ext cx="6434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D42C4787-5AEF-49E5-E0B3-C3BF446AD566}"/>
                </a:ext>
              </a:extLst>
            </p:cNvPr>
            <p:cNvSpPr txBox="1"/>
            <p:nvPr/>
          </p:nvSpPr>
          <p:spPr>
            <a:xfrm>
              <a:off x="10359993" y="2001357"/>
              <a:ext cx="6875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Pools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CAF3423-A05F-9CB5-E83A-2478FF1CA4BB}"/>
              </a:ext>
            </a:extLst>
          </p:cNvPr>
          <p:cNvSpPr/>
          <p:nvPr/>
        </p:nvSpPr>
        <p:spPr>
          <a:xfrm>
            <a:off x="0" y="6711900"/>
            <a:ext cx="12185522" cy="171241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6EEFC906-5946-6DC3-94F7-605DC112A2BB}"/>
              </a:ext>
            </a:extLst>
          </p:cNvPr>
          <p:cNvCxnSpPr>
            <a:cxnSpLocks/>
          </p:cNvCxnSpPr>
          <p:nvPr/>
        </p:nvCxnSpPr>
        <p:spPr>
          <a:xfrm flipH="1">
            <a:off x="10065520" y="1601185"/>
            <a:ext cx="149566" cy="365060"/>
          </a:xfrm>
          <a:prstGeom prst="line">
            <a:avLst/>
          </a:prstGeom>
          <a:ln>
            <a:solidFill>
              <a:srgbClr val="34C1D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133B993-F9DB-C4B6-7AE1-29DB50148F77}"/>
              </a:ext>
            </a:extLst>
          </p:cNvPr>
          <p:cNvSpPr txBox="1"/>
          <p:nvPr/>
        </p:nvSpPr>
        <p:spPr>
          <a:xfrm>
            <a:off x="268939" y="2781"/>
            <a:ext cx="1050316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1 : Action Management : </a:t>
            </a:r>
            <a:r>
              <a:rPr kumimoji="0" lang="tr-TR" sz="4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Realization</a:t>
            </a:r>
            <a:endParaRPr kumimoji="0" lang="tr-TR" sz="4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509EB2A0-F079-3EFC-2A89-13461CC5F0B6}"/>
              </a:ext>
            </a:extLst>
          </p:cNvPr>
          <p:cNvSpPr/>
          <p:nvPr/>
        </p:nvSpPr>
        <p:spPr>
          <a:xfrm rot="5400000">
            <a:off x="9545082" y="3855934"/>
            <a:ext cx="1228150" cy="21006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3A165902-8A83-93D5-7B9F-C8878F0FBDA8}"/>
              </a:ext>
            </a:extLst>
          </p:cNvPr>
          <p:cNvSpPr/>
          <p:nvPr/>
        </p:nvSpPr>
        <p:spPr>
          <a:xfrm>
            <a:off x="10465576" y="2746385"/>
            <a:ext cx="1399212" cy="2266352"/>
          </a:xfrm>
          <a:prstGeom prst="roundRect">
            <a:avLst>
              <a:gd name="adj" fmla="val 7697"/>
            </a:avLst>
          </a:prstGeom>
          <a:solidFill>
            <a:srgbClr val="E1E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75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5F17D7C3-EA4F-3D07-9D17-A3F4390C5F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42500" y1="31375" x2="42500" y2="31375"/>
                        <a14:foregroundMark x1="40500" y1="44750" x2="40500" y2="44750"/>
                        <a14:foregroundMark x1="39125" y1="59875" x2="39125" y2="59875"/>
                        <a14:foregroundMark x1="64625" y1="55625" x2="64625" y2="55625"/>
                        <a14:foregroundMark x1="74250" y1="50750" x2="74250" y2="50750"/>
                        <a14:foregroundMark x1="71250" y1="45625" x2="71250" y2="45625"/>
                        <a14:foregroundMark x1="63500" y1="44000" x2="63500" y2="44000"/>
                        <a14:foregroundMark x1="54125" y1="45125" x2="54125" y2="45125"/>
                        <a14:foregroundMark x1="53125" y1="63875" x2="53125" y2="63875"/>
                        <a14:foregroundMark x1="69000" y1="62875" x2="69000" y2="62875"/>
                        <a14:foregroundMark x1="69750" y1="72250" x2="69750" y2="72250"/>
                        <a14:foregroundMark x1="54625" y1="74000" x2="54625" y2="74000"/>
                        <a14:foregroundMark x1="65000" y1="81875" x2="65000" y2="81875"/>
                        <a14:foregroundMark x1="45375" y1="36625" x2="45375" y2="36625"/>
                        <a14:foregroundMark x1="42875" y1="36250" x2="42875" y2="36250"/>
                        <a14:foregroundMark x1="55625" y1="81375" x2="55625" y2="81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65577" y="2808601"/>
            <a:ext cx="421140" cy="421140"/>
          </a:xfrm>
          <a:prstGeom prst="rect">
            <a:avLst/>
          </a:prstGeom>
          <a:effectLst/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D97506B8-97AA-B7AF-F339-676C1DCF62FC}"/>
              </a:ext>
            </a:extLst>
          </p:cNvPr>
          <p:cNvSpPr txBox="1"/>
          <p:nvPr/>
        </p:nvSpPr>
        <p:spPr>
          <a:xfrm>
            <a:off x="10772105" y="2755425"/>
            <a:ext cx="121213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Realization</a:t>
            </a:r>
            <a:r>
              <a: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tr-TR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Pool</a:t>
            </a:r>
            <a:r>
              <a: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&amp; </a:t>
            </a:r>
            <a:r>
              <a:rPr kumimoji="0" lang="tr-TR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Institutional</a:t>
            </a:r>
            <a:r>
              <a: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Memory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900A207-C63B-3820-A922-5FB90FF0ABCF}"/>
              </a:ext>
            </a:extLst>
          </p:cNvPr>
          <p:cNvCxnSpPr/>
          <p:nvPr/>
        </p:nvCxnSpPr>
        <p:spPr>
          <a:xfrm>
            <a:off x="10449580" y="3296645"/>
            <a:ext cx="1413275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ight Brace 85">
            <a:extLst>
              <a:ext uri="{FF2B5EF4-FFF2-40B4-BE49-F238E27FC236}">
                <a16:creationId xmlns:a16="http://schemas.microsoft.com/office/drawing/2014/main" id="{45DA0A6B-1138-42DB-57B6-1D0BE35BE483}"/>
              </a:ext>
            </a:extLst>
          </p:cNvPr>
          <p:cNvSpPr/>
          <p:nvPr/>
        </p:nvSpPr>
        <p:spPr>
          <a:xfrm rot="5400000">
            <a:off x="7098161" y="1357193"/>
            <a:ext cx="223153" cy="7675533"/>
          </a:xfrm>
          <a:prstGeom prst="rightBrace">
            <a:avLst>
              <a:gd name="adj1" fmla="val 121539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DE68BDE-C9C5-2C90-7F7A-933A4A77DD3E}"/>
              </a:ext>
            </a:extLst>
          </p:cNvPr>
          <p:cNvSpPr/>
          <p:nvPr/>
        </p:nvSpPr>
        <p:spPr>
          <a:xfrm>
            <a:off x="3124649" y="5283839"/>
            <a:ext cx="1142338" cy="684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A/B Test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Owner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3B1B5BA6-C1E4-85F1-3741-4FE6392E033D}"/>
              </a:ext>
            </a:extLst>
          </p:cNvPr>
          <p:cNvSpPr/>
          <p:nvPr/>
        </p:nvSpPr>
        <p:spPr>
          <a:xfrm>
            <a:off x="4356796" y="5283839"/>
            <a:ext cx="5980662" cy="68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Responsible</a:t>
            </a:r>
            <a:r>
              <a:rPr lang="tr-TR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Defining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A/B test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clusters</a:t>
            </a: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tr-TR" sz="10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Ensuring</a:t>
            </a:r>
            <a:r>
              <a:rPr lang="tr-TR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homogeneity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among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test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control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groups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accurate</a:t>
            </a:r>
            <a:r>
              <a:rPr lang="tr-TR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1000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measure</a:t>
            </a:r>
            <a:endParaRPr lang="tr-TR" sz="1000" dirty="0">
              <a:solidFill>
                <a:srgbClr val="022460"/>
              </a:solidFill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Identifying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impact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metrics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selected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action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with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Action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Owner</a:t>
            </a:r>
            <a:endParaRPr kumimoji="0" lang="tr-TR" sz="10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0B7C3BA-96E3-FE2D-5CDF-267CE7F9C57D}"/>
              </a:ext>
            </a:extLst>
          </p:cNvPr>
          <p:cNvSpPr txBox="1"/>
          <p:nvPr/>
        </p:nvSpPr>
        <p:spPr>
          <a:xfrm>
            <a:off x="10424588" y="3307383"/>
            <a:ext cx="14655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Centralized repository of </a:t>
            </a:r>
            <a:r>
              <a:rPr lang="en-US" sz="1000" b="1" dirty="0"/>
              <a:t>execution and outcome </a:t>
            </a:r>
            <a:r>
              <a:rPr lang="en-US" sz="1000" dirty="0"/>
              <a:t>data, combining RM </a:t>
            </a:r>
            <a:r>
              <a:rPr lang="tr-TR" sz="1000" b="1" dirty="0" err="1"/>
              <a:t>feedbacks</a:t>
            </a:r>
            <a:r>
              <a:rPr lang="tr-TR" sz="1000" b="1" dirty="0"/>
              <a:t>,</a:t>
            </a:r>
            <a:r>
              <a:rPr lang="tr-TR" sz="1000" dirty="0"/>
              <a:t> </a:t>
            </a:r>
            <a:r>
              <a:rPr lang="en-US" sz="1000" b="1" dirty="0"/>
              <a:t>status updates </a:t>
            </a:r>
            <a:r>
              <a:rPr lang="en-US" sz="1000" dirty="0"/>
              <a:t>and </a:t>
            </a:r>
            <a:r>
              <a:rPr lang="en-US" sz="1000" b="1" dirty="0"/>
              <a:t>system-observed realizations</a:t>
            </a:r>
            <a:r>
              <a:rPr lang="en-US" sz="1000" dirty="0"/>
              <a:t> for performance measurement and continuous learning.</a:t>
            </a:r>
            <a:endParaRPr lang="tr-TR" sz="1000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2DBE2DD-D739-2349-F872-DB2CD2AF3E97}"/>
              </a:ext>
            </a:extLst>
          </p:cNvPr>
          <p:cNvSpPr/>
          <p:nvPr/>
        </p:nvSpPr>
        <p:spPr>
          <a:xfrm>
            <a:off x="10449579" y="5606527"/>
            <a:ext cx="1413275" cy="684000"/>
          </a:xfrm>
          <a:prstGeom prst="roundRect">
            <a:avLst/>
          </a:prstGeom>
          <a:solidFill>
            <a:srgbClr val="73D7D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36000" rtlCol="0" anchor="ctr"/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Continuous</a:t>
            </a: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tr-TR" sz="11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Accountable</a:t>
            </a:r>
            <a:endParaRPr lang="tr-TR" sz="1100" b="1" dirty="0">
              <a:solidFill>
                <a:srgbClr val="022460"/>
              </a:solidFill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Qulity</a:t>
            </a:r>
            <a:r>
              <a:rPr lang="tr-TR" sz="11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tr-TR" sz="11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Assured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7C2D5-A0B3-3683-D462-1FCE1D7466AF}"/>
              </a:ext>
            </a:extLst>
          </p:cNvPr>
          <p:cNvSpPr txBox="1"/>
          <p:nvPr/>
        </p:nvSpPr>
        <p:spPr>
          <a:xfrm>
            <a:off x="251010" y="611626"/>
            <a:ext cx="98031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Controlled action activation through A/B testing and continuous feedback.</a:t>
            </a:r>
            <a:endParaRPr kumimoji="0" lang="tr-TR" sz="1700" b="0" i="0" u="none" strike="noStrike" kern="1200" cap="none" spc="0" normalizeH="0" baseline="0" noProof="0" dirty="0">
              <a:ln>
                <a:noFill/>
              </a:ln>
              <a:solidFill>
                <a:srgbClr val="34C1D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0DEB53C-4036-3C79-4C7B-0AD469C7D24D}"/>
              </a:ext>
            </a:extLst>
          </p:cNvPr>
          <p:cNvCxnSpPr>
            <a:cxnSpLocks/>
          </p:cNvCxnSpPr>
          <p:nvPr/>
        </p:nvCxnSpPr>
        <p:spPr>
          <a:xfrm>
            <a:off x="304800" y="5095747"/>
            <a:ext cx="234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3C1F4FA-EF82-8285-9409-207293594D7B}"/>
              </a:ext>
            </a:extLst>
          </p:cNvPr>
          <p:cNvCxnSpPr>
            <a:cxnSpLocks/>
          </p:cNvCxnSpPr>
          <p:nvPr/>
        </p:nvCxnSpPr>
        <p:spPr>
          <a:xfrm>
            <a:off x="304800" y="2711015"/>
            <a:ext cx="234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81AADBB-02C0-A739-9E21-0B718D333C71}"/>
              </a:ext>
            </a:extLst>
          </p:cNvPr>
          <p:cNvSpPr/>
          <p:nvPr/>
        </p:nvSpPr>
        <p:spPr>
          <a:xfrm>
            <a:off x="3124649" y="5998325"/>
            <a:ext cx="1142338" cy="684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Action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Owner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60EA30C-7B5B-8A29-BF99-D543FB8DA3F3}"/>
              </a:ext>
            </a:extLst>
          </p:cNvPr>
          <p:cNvSpPr/>
          <p:nvPr/>
        </p:nvSpPr>
        <p:spPr>
          <a:xfrm>
            <a:off x="4356796" y="5998325"/>
            <a:ext cx="5980662" cy="68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Responsible</a:t>
            </a:r>
            <a:r>
              <a:rPr lang="tr-TR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Defining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A/B test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clusters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split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size (%10 A / %90 B)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Deciding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how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how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frequently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realizations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will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be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measured</a:t>
            </a: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Identifying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impact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metrics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the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selected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action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with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A/B Test </a:t>
            </a: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Owner</a:t>
            </a:r>
            <a:endParaRPr kumimoji="0" lang="tr-TR" sz="10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DE44EE0-2B1F-71C3-222F-0B3B335712BA}"/>
              </a:ext>
            </a:extLst>
          </p:cNvPr>
          <p:cNvGrpSpPr/>
          <p:nvPr/>
        </p:nvGrpSpPr>
        <p:grpSpPr>
          <a:xfrm>
            <a:off x="2822904" y="2746385"/>
            <a:ext cx="1692574" cy="2290834"/>
            <a:chOff x="2822904" y="2746385"/>
            <a:chExt cx="1692574" cy="2290834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DDFA7B74-F678-2F79-E50F-FACEFED0933B}"/>
                </a:ext>
              </a:extLst>
            </p:cNvPr>
            <p:cNvSpPr/>
            <p:nvPr/>
          </p:nvSpPr>
          <p:spPr>
            <a:xfrm>
              <a:off x="2822904" y="2746385"/>
              <a:ext cx="1692574" cy="2290834"/>
            </a:xfrm>
            <a:prstGeom prst="roundRect">
              <a:avLst>
                <a:gd name="adj" fmla="val 1813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CF1FE8E8-F251-8604-4A40-14B772528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l="30210" t="1" r="57471" b="3620"/>
            <a:stretch/>
          </p:blipFill>
          <p:spPr>
            <a:xfrm>
              <a:off x="2874937" y="2842690"/>
              <a:ext cx="421341" cy="329650"/>
            </a:xfrm>
            <a:prstGeom prst="rect">
              <a:avLst/>
            </a:prstGeom>
          </p:spPr>
        </p:pic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2B68C2D-722A-A6C4-985E-9FB3A5F8C915}"/>
                </a:ext>
              </a:extLst>
            </p:cNvPr>
            <p:cNvCxnSpPr/>
            <p:nvPr/>
          </p:nvCxnSpPr>
          <p:spPr>
            <a:xfrm>
              <a:off x="2926120" y="3245434"/>
              <a:ext cx="147066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FA90AEB-5CC5-E4B7-349D-33FEF1EE2015}"/>
                </a:ext>
              </a:extLst>
            </p:cNvPr>
            <p:cNvSpPr txBox="1"/>
            <p:nvPr/>
          </p:nvSpPr>
          <p:spPr>
            <a:xfrm>
              <a:off x="3249143" y="2871720"/>
              <a:ext cx="12192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A/B Test </a:t>
              </a:r>
              <a:r>
                <a:rPr kumimoji="0" lang="tr-TR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Clusters</a:t>
              </a:r>
              <a:endPara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01D54CB7-DF45-FA40-7ABB-94636EC7883C}"/>
                </a:ext>
              </a:extLst>
            </p:cNvPr>
            <p:cNvSpPr/>
            <p:nvPr/>
          </p:nvSpPr>
          <p:spPr>
            <a:xfrm>
              <a:off x="2930404" y="3355185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Cluster A</a:t>
              </a: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333E8053-E839-400E-114E-C13CEADD41B6}"/>
                </a:ext>
              </a:extLst>
            </p:cNvPr>
            <p:cNvSpPr/>
            <p:nvPr/>
          </p:nvSpPr>
          <p:spPr>
            <a:xfrm>
              <a:off x="2930404" y="3742480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tr-TR" sz="900" b="1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Cluster B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1716BC08-33FB-AD0C-38D6-E458F330801A}"/>
                </a:ext>
              </a:extLst>
            </p:cNvPr>
            <p:cNvSpPr/>
            <p:nvPr/>
          </p:nvSpPr>
          <p:spPr>
            <a:xfrm>
              <a:off x="2930404" y="4130673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tr-TR" sz="900" b="1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Cluster C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AEAA6933-7168-BF58-3DAF-404A1ADFCC4D}"/>
                </a:ext>
              </a:extLst>
            </p:cNvPr>
            <p:cNvSpPr/>
            <p:nvPr/>
          </p:nvSpPr>
          <p:spPr>
            <a:xfrm>
              <a:off x="2930404" y="4525037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Cluster X</a:t>
              </a:r>
            </a:p>
          </p:txBody>
        </p:sp>
      </p:grpSp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4B9386A5-0EA5-C845-8A28-2B1EBFB0C331}"/>
              </a:ext>
            </a:extLst>
          </p:cNvPr>
          <p:cNvSpPr/>
          <p:nvPr/>
        </p:nvSpPr>
        <p:spPr>
          <a:xfrm rot="5400000">
            <a:off x="4467719" y="4007141"/>
            <a:ext cx="445756" cy="11776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F1DC0FF-EFE9-F75E-E5F0-536134089ED1}"/>
              </a:ext>
            </a:extLst>
          </p:cNvPr>
          <p:cNvGrpSpPr/>
          <p:nvPr/>
        </p:nvGrpSpPr>
        <p:grpSpPr>
          <a:xfrm>
            <a:off x="4865716" y="2746385"/>
            <a:ext cx="1037783" cy="2290834"/>
            <a:chOff x="2822904" y="2746385"/>
            <a:chExt cx="1692574" cy="2290834"/>
          </a:xfrm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AEABCBC4-9A6A-036C-7FFA-95E5D0AEF169}"/>
                </a:ext>
              </a:extLst>
            </p:cNvPr>
            <p:cNvSpPr/>
            <p:nvPr/>
          </p:nvSpPr>
          <p:spPr>
            <a:xfrm>
              <a:off x="2822904" y="2746385"/>
              <a:ext cx="1692574" cy="2290834"/>
            </a:xfrm>
            <a:prstGeom prst="roundRect">
              <a:avLst>
                <a:gd name="adj" fmla="val 1813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EE86305-8E84-7F5A-1C87-B20B36C6E173}"/>
                </a:ext>
              </a:extLst>
            </p:cNvPr>
            <p:cNvCxnSpPr/>
            <p:nvPr/>
          </p:nvCxnSpPr>
          <p:spPr>
            <a:xfrm>
              <a:off x="2926120" y="3245434"/>
              <a:ext cx="147066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66C9296-51A7-D12A-EA96-2C89B72C4870}"/>
                </a:ext>
              </a:extLst>
            </p:cNvPr>
            <p:cNvSpPr txBox="1"/>
            <p:nvPr/>
          </p:nvSpPr>
          <p:spPr>
            <a:xfrm>
              <a:off x="3049272" y="2871720"/>
              <a:ext cx="12192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A/B </a:t>
              </a:r>
              <a:r>
                <a:rPr kumimoji="0" lang="tr-TR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Splits</a:t>
              </a:r>
              <a:endPara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B4C21090-8B95-6CCA-1BB8-BCE9373EE610}"/>
                </a:ext>
              </a:extLst>
            </p:cNvPr>
            <p:cNvSpPr/>
            <p:nvPr/>
          </p:nvSpPr>
          <p:spPr>
            <a:xfrm>
              <a:off x="2930404" y="3355185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%10 - %90</a:t>
              </a:r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9D33DA2C-F288-00C4-D517-BA69A5617315}"/>
                </a:ext>
              </a:extLst>
            </p:cNvPr>
            <p:cNvSpPr/>
            <p:nvPr/>
          </p:nvSpPr>
          <p:spPr>
            <a:xfrm>
              <a:off x="2930404" y="3742480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%10 - %90</a:t>
              </a:r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9E72530C-936A-7D6C-21FC-C54D8B690B73}"/>
                </a:ext>
              </a:extLst>
            </p:cNvPr>
            <p:cNvSpPr/>
            <p:nvPr/>
          </p:nvSpPr>
          <p:spPr>
            <a:xfrm>
              <a:off x="2930404" y="4130673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%10 - %90</a:t>
              </a:r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8942B0F3-FC0C-F35A-67DA-B10E055D0106}"/>
                </a:ext>
              </a:extLst>
            </p:cNvPr>
            <p:cNvSpPr/>
            <p:nvPr/>
          </p:nvSpPr>
          <p:spPr>
            <a:xfrm>
              <a:off x="2930404" y="4525037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%10 - %90</a:t>
              </a:r>
            </a:p>
          </p:txBody>
        </p:sp>
      </p:grpSp>
      <p:sp>
        <p:nvSpPr>
          <p:cNvPr id="120" name="Isosceles Triangle 119">
            <a:extLst>
              <a:ext uri="{FF2B5EF4-FFF2-40B4-BE49-F238E27FC236}">
                <a16:creationId xmlns:a16="http://schemas.microsoft.com/office/drawing/2014/main" id="{CFB0557C-E6DC-36D1-6942-D6499D8AFF0F}"/>
              </a:ext>
            </a:extLst>
          </p:cNvPr>
          <p:cNvSpPr/>
          <p:nvPr/>
        </p:nvSpPr>
        <p:spPr>
          <a:xfrm rot="5400000">
            <a:off x="5855741" y="4007141"/>
            <a:ext cx="445756" cy="11776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FCA85A5-2C87-4DFD-4B05-3ECFA291BA91}"/>
              </a:ext>
            </a:extLst>
          </p:cNvPr>
          <p:cNvGrpSpPr/>
          <p:nvPr/>
        </p:nvGrpSpPr>
        <p:grpSpPr>
          <a:xfrm>
            <a:off x="6253737" y="2746385"/>
            <a:ext cx="1692574" cy="2290834"/>
            <a:chOff x="2822904" y="2746385"/>
            <a:chExt cx="1692574" cy="2290834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856C53D4-ECFA-B10D-7406-6B12601528AB}"/>
                </a:ext>
              </a:extLst>
            </p:cNvPr>
            <p:cNvSpPr/>
            <p:nvPr/>
          </p:nvSpPr>
          <p:spPr>
            <a:xfrm>
              <a:off x="2822904" y="2746385"/>
              <a:ext cx="1692574" cy="2290834"/>
            </a:xfrm>
            <a:prstGeom prst="roundRect">
              <a:avLst>
                <a:gd name="adj" fmla="val 1813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53DE5FCD-1659-045A-D144-E728D0916912}"/>
                </a:ext>
              </a:extLst>
            </p:cNvPr>
            <p:cNvCxnSpPr/>
            <p:nvPr/>
          </p:nvCxnSpPr>
          <p:spPr>
            <a:xfrm>
              <a:off x="2926120" y="3245434"/>
              <a:ext cx="147066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72D0E4E-6985-CD9C-3D0A-4E9051A9B366}"/>
                </a:ext>
              </a:extLst>
            </p:cNvPr>
            <p:cNvSpPr txBox="1"/>
            <p:nvPr/>
          </p:nvSpPr>
          <p:spPr>
            <a:xfrm>
              <a:off x="2926121" y="2790877"/>
              <a:ext cx="147066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Action </a:t>
              </a:r>
              <a:r>
                <a:rPr kumimoji="0" lang="tr-TR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Exposure</a:t>
              </a:r>
              <a:r>
                <a:rPr kumimoji="0" lang="tr-T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kumimoji="0" lang="tr-TR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Decision</a:t>
              </a:r>
              <a:endPara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4E22F37B-529A-1A8F-5562-8D1C4EEDEE9A}"/>
                </a:ext>
              </a:extLst>
            </p:cNvPr>
            <p:cNvSpPr/>
            <p:nvPr/>
          </p:nvSpPr>
          <p:spPr>
            <a:xfrm>
              <a:off x="2930404" y="3355185"/>
              <a:ext cx="1466376" cy="1520522"/>
            </a:xfrm>
            <a:prstGeom prst="roundRect">
              <a:avLst>
                <a:gd name="adj" fmla="val 4453"/>
              </a:avLst>
            </a:prstGeom>
            <a:solidFill>
              <a:srgbClr val="73D7DF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Group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A: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Holdout group used to measure the organic response without action exposure</a:t>
              </a:r>
              <a:br>
                <a:rPr kumimoji="0" lang="tr-TR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</a:br>
              <a:b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</a:b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Group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B:</a:t>
              </a:r>
              <a:b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</a:b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Treatment group exposed to the action for execution by the designated actor</a:t>
              </a:r>
              <a:endParaRPr kumimoji="0" lang="tr-TR" sz="9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tr-TR" sz="9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27" name="Isosceles Triangle 1026">
            <a:extLst>
              <a:ext uri="{FF2B5EF4-FFF2-40B4-BE49-F238E27FC236}">
                <a16:creationId xmlns:a16="http://schemas.microsoft.com/office/drawing/2014/main" id="{E60134A5-FB13-7715-6146-400ADA3F6A90}"/>
              </a:ext>
            </a:extLst>
          </p:cNvPr>
          <p:cNvSpPr/>
          <p:nvPr/>
        </p:nvSpPr>
        <p:spPr>
          <a:xfrm rot="5400000">
            <a:off x="7898553" y="4007142"/>
            <a:ext cx="445756" cy="11776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C695E450-4AFC-1E49-66F7-49A20BEE9528}"/>
              </a:ext>
            </a:extLst>
          </p:cNvPr>
          <p:cNvGrpSpPr/>
          <p:nvPr/>
        </p:nvGrpSpPr>
        <p:grpSpPr>
          <a:xfrm>
            <a:off x="8296550" y="2746385"/>
            <a:ext cx="1692574" cy="2290834"/>
            <a:chOff x="2822904" y="2746385"/>
            <a:chExt cx="1692574" cy="2290834"/>
          </a:xfrm>
        </p:grpSpPr>
        <p:sp>
          <p:nvSpPr>
            <p:cNvPr id="1030" name="Rectangle: Rounded Corners 1029">
              <a:extLst>
                <a:ext uri="{FF2B5EF4-FFF2-40B4-BE49-F238E27FC236}">
                  <a16:creationId xmlns:a16="http://schemas.microsoft.com/office/drawing/2014/main" id="{4AC7B752-16F0-2E5F-133F-6126D9B0AC35}"/>
                </a:ext>
              </a:extLst>
            </p:cNvPr>
            <p:cNvSpPr/>
            <p:nvPr/>
          </p:nvSpPr>
          <p:spPr>
            <a:xfrm>
              <a:off x="2822904" y="2746385"/>
              <a:ext cx="1692574" cy="2290834"/>
            </a:xfrm>
            <a:prstGeom prst="roundRect">
              <a:avLst>
                <a:gd name="adj" fmla="val 1813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031" name="Picture 1030">
              <a:extLst>
                <a:ext uri="{FF2B5EF4-FFF2-40B4-BE49-F238E27FC236}">
                  <a16:creationId xmlns:a16="http://schemas.microsoft.com/office/drawing/2014/main" id="{1D3B8CA4-F08B-2A71-C918-8C39B9E88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0881" r="3035" b="-8447"/>
            <a:stretch/>
          </p:blipFill>
          <p:spPr>
            <a:xfrm>
              <a:off x="2911500" y="2852441"/>
              <a:ext cx="337643" cy="339739"/>
            </a:xfrm>
            <a:prstGeom prst="rect">
              <a:avLst/>
            </a:prstGeom>
          </p:spPr>
        </p:pic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729380E5-8A22-34C2-79EA-6B141EF20A5F}"/>
                </a:ext>
              </a:extLst>
            </p:cNvPr>
            <p:cNvCxnSpPr/>
            <p:nvPr/>
          </p:nvCxnSpPr>
          <p:spPr>
            <a:xfrm>
              <a:off x="2926120" y="3245434"/>
              <a:ext cx="147066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57DAE080-31DA-EF19-E624-48F0CAF12F69}"/>
                </a:ext>
              </a:extLst>
            </p:cNvPr>
            <p:cNvSpPr txBox="1"/>
            <p:nvPr/>
          </p:nvSpPr>
          <p:spPr>
            <a:xfrm>
              <a:off x="3249143" y="2805731"/>
              <a:ext cx="12192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Realization</a:t>
              </a:r>
              <a:r>
                <a:rPr kumimoji="0" lang="tr-T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kumimoji="0" lang="tr-TR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Updates</a:t>
              </a:r>
              <a:endPara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4" name="Rectangle: Rounded Corners 1033">
              <a:extLst>
                <a:ext uri="{FF2B5EF4-FFF2-40B4-BE49-F238E27FC236}">
                  <a16:creationId xmlns:a16="http://schemas.microsoft.com/office/drawing/2014/main" id="{A5AE47D2-A0F0-A638-7028-9812070F97D7}"/>
                </a:ext>
              </a:extLst>
            </p:cNvPr>
            <p:cNvSpPr/>
            <p:nvPr/>
          </p:nvSpPr>
          <p:spPr>
            <a:xfrm>
              <a:off x="2930404" y="3355185"/>
              <a:ext cx="1466376" cy="1520522"/>
            </a:xfrm>
            <a:prstGeom prst="roundRect">
              <a:avLst>
                <a:gd name="adj" fmla="val 445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Soft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Response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: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RM Action </a:t>
              </a:r>
              <a:r>
                <a:rPr lang="tr-TR" sz="900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s</a:t>
              </a:r>
              <a:r>
                <a:rPr kumimoji="0" lang="tr-TR" sz="900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tatus</a:t>
              </a:r>
              <a:r>
                <a:rPr kumimoji="0" lang="tr-TR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tr-TR" sz="900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u</a:t>
              </a:r>
              <a:r>
                <a:rPr kumimoji="0" lang="tr-TR" sz="900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pdates</a:t>
              </a:r>
              <a:br>
                <a:rPr kumimoji="0" lang="tr-TR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</a:br>
              <a:b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</a:b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Hard </a:t>
              </a:r>
              <a:r>
                <a:rPr kumimoji="0" lang="tr-T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Response</a:t>
              </a: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:</a:t>
              </a:r>
              <a:b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</a:b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SQL</a:t>
              </a:r>
              <a:r>
                <a:rPr kumimoji="0" lang="tr-TR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/service </a:t>
              </a: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based outcome tracking to measure action realization.</a:t>
              </a:r>
              <a:endParaRPr lang="tr-TR" sz="9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tr-TR" sz="9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0922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16B1DFC-F41F-6CD2-173C-62B42FDD5550}"/>
              </a:ext>
            </a:extLst>
          </p:cNvPr>
          <p:cNvGrpSpPr/>
          <p:nvPr/>
        </p:nvGrpSpPr>
        <p:grpSpPr>
          <a:xfrm>
            <a:off x="203218" y="2403238"/>
            <a:ext cx="2412821" cy="3856158"/>
            <a:chOff x="9450873" y="2403238"/>
            <a:chExt cx="2412821" cy="385615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ED2A29E-AF04-96A0-BA0A-98CB08886281}"/>
                </a:ext>
              </a:extLst>
            </p:cNvPr>
            <p:cNvGrpSpPr/>
            <p:nvPr/>
          </p:nvGrpSpPr>
          <p:grpSpPr>
            <a:xfrm>
              <a:off x="9595694" y="2403238"/>
              <a:ext cx="2268000" cy="3856158"/>
              <a:chOff x="2859740" y="2478654"/>
              <a:chExt cx="2472549" cy="3856158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F243F95-8CD6-17BC-31D9-3318EB6799DB}"/>
                  </a:ext>
                </a:extLst>
              </p:cNvPr>
              <p:cNvSpPr/>
              <p:nvPr/>
            </p:nvSpPr>
            <p:spPr>
              <a:xfrm>
                <a:off x="2859740" y="2478655"/>
                <a:ext cx="2472549" cy="3856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399252F-DA0B-81E0-B406-AE4DD497537C}"/>
                  </a:ext>
                </a:extLst>
              </p:cNvPr>
              <p:cNvSpPr txBox="1"/>
              <p:nvPr/>
            </p:nvSpPr>
            <p:spPr>
              <a:xfrm>
                <a:off x="3362902" y="2478654"/>
                <a:ext cx="14602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r-TR" sz="1400" b="1" dirty="0">
                    <a:solidFill>
                      <a:schemeClr val="bg1">
                        <a:lumMod val="50000"/>
                      </a:schemeClr>
                    </a:solidFill>
                  </a:rPr>
                  <a:t>MONITOR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CBA881F-DBBC-DA77-1716-28DBEDDECAEC}"/>
                </a:ext>
              </a:extLst>
            </p:cNvPr>
            <p:cNvSpPr txBox="1"/>
            <p:nvPr/>
          </p:nvSpPr>
          <p:spPr>
            <a:xfrm>
              <a:off x="9479059" y="2931701"/>
              <a:ext cx="10631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200" b="1" dirty="0" err="1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Realtime</a:t>
              </a:r>
              <a:r>
                <a:rPr lang="tr-TR" sz="1200" b="1" dirty="0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 </a:t>
              </a:r>
              <a:r>
                <a:rPr lang="tr-TR" sz="1200" b="1" dirty="0" err="1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Monitoring</a:t>
              </a:r>
              <a:r>
                <a:rPr lang="tr-TR" sz="1200" b="1" dirty="0">
                  <a:gradFill flip="none" rotWithShape="1">
                    <a:gsLst>
                      <a:gs pos="0">
                        <a:srgbClr val="049FFE"/>
                      </a:gs>
                      <a:gs pos="100000">
                        <a:srgbClr val="DE3B5D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2700000" scaled="1"/>
                    <a:tileRect/>
                  </a:gradFill>
                </a:rPr>
                <a:t> Engine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D489C52-1908-BE1A-1C6D-B4B9F30E6412}"/>
                </a:ext>
              </a:extLst>
            </p:cNvPr>
            <p:cNvSpPr/>
            <p:nvPr/>
          </p:nvSpPr>
          <p:spPr>
            <a:xfrm>
              <a:off x="10969849" y="2788900"/>
              <a:ext cx="886750" cy="224831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800B4955-E79D-5879-194F-AEF757551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42500" y1="31375" x2="42500" y2="31375"/>
                          <a14:foregroundMark x1="40500" y1="44750" x2="40500" y2="44750"/>
                          <a14:foregroundMark x1="39125" y1="59875" x2="39125" y2="59875"/>
                          <a14:foregroundMark x1="64625" y1="55625" x2="64625" y2="55625"/>
                          <a14:foregroundMark x1="74250" y1="50750" x2="74250" y2="50750"/>
                          <a14:foregroundMark x1="71250" y1="45625" x2="71250" y2="45625"/>
                          <a14:foregroundMark x1="63500" y1="44000" x2="63500" y2="44000"/>
                          <a14:foregroundMark x1="54125" y1="45125" x2="54125" y2="45125"/>
                          <a14:foregroundMark x1="53125" y1="63875" x2="53125" y2="63875"/>
                          <a14:foregroundMark x1="69000" y1="62875" x2="69000" y2="62875"/>
                          <a14:foregroundMark x1="69750" y1="72250" x2="69750" y2="72250"/>
                          <a14:foregroundMark x1="54625" y1="74000" x2="54625" y2="74000"/>
                          <a14:foregroundMark x1="65000" y1="81875" x2="65000" y2="81875"/>
                          <a14:foregroundMark x1="45375" y1="36625" x2="45375" y2="36625"/>
                          <a14:foregroundMark x1="42875" y1="36250" x2="42875" y2="36250"/>
                          <a14:foregroundMark x1="55625" y1="81375" x2="55625" y2="8137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094002" y="3585468"/>
              <a:ext cx="765888" cy="765888"/>
            </a:xfrm>
            <a:prstGeom prst="rect">
              <a:avLst/>
            </a:prstGeom>
            <a:effectLst/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87E99F5-914D-3124-2599-E7419C41B3CE}"/>
                </a:ext>
              </a:extLst>
            </p:cNvPr>
            <p:cNvSpPr txBox="1"/>
            <p:nvPr/>
          </p:nvSpPr>
          <p:spPr>
            <a:xfrm>
              <a:off x="10949525" y="2794511"/>
              <a:ext cx="91306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100" b="1" dirty="0" err="1">
                  <a:solidFill>
                    <a:schemeClr val="accent1">
                      <a:lumMod val="75000"/>
                    </a:schemeClr>
                  </a:solidFill>
                </a:rPr>
                <a:t>Reporting</a:t>
              </a:r>
              <a:r>
                <a:rPr lang="tr-TR" sz="11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tr-TR" sz="1100" b="1" dirty="0" err="1">
                  <a:solidFill>
                    <a:schemeClr val="accent1">
                      <a:lumMod val="75000"/>
                    </a:schemeClr>
                  </a:solidFill>
                </a:rPr>
                <a:t>Pool</a:t>
              </a:r>
              <a:endParaRPr lang="tr-TR" sz="11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0D4D5974-A55F-805C-1B84-0AD980BD430F}"/>
                </a:ext>
              </a:extLst>
            </p:cNvPr>
            <p:cNvSpPr/>
            <p:nvPr/>
          </p:nvSpPr>
          <p:spPr>
            <a:xfrm>
              <a:off x="11090763" y="4655350"/>
              <a:ext cx="726141" cy="34228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36000" rtlCol="0" anchor="ctr"/>
            <a:lstStyle/>
            <a:p>
              <a:pPr algn="ctr"/>
              <a:r>
                <a:rPr lang="tr-TR" sz="900" b="1" dirty="0" err="1"/>
                <a:t>Enrichment</a:t>
              </a:r>
              <a:endParaRPr lang="tr-TR" sz="900" b="1" dirty="0"/>
            </a:p>
          </p:txBody>
        </p:sp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6557EB85-63CC-0725-9F9D-40A4CAF6DE0A}"/>
                </a:ext>
              </a:extLst>
            </p:cNvPr>
            <p:cNvSpPr/>
            <p:nvPr/>
          </p:nvSpPr>
          <p:spPr>
            <a:xfrm rot="10800000">
              <a:off x="11230955" y="4425454"/>
              <a:ext cx="445756" cy="117765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0A8A976-626F-9D0D-EBAB-AC4A63A01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7222" l="10000" r="96667">
                          <a14:foregroundMark x1="96667" y1="75278" x2="96667" y2="75278"/>
                          <a14:foregroundMark x1="83333" y1="77778" x2="83333" y2="77778"/>
                          <a14:foregroundMark x1="95833" y1="93333" x2="95833" y2="93333"/>
                          <a14:foregroundMark x1="95833" y1="95000" x2="95833" y2="95000"/>
                          <a14:foregroundMark x1="76944" y1="97222" x2="76944" y2="9722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465576" y="3850362"/>
              <a:ext cx="316484" cy="316484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9B91507-9C34-60E3-047D-E4C4169E41F1}"/>
                </a:ext>
              </a:extLst>
            </p:cNvPr>
            <p:cNvSpPr txBox="1"/>
            <p:nvPr/>
          </p:nvSpPr>
          <p:spPr>
            <a:xfrm rot="16200000">
              <a:off x="10254672" y="4405735"/>
              <a:ext cx="760363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tr-TR" sz="800" b="1" dirty="0">
                  <a:solidFill>
                    <a:srgbClr val="0165B6"/>
                  </a:solidFill>
                </a:rPr>
                <a:t>Action </a:t>
              </a:r>
              <a:r>
                <a:rPr lang="tr-TR" sz="800" b="1" dirty="0" err="1">
                  <a:solidFill>
                    <a:srgbClr val="0165B6"/>
                  </a:solidFill>
                </a:rPr>
                <a:t>Status</a:t>
              </a:r>
              <a:r>
                <a:rPr lang="tr-TR" sz="800" b="1" dirty="0">
                  <a:solidFill>
                    <a:srgbClr val="0165B6"/>
                  </a:solidFill>
                </a:rPr>
                <a:t> Update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4C5F0C5-267E-195A-BF25-E2028CEA6BE2}"/>
                </a:ext>
              </a:extLst>
            </p:cNvPr>
            <p:cNvGrpSpPr/>
            <p:nvPr/>
          </p:nvGrpSpPr>
          <p:grpSpPr>
            <a:xfrm>
              <a:off x="10162181" y="5161477"/>
              <a:ext cx="926293" cy="342288"/>
              <a:chOff x="1581237" y="5092185"/>
              <a:chExt cx="926293" cy="342288"/>
            </a:xfrm>
          </p:grpSpPr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999F4E73-F29B-664D-CF67-90E9DEFA692A}"/>
                  </a:ext>
                </a:extLst>
              </p:cNvPr>
              <p:cNvSpPr/>
              <p:nvPr/>
            </p:nvSpPr>
            <p:spPr>
              <a:xfrm>
                <a:off x="1581237" y="5092185"/>
                <a:ext cx="926293" cy="342288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rtlCol="0" anchor="ctr"/>
              <a:lstStyle/>
              <a:p>
                <a:pPr algn="r"/>
                <a:r>
                  <a:rPr lang="tr-TR" sz="900" b="1" dirty="0" err="1"/>
                  <a:t>Governance</a:t>
                </a:r>
                <a:endParaRPr lang="tr-TR" sz="900" b="1" dirty="0"/>
              </a:p>
            </p:txBody>
          </p:sp>
          <p:pic>
            <p:nvPicPr>
              <p:cNvPr id="78" name="Picture 2" descr="85,500+ Security Staff Icon Stock Illustrations, Royalty-Free Vector  Graphics &amp; Clip Art - iStock">
                <a:extLst>
                  <a:ext uri="{FF2B5EF4-FFF2-40B4-BE49-F238E27FC236}">
                    <a16:creationId xmlns:a16="http://schemas.microsoft.com/office/drawing/2014/main" id="{009DBE99-74AE-93E8-DE8C-E53A4E8F23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27451" b="73693" l="31373" r="67157">
                            <a14:foregroundMark x1="31373" y1="41340" x2="31373" y2="41340"/>
                            <a14:foregroundMark x1="42647" y1="51307" x2="42647" y2="51307"/>
                            <a14:foregroundMark x1="67157" y1="43301" x2="67157" y2="43301"/>
                            <a14:foregroundMark x1="49673" y1="27451" x2="49673" y2="27451"/>
                            <a14:foregroundMark x1="50327" y1="73693" x2="50327" y2="7369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465" t="23185" r="28931" b="23991"/>
              <a:stretch/>
            </p:blipFill>
            <p:spPr bwMode="auto">
              <a:xfrm>
                <a:off x="1603382" y="5114355"/>
                <a:ext cx="210914" cy="2555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BB8F87B-EAD9-BD3D-92CF-2D3D6F8517EF}"/>
                </a:ext>
              </a:extLst>
            </p:cNvPr>
            <p:cNvSpPr txBox="1"/>
            <p:nvPr/>
          </p:nvSpPr>
          <p:spPr>
            <a:xfrm>
              <a:off x="10062363" y="5495915"/>
              <a:ext cx="15966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Performance</a:t>
              </a:r>
              <a:r>
                <a:rPr lang="tr-TR" sz="800" dirty="0"/>
                <a:t> </a:t>
              </a:r>
              <a:r>
                <a:rPr lang="tr-TR" sz="800" dirty="0" err="1"/>
                <a:t>Owner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 err="1"/>
                <a:t>Reporting</a:t>
              </a:r>
              <a:r>
                <a:rPr lang="tr-TR" sz="800" dirty="0"/>
                <a:t> </a:t>
              </a:r>
              <a:r>
                <a:rPr lang="tr-TR" sz="800" dirty="0" err="1"/>
                <a:t>Owner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/>
                <a:t>Action </a:t>
              </a:r>
              <a:r>
                <a:rPr lang="tr-TR" sz="800" dirty="0" err="1"/>
                <a:t>Status</a:t>
              </a:r>
              <a:r>
                <a:rPr lang="tr-TR" sz="800" dirty="0"/>
                <a:t> </a:t>
              </a:r>
              <a:r>
                <a:rPr lang="tr-TR" sz="800" dirty="0" err="1"/>
                <a:t>Quality</a:t>
              </a:r>
              <a:r>
                <a:rPr lang="tr-TR" sz="800" dirty="0"/>
                <a:t> </a:t>
              </a:r>
              <a:r>
                <a:rPr lang="tr-TR" sz="800" dirty="0" err="1"/>
                <a:t>Controls</a:t>
              </a:r>
              <a:endParaRPr lang="tr-TR" sz="8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tr-TR" sz="800" dirty="0"/>
                <a:t>Feedback </a:t>
              </a:r>
              <a:r>
                <a:rPr lang="tr-TR" sz="800" dirty="0" err="1"/>
                <a:t>and</a:t>
              </a:r>
              <a:r>
                <a:rPr lang="tr-TR" sz="800" dirty="0"/>
                <a:t> </a:t>
              </a:r>
              <a:r>
                <a:rPr lang="tr-TR" sz="800" dirty="0" err="1"/>
                <a:t>Finetunes</a:t>
              </a:r>
              <a:endParaRPr lang="tr-TR" sz="800" dirty="0"/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B1B9D621-FC31-1CFE-4C13-452EC1D6D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1228" y1="23923" x2="41228" y2="23923"/>
                          <a14:foregroundMark x1="47049" y1="30064" x2="47049" y2="30064"/>
                          <a14:foregroundMark x1="48246" y1="36284" x2="48246" y2="36284"/>
                          <a14:foregroundMark x1="53907" y1="42185" x2="53907" y2="42185"/>
                          <a14:foregroundMark x1="55821" y1="48804" x2="55821" y2="48804"/>
                          <a14:foregroundMark x1="58692" y1="54545" x2="58692" y2="54545"/>
                          <a14:foregroundMark x1="66507" y1="61563" x2="66507" y2="61563"/>
                          <a14:foregroundMark x1="68341" y1="66268" x2="68341" y2="66268"/>
                          <a14:foregroundMark x1="65152" y1="68740" x2="65152" y2="68740"/>
                          <a14:foregroundMark x1="32616" y1="58453" x2="32616" y2="58453"/>
                          <a14:backgroundMark x1="33014" y1="63955" x2="33014" y2="6395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450873" y="3475982"/>
              <a:ext cx="1019398" cy="10193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635B2B53-7187-B9A9-4F3A-0111165626A9}"/>
              </a:ext>
            </a:extLst>
          </p:cNvPr>
          <p:cNvSpPr/>
          <p:nvPr/>
        </p:nvSpPr>
        <p:spPr>
          <a:xfrm>
            <a:off x="0" y="-1"/>
            <a:ext cx="12185522" cy="1994400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194582-7BFB-D6B9-9EE1-FDF0828D97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8250" y="0"/>
            <a:ext cx="5887272" cy="2010056"/>
          </a:xfrm>
          <a:prstGeom prst="rect">
            <a:avLst/>
          </a:prstGeom>
        </p:spPr>
      </p:pic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DF8F157A-9CC5-CB32-11D5-85701BAA6FAF}"/>
              </a:ext>
            </a:extLst>
          </p:cNvPr>
          <p:cNvGrpSpPr/>
          <p:nvPr/>
        </p:nvGrpSpPr>
        <p:grpSpPr>
          <a:xfrm>
            <a:off x="327212" y="1410611"/>
            <a:ext cx="11537576" cy="698038"/>
            <a:chOff x="327212" y="1635018"/>
            <a:chExt cx="11537576" cy="698038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44BC0CF-1C8A-7B3C-DC20-40966C3A9F8D}"/>
                </a:ext>
              </a:extLst>
            </p:cNvPr>
            <p:cNvSpPr/>
            <p:nvPr/>
          </p:nvSpPr>
          <p:spPr>
            <a:xfrm>
              <a:off x="327212" y="1635018"/>
              <a:ext cx="11537576" cy="698038"/>
            </a:xfrm>
            <a:prstGeom prst="roundRect">
              <a:avLst/>
            </a:prstGeom>
            <a:solidFill>
              <a:srgbClr val="022460"/>
            </a:solidFill>
            <a:ln w="9525">
              <a:solidFill>
                <a:schemeClr val="tx2">
                  <a:lumMod val="75000"/>
                  <a:lumOff val="2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4619390-A47D-2971-22A2-904E75B3B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906415" y="1780617"/>
              <a:ext cx="590632" cy="43821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72003C5-B245-81CA-5350-ED44EA1CB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10000" b="90000" l="10000" r="90000">
                          <a14:foregroundMark x1="72364" y1="33387" x2="72364" y2="33387"/>
                          <a14:foregroundMark x1="63578" y1="39457" x2="63578" y2="39457"/>
                          <a14:foregroundMark x1="49521" y1="40096" x2="49521" y2="40096"/>
                          <a14:foregroundMark x1="49521" y1="51917" x2="49521" y2="51917"/>
                          <a14:foregroundMark x1="35463" y1="40895" x2="35463" y2="40895"/>
                          <a14:foregroundMark x1="26518" y1="34984" x2="26518" y2="34984"/>
                          <a14:foregroundMark x1="18371" y1="32748" x2="18371" y2="327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10151" y="1729476"/>
              <a:ext cx="490701" cy="490701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81B40E5-492E-B9FA-8FF4-3A28170D3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34524" y="1724492"/>
              <a:ext cx="628738" cy="54300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1F465454-BE3F-1861-3910-4A82AE65E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628669" y="1734106"/>
              <a:ext cx="562053" cy="485843"/>
            </a:xfrm>
            <a:prstGeom prst="rect">
              <a:avLst/>
            </a:prstGeom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A69D0EE-F442-8C9C-B0B6-23943873CB03}"/>
                </a:ext>
              </a:extLst>
            </p:cNvPr>
            <p:cNvCxnSpPr/>
            <p:nvPr/>
          </p:nvCxnSpPr>
          <p:spPr>
            <a:xfrm>
              <a:off x="2595212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1627677-7314-8455-C230-2533695E9D5E}"/>
                </a:ext>
              </a:extLst>
            </p:cNvPr>
            <p:cNvCxnSpPr/>
            <p:nvPr/>
          </p:nvCxnSpPr>
          <p:spPr>
            <a:xfrm>
              <a:off x="5255575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3B37961-40D6-2BA1-DE8A-B65CC6F4D7BC}"/>
                </a:ext>
              </a:extLst>
            </p:cNvPr>
            <p:cNvCxnSpPr/>
            <p:nvPr/>
          </p:nvCxnSpPr>
          <p:spPr>
            <a:xfrm>
              <a:off x="8184965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A8CEB40-25C6-DD18-4500-1F95BC97984B}"/>
                </a:ext>
              </a:extLst>
            </p:cNvPr>
            <p:cNvSpPr txBox="1"/>
            <p:nvPr/>
          </p:nvSpPr>
          <p:spPr>
            <a:xfrm>
              <a:off x="3578245" y="1679843"/>
              <a:ext cx="12365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30+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2B1DD53-C25B-7918-2097-081EEEAB6C34}"/>
                </a:ext>
              </a:extLst>
            </p:cNvPr>
            <p:cNvSpPr txBox="1"/>
            <p:nvPr/>
          </p:nvSpPr>
          <p:spPr>
            <a:xfrm>
              <a:off x="6141662" y="1679840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Calibri" panose="020F0502020204030204" pitchFamily="34" charset="0"/>
                </a:rPr>
                <a:t>200+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2B31349-E11F-E371-ECAA-4E277512E659}"/>
                </a:ext>
              </a:extLst>
            </p:cNvPr>
            <p:cNvSpPr txBox="1"/>
            <p:nvPr/>
          </p:nvSpPr>
          <p:spPr>
            <a:xfrm>
              <a:off x="1061900" y="1680877"/>
              <a:ext cx="136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C544F6E-1058-CC38-D31D-70AB243B7355}"/>
                </a:ext>
              </a:extLst>
            </p:cNvPr>
            <p:cNvSpPr txBox="1"/>
            <p:nvPr/>
          </p:nvSpPr>
          <p:spPr>
            <a:xfrm>
              <a:off x="9238763" y="1751563"/>
              <a:ext cx="6434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23B445A-30A3-111F-27B2-77F3776ED619}"/>
                </a:ext>
              </a:extLst>
            </p:cNvPr>
            <p:cNvSpPr txBox="1"/>
            <p:nvPr/>
          </p:nvSpPr>
          <p:spPr>
            <a:xfrm>
              <a:off x="3569281" y="2001357"/>
              <a:ext cx="12235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Analytic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9738018-8E24-A0D7-3DAE-01B667582588}"/>
                </a:ext>
              </a:extLst>
            </p:cNvPr>
            <p:cNvSpPr txBox="1"/>
            <p:nvPr/>
          </p:nvSpPr>
          <p:spPr>
            <a:xfrm>
              <a:off x="6208340" y="2001357"/>
              <a:ext cx="13567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Distinct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Signals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18C0F2B-9456-C31B-F7D2-B615CD2282DA}"/>
                </a:ext>
              </a:extLst>
            </p:cNvPr>
            <p:cNvSpPr txBox="1"/>
            <p:nvPr/>
          </p:nvSpPr>
          <p:spPr>
            <a:xfrm>
              <a:off x="1079830" y="2011356"/>
              <a:ext cx="16581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Layers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F7A6F03-32C5-BCDC-11A2-9360F86B14BC}"/>
                </a:ext>
              </a:extLst>
            </p:cNvPr>
            <p:cNvSpPr txBox="1"/>
            <p:nvPr/>
          </p:nvSpPr>
          <p:spPr>
            <a:xfrm>
              <a:off x="9216823" y="2001357"/>
              <a:ext cx="6875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Engines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49EC395A-F70F-B403-3B1F-46F3853962F3}"/>
                </a:ext>
              </a:extLst>
            </p:cNvPr>
            <p:cNvSpPr txBox="1"/>
            <p:nvPr/>
          </p:nvSpPr>
          <p:spPr>
            <a:xfrm>
              <a:off x="10381933" y="1751563"/>
              <a:ext cx="6434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4C1D2"/>
                  </a:solidFill>
                  <a:effectLst/>
                  <a:uLnTx/>
                  <a:uFillTx/>
                  <a:latin typeface="Aptos Display" panose="0211000402020202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D42C4787-5AEF-49E5-E0B3-C3BF446AD566}"/>
                </a:ext>
              </a:extLst>
            </p:cNvPr>
            <p:cNvSpPr txBox="1"/>
            <p:nvPr/>
          </p:nvSpPr>
          <p:spPr>
            <a:xfrm>
              <a:off x="10359993" y="2001357"/>
              <a:ext cx="6875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Pools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CAF3423-A05F-9CB5-E83A-2478FF1CA4BB}"/>
              </a:ext>
            </a:extLst>
          </p:cNvPr>
          <p:cNvSpPr/>
          <p:nvPr/>
        </p:nvSpPr>
        <p:spPr>
          <a:xfrm>
            <a:off x="0" y="6711900"/>
            <a:ext cx="12185522" cy="171241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6EEFC906-5946-6DC3-94F7-605DC112A2BB}"/>
              </a:ext>
            </a:extLst>
          </p:cNvPr>
          <p:cNvCxnSpPr>
            <a:cxnSpLocks/>
          </p:cNvCxnSpPr>
          <p:nvPr/>
        </p:nvCxnSpPr>
        <p:spPr>
          <a:xfrm flipH="1">
            <a:off x="10065520" y="1601185"/>
            <a:ext cx="149566" cy="365060"/>
          </a:xfrm>
          <a:prstGeom prst="line">
            <a:avLst/>
          </a:prstGeom>
          <a:ln>
            <a:solidFill>
              <a:srgbClr val="34C1D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133B993-F9DB-C4B6-7AE1-29DB50148F77}"/>
              </a:ext>
            </a:extLst>
          </p:cNvPr>
          <p:cNvSpPr txBox="1"/>
          <p:nvPr/>
        </p:nvSpPr>
        <p:spPr>
          <a:xfrm>
            <a:off x="268939" y="2781"/>
            <a:ext cx="1050316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 1 : Action Management : </a:t>
            </a:r>
            <a:r>
              <a:rPr kumimoji="0" lang="tr-TR" sz="4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Monitoring</a:t>
            </a:r>
            <a:endParaRPr kumimoji="0" lang="tr-TR" sz="4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509EB2A0-F079-3EFC-2A89-13461CC5F0B6}"/>
              </a:ext>
            </a:extLst>
          </p:cNvPr>
          <p:cNvSpPr/>
          <p:nvPr/>
        </p:nvSpPr>
        <p:spPr>
          <a:xfrm rot="5400000">
            <a:off x="9545082" y="3855934"/>
            <a:ext cx="1228150" cy="21006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3A165902-8A83-93D5-7B9F-C8878F0FBDA8}"/>
              </a:ext>
            </a:extLst>
          </p:cNvPr>
          <p:cNvSpPr/>
          <p:nvPr/>
        </p:nvSpPr>
        <p:spPr>
          <a:xfrm>
            <a:off x="10465576" y="2746385"/>
            <a:ext cx="1399212" cy="2266352"/>
          </a:xfrm>
          <a:prstGeom prst="roundRect">
            <a:avLst>
              <a:gd name="adj" fmla="val 7697"/>
            </a:avLst>
          </a:prstGeom>
          <a:solidFill>
            <a:srgbClr val="E1E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75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5F17D7C3-EA4F-3D07-9D17-A3F4390C5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2500" y1="31375" x2="42500" y2="31375"/>
                        <a14:foregroundMark x1="40500" y1="44750" x2="40500" y2="44750"/>
                        <a14:foregroundMark x1="39125" y1="59875" x2="39125" y2="59875"/>
                        <a14:foregroundMark x1="64625" y1="55625" x2="64625" y2="55625"/>
                        <a14:foregroundMark x1="74250" y1="50750" x2="74250" y2="50750"/>
                        <a14:foregroundMark x1="71250" y1="45625" x2="71250" y2="45625"/>
                        <a14:foregroundMark x1="63500" y1="44000" x2="63500" y2="44000"/>
                        <a14:foregroundMark x1="54125" y1="45125" x2="54125" y2="45125"/>
                        <a14:foregroundMark x1="53125" y1="63875" x2="53125" y2="63875"/>
                        <a14:foregroundMark x1="69000" y1="62875" x2="69000" y2="62875"/>
                        <a14:foregroundMark x1="69750" y1="72250" x2="69750" y2="72250"/>
                        <a14:foregroundMark x1="54625" y1="74000" x2="54625" y2="74000"/>
                        <a14:foregroundMark x1="65000" y1="81875" x2="65000" y2="81875"/>
                        <a14:foregroundMark x1="45375" y1="36625" x2="45375" y2="36625"/>
                        <a14:foregroundMark x1="42875" y1="36250" x2="42875" y2="36250"/>
                        <a14:foregroundMark x1="55625" y1="81375" x2="55625" y2="81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65577" y="2808601"/>
            <a:ext cx="421140" cy="421140"/>
          </a:xfrm>
          <a:prstGeom prst="rect">
            <a:avLst/>
          </a:prstGeom>
          <a:effectLst/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D97506B8-97AA-B7AF-F339-676C1DCF62FC}"/>
              </a:ext>
            </a:extLst>
          </p:cNvPr>
          <p:cNvSpPr txBox="1"/>
          <p:nvPr/>
        </p:nvSpPr>
        <p:spPr>
          <a:xfrm>
            <a:off x="10830155" y="2819321"/>
            <a:ext cx="1001766" cy="408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Reporting</a:t>
            </a:r>
            <a:r>
              <a: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tr-TR" sz="10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rPr>
              <a:t>Pool</a:t>
            </a:r>
            <a:endParaRPr kumimoji="0" lang="tr-TR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900A207-C63B-3820-A922-5FB90FF0ABCF}"/>
              </a:ext>
            </a:extLst>
          </p:cNvPr>
          <p:cNvCxnSpPr/>
          <p:nvPr/>
        </p:nvCxnSpPr>
        <p:spPr>
          <a:xfrm>
            <a:off x="10449580" y="3296645"/>
            <a:ext cx="1413275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ight Brace 85">
            <a:extLst>
              <a:ext uri="{FF2B5EF4-FFF2-40B4-BE49-F238E27FC236}">
                <a16:creationId xmlns:a16="http://schemas.microsoft.com/office/drawing/2014/main" id="{45DA0A6B-1138-42DB-57B6-1D0BE35BE483}"/>
              </a:ext>
            </a:extLst>
          </p:cNvPr>
          <p:cNvSpPr/>
          <p:nvPr/>
        </p:nvSpPr>
        <p:spPr>
          <a:xfrm rot="5400000">
            <a:off x="7098161" y="1357193"/>
            <a:ext cx="223153" cy="7675533"/>
          </a:xfrm>
          <a:prstGeom prst="rightBrace">
            <a:avLst>
              <a:gd name="adj1" fmla="val 121539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DE68BDE-C9C5-2C90-7F7A-933A4A77DD3E}"/>
              </a:ext>
            </a:extLst>
          </p:cNvPr>
          <p:cNvSpPr/>
          <p:nvPr/>
        </p:nvSpPr>
        <p:spPr>
          <a:xfrm>
            <a:off x="3124649" y="5283839"/>
            <a:ext cx="1142338" cy="684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Performance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Owner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3B1B5BA6-C1E4-85F1-3741-4FE6392E033D}"/>
              </a:ext>
            </a:extLst>
          </p:cNvPr>
          <p:cNvSpPr/>
          <p:nvPr/>
        </p:nvSpPr>
        <p:spPr>
          <a:xfrm>
            <a:off x="4356796" y="5283839"/>
            <a:ext cx="5980662" cy="68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Responsible</a:t>
            </a:r>
            <a:r>
              <a:rPr lang="tr-TR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Monitoring 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action performance across organizational levels</a:t>
            </a: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Identifying </a:t>
            </a:r>
            <a:r>
              <a:rPr lang="en-US" sz="1000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performance gaps, trends and root causes</a:t>
            </a:r>
            <a:endParaRPr lang="tr-TR" sz="1000" dirty="0">
              <a:solidFill>
                <a:srgbClr val="022460"/>
              </a:solidFill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Driving 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improvement actions based on observed outcomes</a:t>
            </a: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0B7C3BA-96E3-FE2D-5CDF-267CE7F9C57D}"/>
              </a:ext>
            </a:extLst>
          </p:cNvPr>
          <p:cNvSpPr txBox="1"/>
          <p:nvPr/>
        </p:nvSpPr>
        <p:spPr>
          <a:xfrm>
            <a:off x="10424588" y="3396300"/>
            <a:ext cx="1465549" cy="1475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Centralized repository of </a:t>
            </a:r>
            <a:r>
              <a:rPr lang="en-US" sz="1000" b="1" dirty="0"/>
              <a:t>action performance and realization </a:t>
            </a:r>
            <a:r>
              <a:rPr lang="en-US" sz="1000" dirty="0"/>
              <a:t>data, enabling consistent reporting, root-cause analysis and continuous improvement across organizational levels.</a:t>
            </a:r>
            <a:endParaRPr lang="tr-TR" sz="1000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2DBE2DD-D739-2349-F872-DB2CD2AF3E97}"/>
              </a:ext>
            </a:extLst>
          </p:cNvPr>
          <p:cNvSpPr/>
          <p:nvPr/>
        </p:nvSpPr>
        <p:spPr>
          <a:xfrm>
            <a:off x="10449579" y="5606527"/>
            <a:ext cx="1413275" cy="684000"/>
          </a:xfrm>
          <a:prstGeom prst="roundRect">
            <a:avLst/>
          </a:prstGeom>
          <a:solidFill>
            <a:srgbClr val="73D7D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36000" rtlCol="0" anchor="ctr"/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Continuous</a:t>
            </a: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tr-TR" sz="11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Accountable</a:t>
            </a:r>
            <a:endParaRPr lang="tr-TR" sz="1100" b="1" dirty="0">
              <a:solidFill>
                <a:srgbClr val="022460"/>
              </a:solidFill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Qulity</a:t>
            </a:r>
            <a:r>
              <a:rPr lang="tr-TR" sz="11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tr-TR" sz="1100" b="1" dirty="0" err="1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Assured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7C2D5-A0B3-3683-D462-1FCE1D7466AF}"/>
              </a:ext>
            </a:extLst>
          </p:cNvPr>
          <p:cNvSpPr txBox="1"/>
          <p:nvPr/>
        </p:nvSpPr>
        <p:spPr>
          <a:xfrm>
            <a:off x="251010" y="611626"/>
            <a:ext cx="98031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Continuous performance monitoring across organizational levels with actionable feedback loops</a:t>
            </a:r>
            <a:endParaRPr kumimoji="0" lang="tr-TR" sz="1700" b="0" i="0" u="none" strike="noStrike" kern="1200" cap="none" spc="0" normalizeH="0" baseline="0" noProof="0" dirty="0">
              <a:ln>
                <a:noFill/>
              </a:ln>
              <a:solidFill>
                <a:srgbClr val="34C1D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0DEB53C-4036-3C79-4C7B-0AD469C7D24D}"/>
              </a:ext>
            </a:extLst>
          </p:cNvPr>
          <p:cNvCxnSpPr>
            <a:cxnSpLocks/>
          </p:cNvCxnSpPr>
          <p:nvPr/>
        </p:nvCxnSpPr>
        <p:spPr>
          <a:xfrm>
            <a:off x="304800" y="5095747"/>
            <a:ext cx="234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3C1F4FA-EF82-8285-9409-207293594D7B}"/>
              </a:ext>
            </a:extLst>
          </p:cNvPr>
          <p:cNvCxnSpPr>
            <a:cxnSpLocks/>
          </p:cNvCxnSpPr>
          <p:nvPr/>
        </p:nvCxnSpPr>
        <p:spPr>
          <a:xfrm>
            <a:off x="304800" y="2711015"/>
            <a:ext cx="234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81AADBB-02C0-A739-9E21-0B718D333C71}"/>
              </a:ext>
            </a:extLst>
          </p:cNvPr>
          <p:cNvSpPr/>
          <p:nvPr/>
        </p:nvSpPr>
        <p:spPr>
          <a:xfrm>
            <a:off x="3124649" y="5998325"/>
            <a:ext cx="1142338" cy="684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Reporting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Owner</a:t>
            </a:r>
            <a:endParaRPr kumimoji="0" lang="tr-TR" sz="1100" b="1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60EA30C-7B5B-8A29-BF99-D543FB8DA3F3}"/>
              </a:ext>
            </a:extLst>
          </p:cNvPr>
          <p:cNvSpPr/>
          <p:nvPr/>
        </p:nvSpPr>
        <p:spPr>
          <a:xfrm>
            <a:off x="4356796" y="5998325"/>
            <a:ext cx="5980662" cy="68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Responsible</a:t>
            </a:r>
            <a:r>
              <a:rPr lang="tr-TR" sz="1000" b="1" dirty="0">
                <a:solidFill>
                  <a:srgbClr val="022460"/>
                </a:solidFill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tr-TR" sz="1000" i="0" u="none" strike="noStrike" kern="1200" cap="none" spc="0" normalizeH="0" baseline="0" noProof="0" dirty="0" err="1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kumimoji="0" lang="tr-TR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Ensuring 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consistent and timely performance reporting</a:t>
            </a: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Maintaining 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reporting quality and metric consistency</a:t>
            </a:r>
            <a:endParaRPr kumimoji="0" lang="tr-TR" sz="1000" i="0" u="none" strike="noStrike" kern="1200" cap="none" spc="0" normalizeH="0" baseline="0" noProof="0" dirty="0">
              <a:ln>
                <a:noFill/>
              </a:ln>
              <a:solidFill>
                <a:srgbClr val="022460"/>
              </a:solidFill>
              <a:effectLst/>
              <a:uLnTx/>
              <a:uFillTx/>
              <a:latin typeface="Aptos Display" panose="0211000402020202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DE44EE0-2B1F-71C3-222F-0B3B335712BA}"/>
              </a:ext>
            </a:extLst>
          </p:cNvPr>
          <p:cNvGrpSpPr/>
          <p:nvPr/>
        </p:nvGrpSpPr>
        <p:grpSpPr>
          <a:xfrm>
            <a:off x="2822904" y="2746385"/>
            <a:ext cx="1692574" cy="2290834"/>
            <a:chOff x="2822904" y="2746385"/>
            <a:chExt cx="1692574" cy="2290834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DDFA7B74-F678-2F79-E50F-FACEFED0933B}"/>
                </a:ext>
              </a:extLst>
            </p:cNvPr>
            <p:cNvSpPr/>
            <p:nvPr/>
          </p:nvSpPr>
          <p:spPr>
            <a:xfrm>
              <a:off x="2822904" y="2746385"/>
              <a:ext cx="1692574" cy="2290834"/>
            </a:xfrm>
            <a:prstGeom prst="roundRect">
              <a:avLst>
                <a:gd name="adj" fmla="val 1813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CF1FE8E8-F251-8604-4A40-14B772528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30210" t="1" r="57471" b="3620"/>
            <a:stretch/>
          </p:blipFill>
          <p:spPr>
            <a:xfrm>
              <a:off x="2874937" y="2842690"/>
              <a:ext cx="421341" cy="329650"/>
            </a:xfrm>
            <a:prstGeom prst="rect">
              <a:avLst/>
            </a:prstGeom>
          </p:spPr>
        </p:pic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2B68C2D-722A-A6C4-985E-9FB3A5F8C915}"/>
                </a:ext>
              </a:extLst>
            </p:cNvPr>
            <p:cNvCxnSpPr/>
            <p:nvPr/>
          </p:nvCxnSpPr>
          <p:spPr>
            <a:xfrm>
              <a:off x="2926120" y="3245434"/>
              <a:ext cx="147066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FA90AEB-5CC5-E4B7-349D-33FEF1EE2015}"/>
                </a:ext>
              </a:extLst>
            </p:cNvPr>
            <p:cNvSpPr txBox="1"/>
            <p:nvPr/>
          </p:nvSpPr>
          <p:spPr>
            <a:xfrm>
              <a:off x="3249143" y="2786877"/>
              <a:ext cx="12192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Reporting</a:t>
              </a:r>
              <a:r>
                <a:rPr kumimoji="0" lang="tr-T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kumimoji="0" lang="tr-TR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Clusters</a:t>
              </a:r>
              <a:endPara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01D54CB7-DF45-FA40-7ABB-94636EC7883C}"/>
                </a:ext>
              </a:extLst>
            </p:cNvPr>
            <p:cNvSpPr/>
            <p:nvPr/>
          </p:nvSpPr>
          <p:spPr>
            <a:xfrm>
              <a:off x="2930404" y="3355185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RM Level</a:t>
              </a: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333E8053-E839-400E-114E-C13CEADD41B6}"/>
                </a:ext>
              </a:extLst>
            </p:cNvPr>
            <p:cNvSpPr/>
            <p:nvPr/>
          </p:nvSpPr>
          <p:spPr>
            <a:xfrm>
              <a:off x="2930404" y="3742480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tr-TR" sz="900" b="1" dirty="0" err="1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Branch</a:t>
              </a:r>
              <a:r>
                <a:rPr lang="tr-TR" sz="900" b="1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Level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1716BC08-33FB-AD0C-38D6-E458F330801A}"/>
                </a:ext>
              </a:extLst>
            </p:cNvPr>
            <p:cNvSpPr/>
            <p:nvPr/>
          </p:nvSpPr>
          <p:spPr>
            <a:xfrm>
              <a:off x="2930404" y="4130673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tr-TR" sz="900" b="1" dirty="0" err="1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Region</a:t>
              </a:r>
              <a:r>
                <a:rPr lang="tr-TR" sz="900" b="1" dirty="0">
                  <a:solidFill>
                    <a:srgbClr val="022460"/>
                  </a:solidFill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Level</a:t>
              </a:r>
              <a:endParaRPr kumimoji="0" lang="tr-TR" sz="900" b="1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AEAA6933-7168-BF58-3DAF-404A1ADFCC4D}"/>
                </a:ext>
              </a:extLst>
            </p:cNvPr>
            <p:cNvSpPr/>
            <p:nvPr/>
          </p:nvSpPr>
          <p:spPr>
            <a:xfrm>
              <a:off x="2930404" y="4525037"/>
              <a:ext cx="1466376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Product Level</a:t>
              </a:r>
            </a:p>
          </p:txBody>
        </p:sp>
      </p:grpSp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4B9386A5-0EA5-C845-8A28-2B1EBFB0C331}"/>
              </a:ext>
            </a:extLst>
          </p:cNvPr>
          <p:cNvSpPr/>
          <p:nvPr/>
        </p:nvSpPr>
        <p:spPr>
          <a:xfrm rot="5400000">
            <a:off x="4467719" y="4007141"/>
            <a:ext cx="445756" cy="117765"/>
          </a:xfrm>
          <a:prstGeom prst="triangl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F1DC0FF-EFE9-F75E-E5F0-536134089ED1}"/>
              </a:ext>
            </a:extLst>
          </p:cNvPr>
          <p:cNvGrpSpPr/>
          <p:nvPr/>
        </p:nvGrpSpPr>
        <p:grpSpPr>
          <a:xfrm>
            <a:off x="4865716" y="2746385"/>
            <a:ext cx="4987022" cy="2290834"/>
            <a:chOff x="2822904" y="2746385"/>
            <a:chExt cx="1692574" cy="2290834"/>
          </a:xfrm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AEABCBC4-9A6A-036C-7FFA-95E5D0AEF169}"/>
                </a:ext>
              </a:extLst>
            </p:cNvPr>
            <p:cNvSpPr/>
            <p:nvPr/>
          </p:nvSpPr>
          <p:spPr>
            <a:xfrm>
              <a:off x="2822904" y="2746385"/>
              <a:ext cx="1692574" cy="2290834"/>
            </a:xfrm>
            <a:prstGeom prst="roundRect">
              <a:avLst>
                <a:gd name="adj" fmla="val 1813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EE86305-8E84-7F5A-1C87-B20B36C6E173}"/>
                </a:ext>
              </a:extLst>
            </p:cNvPr>
            <p:cNvCxnSpPr/>
            <p:nvPr/>
          </p:nvCxnSpPr>
          <p:spPr>
            <a:xfrm>
              <a:off x="2926120" y="3245434"/>
              <a:ext cx="1470660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66C9296-51A7-D12A-EA96-2C89B72C4870}"/>
                </a:ext>
              </a:extLst>
            </p:cNvPr>
            <p:cNvSpPr txBox="1"/>
            <p:nvPr/>
          </p:nvSpPr>
          <p:spPr>
            <a:xfrm>
              <a:off x="2871744" y="2871720"/>
              <a:ext cx="139672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Segoe UI" panose="020B0502040204020203" pitchFamily="34" charset="0"/>
                </a:rPr>
                <a:t>Scope</a:t>
              </a:r>
              <a:endParaRPr kumimoji="0" lang="tr-T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B4C21090-8B95-6CCA-1BB8-BCE9373EE610}"/>
                </a:ext>
              </a:extLst>
            </p:cNvPr>
            <p:cNvSpPr/>
            <p:nvPr/>
          </p:nvSpPr>
          <p:spPr>
            <a:xfrm>
              <a:off x="2871744" y="3355185"/>
              <a:ext cx="1611153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Action planning and completion, product/customer distribution, and alignment with priorities</a:t>
              </a:r>
              <a:endParaRPr kumimoji="0" lang="tr-TR" sz="9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9D33DA2C-F288-00C4-D517-BA69A5617315}"/>
                </a:ext>
              </a:extLst>
            </p:cNvPr>
            <p:cNvSpPr/>
            <p:nvPr/>
          </p:nvSpPr>
          <p:spPr>
            <a:xfrm>
              <a:off x="2871744" y="3742480"/>
              <a:ext cx="1611153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RM action performance, cross-branch benchmarking, and workload/potential analysis</a:t>
              </a:r>
              <a:endParaRPr kumimoji="0" lang="tr-TR" sz="9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9E72530C-936A-7D6C-21FC-C54D8B690B73}"/>
                </a:ext>
              </a:extLst>
            </p:cNvPr>
            <p:cNvSpPr/>
            <p:nvPr/>
          </p:nvSpPr>
          <p:spPr>
            <a:xfrm>
              <a:off x="2871744" y="4130673"/>
              <a:ext cx="1611153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>
                <a:defRPr/>
              </a:pP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Branch performance analysis and cross-region benchmarking</a:t>
              </a:r>
              <a:endParaRPr kumimoji="0" lang="tr-TR" sz="9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8942B0F3-FC0C-F35A-67DA-B10E055D0106}"/>
                </a:ext>
              </a:extLst>
            </p:cNvPr>
            <p:cNvSpPr/>
            <p:nvPr/>
          </p:nvSpPr>
          <p:spPr>
            <a:xfrm>
              <a:off x="2871744" y="4525037"/>
              <a:ext cx="1611153" cy="35067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>
                <a:defRPr/>
              </a:pP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Product-level action performance, feedback analysis, and </a:t>
              </a:r>
              <a:r>
                <a:rPr kumimoji="0" lang="tr-TR" sz="900" i="0" u="none" strike="noStrike" kern="1200" cap="none" spc="0" normalizeH="0" baseline="0" noProof="0" dirty="0" err="1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action</a:t>
              </a:r>
              <a:r>
                <a:rPr kumimoji="0" lang="tr-TR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kumimoji="0" lang="en-US" sz="900" i="0" u="none" strike="noStrike" kern="1200" cap="none" spc="0" normalizeH="0" baseline="0" noProof="0" dirty="0">
                  <a:ln>
                    <a:noFill/>
                  </a:ln>
                  <a:solidFill>
                    <a:srgbClr val="022460"/>
                  </a:solidFill>
                  <a:effectLst/>
                  <a:uLnTx/>
                  <a:uFillTx/>
                  <a:latin typeface="Aptos Display" panose="02110004020202020204"/>
                  <a:ea typeface="Calibri" panose="020F0502020204030204" pitchFamily="34" charset="0"/>
                  <a:cs typeface="Arial" panose="020B0604020202020204" pitchFamily="34" charset="0"/>
                </a:rPr>
                <a:t>improvement opportunities</a:t>
              </a:r>
              <a:endParaRPr kumimoji="0" lang="tr-TR" sz="900" i="0" u="none" strike="noStrike" kern="1200" cap="none" spc="0" normalizeH="0" baseline="0" noProof="0" dirty="0">
                <a:ln>
                  <a:noFill/>
                </a:ln>
                <a:solidFill>
                  <a:srgbClr val="022460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9311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35B2B53-7187-B9A9-4F3A-0111165626A9}"/>
              </a:ext>
            </a:extLst>
          </p:cNvPr>
          <p:cNvSpPr/>
          <p:nvPr/>
        </p:nvSpPr>
        <p:spPr>
          <a:xfrm>
            <a:off x="0" y="-1"/>
            <a:ext cx="12185522" cy="1994400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7C2D5-A0B3-3683-D462-1FCE1D7466AF}"/>
              </a:ext>
            </a:extLst>
          </p:cNvPr>
          <p:cNvSpPr txBox="1"/>
          <p:nvPr/>
        </p:nvSpPr>
        <p:spPr>
          <a:xfrm>
            <a:off x="251010" y="611626"/>
            <a:ext cx="768399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</a:t>
            </a:r>
            <a:r>
              <a:rPr kumimoji="0" lang="tr-TR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</a:t>
            </a:r>
            <a:r>
              <a:rPr kumimoji="0" lang="tr-TR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single</a:t>
            </a:r>
            <a:r>
              <a:rPr kumimoji="0" lang="tr-TR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tool</a:t>
            </a:r>
            <a:r>
              <a:rPr kumimoji="0" lang="tr-TR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</a:t>
            </a:r>
            <a:r>
              <a:rPr kumimoji="0" lang="tr-TR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 </a:t>
            </a:r>
            <a:r>
              <a:rPr kumimoji="0" lang="tr-T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superbanker</a:t>
            </a:r>
            <a:r>
              <a:rPr kumimoji="0" lang="tr-TR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need</a:t>
            </a:r>
            <a:r>
              <a:rPr lang="tr-TR" sz="1700" dirty="0">
                <a:solidFill>
                  <a:srgbClr val="34C1D2"/>
                </a:solidFill>
                <a:latin typeface="Aptos" panose="02110004020202020204"/>
              </a:rPr>
              <a:t>s.</a:t>
            </a:r>
            <a:r>
              <a:rPr kumimoji="0" lang="tr-TR" sz="1700" b="0" i="0" u="none" strike="noStrike" kern="1200" cap="none" spc="0" normalizeH="0" baseline="0" noProof="0" dirty="0">
                <a:ln>
                  <a:noFill/>
                </a:ln>
                <a:solidFill>
                  <a:srgbClr val="34C1D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194582-7BFB-D6B9-9EE1-FDF0828D9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250" y="0"/>
            <a:ext cx="5887272" cy="1994399"/>
          </a:xfrm>
          <a:prstGeom prst="rect">
            <a:avLst/>
          </a:prstGeom>
        </p:spPr>
      </p:pic>
      <p:sp>
        <p:nvSpPr>
          <p:cNvPr id="172" name="Rectangle 171">
            <a:extLst>
              <a:ext uri="{FF2B5EF4-FFF2-40B4-BE49-F238E27FC236}">
                <a16:creationId xmlns:a16="http://schemas.microsoft.com/office/drawing/2014/main" id="{9CAF3423-A05F-9CB5-E83A-2478FF1CA4BB}"/>
              </a:ext>
            </a:extLst>
          </p:cNvPr>
          <p:cNvSpPr/>
          <p:nvPr/>
        </p:nvSpPr>
        <p:spPr>
          <a:xfrm>
            <a:off x="0" y="6334812"/>
            <a:ext cx="12185522" cy="548329"/>
          </a:xfrm>
          <a:prstGeom prst="rect">
            <a:avLst/>
          </a:prstGeom>
          <a:solidFill>
            <a:srgbClr val="0019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83BDF1A-B283-4DA8-6B3F-E10FDD5B4870}"/>
              </a:ext>
            </a:extLst>
          </p:cNvPr>
          <p:cNvGrpSpPr/>
          <p:nvPr/>
        </p:nvGrpSpPr>
        <p:grpSpPr>
          <a:xfrm>
            <a:off x="327212" y="2119675"/>
            <a:ext cx="2268000" cy="4309404"/>
            <a:chOff x="327212" y="2403238"/>
            <a:chExt cx="2268000" cy="36907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54B6821-A1EC-EA06-649A-C37641D9F9ED}"/>
                </a:ext>
              </a:extLst>
            </p:cNvPr>
            <p:cNvSpPr/>
            <p:nvPr/>
          </p:nvSpPr>
          <p:spPr>
            <a:xfrm>
              <a:off x="327212" y="2403239"/>
              <a:ext cx="2268000" cy="36906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4DBBD3E-ABAA-D6CE-5D74-A604EC59D0BE}"/>
                </a:ext>
              </a:extLst>
            </p:cNvPr>
            <p:cNvSpPr txBox="1"/>
            <p:nvPr/>
          </p:nvSpPr>
          <p:spPr>
            <a:xfrm>
              <a:off x="787185" y="2403238"/>
              <a:ext cx="14602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400" b="1" dirty="0">
                  <a:solidFill>
                    <a:schemeClr val="bg1">
                      <a:lumMod val="50000"/>
                    </a:schemeClr>
                  </a:solidFill>
                </a:rPr>
                <a:t>PORTFOLIO ANALYSIS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318CE19-E012-19F9-BBCE-C4AEB8DC4990}"/>
              </a:ext>
            </a:extLst>
          </p:cNvPr>
          <p:cNvGrpSpPr/>
          <p:nvPr/>
        </p:nvGrpSpPr>
        <p:grpSpPr>
          <a:xfrm>
            <a:off x="2642986" y="2119675"/>
            <a:ext cx="2268000" cy="4309404"/>
            <a:chOff x="2859740" y="2478654"/>
            <a:chExt cx="2472549" cy="36907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CBA4B5D-DFC0-FD97-41D1-A5F821DAB076}"/>
                </a:ext>
              </a:extLst>
            </p:cNvPr>
            <p:cNvSpPr/>
            <p:nvPr/>
          </p:nvSpPr>
          <p:spPr>
            <a:xfrm>
              <a:off x="2859740" y="2478655"/>
              <a:ext cx="2472549" cy="36906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2245BAF-FB90-AF87-E1FF-3F788DAA8872}"/>
                </a:ext>
              </a:extLst>
            </p:cNvPr>
            <p:cNvSpPr txBox="1"/>
            <p:nvPr/>
          </p:nvSpPr>
          <p:spPr>
            <a:xfrm>
              <a:off x="3362902" y="2478654"/>
              <a:ext cx="14602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400" b="1" dirty="0">
                  <a:solidFill>
                    <a:schemeClr val="bg1">
                      <a:lumMod val="50000"/>
                    </a:schemeClr>
                  </a:solidFill>
                </a:rPr>
                <a:t>CUSTOMER ANALYSIS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8F985FA-F4BC-EE5C-9113-577DE56A9A2E}"/>
              </a:ext>
            </a:extLst>
          </p:cNvPr>
          <p:cNvGrpSpPr/>
          <p:nvPr/>
        </p:nvGrpSpPr>
        <p:grpSpPr>
          <a:xfrm>
            <a:off x="4958761" y="2119675"/>
            <a:ext cx="2268000" cy="4309404"/>
            <a:chOff x="2859740" y="2478654"/>
            <a:chExt cx="2472549" cy="3690700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20733ED-37FF-00F8-4F3F-FEB44C82BFFD}"/>
                </a:ext>
              </a:extLst>
            </p:cNvPr>
            <p:cNvSpPr/>
            <p:nvPr/>
          </p:nvSpPr>
          <p:spPr>
            <a:xfrm>
              <a:off x="2859740" y="2478655"/>
              <a:ext cx="2472549" cy="36906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829CB63-0023-C82E-3D0E-8BC3BEE82E89}"/>
                </a:ext>
              </a:extLst>
            </p:cNvPr>
            <p:cNvSpPr txBox="1"/>
            <p:nvPr/>
          </p:nvSpPr>
          <p:spPr>
            <a:xfrm>
              <a:off x="3362902" y="2478654"/>
              <a:ext cx="14602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400" b="1" dirty="0">
                  <a:solidFill>
                    <a:schemeClr val="bg1">
                      <a:lumMod val="50000"/>
                    </a:schemeClr>
                  </a:solidFill>
                </a:rPr>
                <a:t>ACTION QUALITY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8BE19E2-BFF9-4A4A-10F1-474545781EAB}"/>
              </a:ext>
            </a:extLst>
          </p:cNvPr>
          <p:cNvGrpSpPr/>
          <p:nvPr/>
        </p:nvGrpSpPr>
        <p:grpSpPr>
          <a:xfrm>
            <a:off x="7281014" y="2119675"/>
            <a:ext cx="2268000" cy="4309404"/>
            <a:chOff x="2859740" y="2478654"/>
            <a:chExt cx="2472549" cy="3690700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3A559F8D-3E82-244D-B0EE-65CC82F76327}"/>
                </a:ext>
              </a:extLst>
            </p:cNvPr>
            <p:cNvSpPr/>
            <p:nvPr/>
          </p:nvSpPr>
          <p:spPr>
            <a:xfrm>
              <a:off x="2859740" y="2478655"/>
              <a:ext cx="2472549" cy="36906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EDB4D06-58C0-E4D1-B760-9EBCC2C7BA56}"/>
                </a:ext>
              </a:extLst>
            </p:cNvPr>
            <p:cNvSpPr txBox="1"/>
            <p:nvPr/>
          </p:nvSpPr>
          <p:spPr>
            <a:xfrm>
              <a:off x="3362902" y="2478654"/>
              <a:ext cx="14602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400" b="1" dirty="0">
                  <a:solidFill>
                    <a:schemeClr val="bg1">
                      <a:lumMod val="50000"/>
                    </a:schemeClr>
                  </a:solidFill>
                </a:rPr>
                <a:t>AUTO-PILOT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F01EA55-25FA-CB8B-549C-DB0413C577D6}"/>
              </a:ext>
            </a:extLst>
          </p:cNvPr>
          <p:cNvGrpSpPr/>
          <p:nvPr/>
        </p:nvGrpSpPr>
        <p:grpSpPr>
          <a:xfrm>
            <a:off x="9595694" y="2119675"/>
            <a:ext cx="2268000" cy="4309403"/>
            <a:chOff x="2859740" y="2478654"/>
            <a:chExt cx="2472549" cy="3690699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9CC87BC-FCCC-5E25-4B5A-26C0039ECE01}"/>
                </a:ext>
              </a:extLst>
            </p:cNvPr>
            <p:cNvSpPr/>
            <p:nvPr/>
          </p:nvSpPr>
          <p:spPr>
            <a:xfrm>
              <a:off x="2859740" y="2478655"/>
              <a:ext cx="2472549" cy="36906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2F57919-1C73-5886-11A8-152BFCCA7F41}"/>
                </a:ext>
              </a:extLst>
            </p:cNvPr>
            <p:cNvSpPr txBox="1"/>
            <p:nvPr/>
          </p:nvSpPr>
          <p:spPr>
            <a:xfrm>
              <a:off x="3362902" y="2478654"/>
              <a:ext cx="14602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400" b="1" dirty="0">
                  <a:solidFill>
                    <a:schemeClr val="bg1">
                      <a:lumMod val="50000"/>
                    </a:schemeClr>
                  </a:solidFill>
                </a:rPr>
                <a:t>RM </a:t>
              </a:r>
            </a:p>
            <a:p>
              <a:pPr algn="ctr"/>
              <a:r>
                <a:rPr lang="tr-TR" sz="1400" b="1" dirty="0">
                  <a:solidFill>
                    <a:schemeClr val="bg1">
                      <a:lumMod val="50000"/>
                    </a:schemeClr>
                  </a:solidFill>
                </a:rPr>
                <a:t>CO-PILOT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133B993-F9DB-C4B6-7AE1-29DB50148F77}"/>
              </a:ext>
            </a:extLst>
          </p:cNvPr>
          <p:cNvSpPr txBox="1"/>
          <p:nvPr/>
        </p:nvSpPr>
        <p:spPr>
          <a:xfrm>
            <a:off x="268940" y="2781"/>
            <a:ext cx="8683508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Next</a:t>
            </a:r>
            <a:r>
              <a:rPr kumimoji="0" lang="tr-TR" sz="4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tr-TR" sz="43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Steps</a:t>
            </a:r>
            <a:endParaRPr kumimoji="0" lang="tr-TR" sz="4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51B7E4-9F78-A459-085F-0DF110F5D69E}"/>
              </a:ext>
            </a:extLst>
          </p:cNvPr>
          <p:cNvCxnSpPr/>
          <p:nvPr/>
        </p:nvCxnSpPr>
        <p:spPr>
          <a:xfrm>
            <a:off x="242045" y="2657269"/>
            <a:ext cx="1166832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3970379-84F5-14C7-45C6-A980AF1DB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17285" y1="44336" x2="17285" y2="44336"/>
                        <a14:foregroundMark x1="26953" y1="46484" x2="26953" y2="46484"/>
                        <a14:foregroundMark x1="40918" y1="42188" x2="40918" y2="42188"/>
                        <a14:foregroundMark x1="65625" y1="37305" x2="65625" y2="37305"/>
                        <a14:foregroundMark x1="77441" y1="36230" x2="77441" y2="36230"/>
                        <a14:backgroundMark x1="69434" y1="58301" x2="69434" y2="583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598" y="2088912"/>
            <a:ext cx="589798" cy="589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BC9D2E-7882-59F3-78A9-5CADAA3D8B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17285" y1="44336" x2="17285" y2="44336"/>
                        <a14:foregroundMark x1="26953" y1="46484" x2="26953" y2="46484"/>
                        <a14:foregroundMark x1="40918" y1="42188" x2="40918" y2="42188"/>
                        <a14:foregroundMark x1="65625" y1="37305" x2="65625" y2="37305"/>
                        <a14:foregroundMark x1="77441" y1="36230" x2="77441" y2="36230"/>
                        <a14:backgroundMark x1="69434" y1="58301" x2="69434" y2="583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07372" y="2088912"/>
            <a:ext cx="589798" cy="589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4EFA60-AABD-2C04-21F6-7E0B56BB08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17285" y1="44336" x2="17285" y2="44336"/>
                        <a14:foregroundMark x1="26953" y1="46484" x2="26953" y2="46484"/>
                        <a14:foregroundMark x1="40918" y1="42188" x2="40918" y2="42188"/>
                        <a14:foregroundMark x1="65625" y1="37305" x2="65625" y2="37305"/>
                        <a14:foregroundMark x1="77441" y1="36230" x2="77441" y2="36230"/>
                        <a14:backgroundMark x1="69434" y1="58301" x2="69434" y2="583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81006" y="2088912"/>
            <a:ext cx="589798" cy="589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7A7015-A89D-B888-2C17-F926385609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17285" y1="44336" x2="17285" y2="44336"/>
                        <a14:foregroundMark x1="26953" y1="46484" x2="26953" y2="46484"/>
                        <a14:foregroundMark x1="40918" y1="42188" x2="40918" y2="42188"/>
                        <a14:foregroundMark x1="65625" y1="37305" x2="65625" y2="37305"/>
                        <a14:foregroundMark x1="77441" y1="36230" x2="77441" y2="36230"/>
                        <a14:backgroundMark x1="69434" y1="58301" x2="69434" y2="583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56349" y="2088912"/>
            <a:ext cx="589798" cy="589798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93C2A3FF-23F0-A46F-CD22-A9B3A1DACDCA}"/>
              </a:ext>
            </a:extLst>
          </p:cNvPr>
          <p:cNvGrpSpPr/>
          <p:nvPr/>
        </p:nvGrpSpPr>
        <p:grpSpPr>
          <a:xfrm>
            <a:off x="2688622" y="2819841"/>
            <a:ext cx="1922072" cy="343296"/>
            <a:chOff x="2688622" y="2344670"/>
            <a:chExt cx="1922072" cy="3432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1C13750-9E75-442B-F939-D68917D43F07}"/>
                </a:ext>
              </a:extLst>
            </p:cNvPr>
            <p:cNvSpPr txBox="1"/>
            <p:nvPr/>
          </p:nvSpPr>
          <p:spPr>
            <a:xfrm>
              <a:off x="2896185" y="2344670"/>
              <a:ext cx="17145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1050" b="1" dirty="0" err="1">
                  <a:solidFill>
                    <a:schemeClr val="tx2"/>
                  </a:solidFill>
                </a:rPr>
                <a:t>Customer</a:t>
              </a:r>
              <a:r>
                <a:rPr lang="tr-TR" sz="1050" b="1" dirty="0">
                  <a:solidFill>
                    <a:schemeClr val="tx2"/>
                  </a:solidFill>
                </a:rPr>
                <a:t> </a:t>
              </a:r>
              <a:r>
                <a:rPr lang="tr-TR" sz="1050" b="1" dirty="0" err="1">
                  <a:solidFill>
                    <a:schemeClr val="tx2"/>
                  </a:solidFill>
                </a:rPr>
                <a:t>Summarizers</a:t>
              </a:r>
              <a:endParaRPr lang="tr-TR" sz="1050" b="1" dirty="0">
                <a:solidFill>
                  <a:schemeClr val="tx2"/>
                </a:solidFill>
              </a:endParaRP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5773D51E-24C5-46DA-9823-660B2EA394E6}"/>
                </a:ext>
              </a:extLst>
            </p:cNvPr>
            <p:cNvSpPr/>
            <p:nvPr/>
          </p:nvSpPr>
          <p:spPr>
            <a:xfrm rot="12771288">
              <a:off x="2688622" y="2420261"/>
              <a:ext cx="157853" cy="267705"/>
            </a:xfrm>
            <a:prstGeom prst="rtTriangle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rgbClr val="DE3B5D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963111C-AD7A-2C82-64F7-6D9F358931E6}"/>
                </a:ext>
              </a:extLst>
            </p:cNvPr>
            <p:cNvCxnSpPr>
              <a:cxnSpLocks/>
            </p:cNvCxnSpPr>
            <p:nvPr/>
          </p:nvCxnSpPr>
          <p:spPr>
            <a:xfrm>
              <a:off x="3002271" y="2591055"/>
              <a:ext cx="144166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9FA827A-44FE-7E03-3B22-1D08616630FF}"/>
              </a:ext>
            </a:extLst>
          </p:cNvPr>
          <p:cNvSpPr txBox="1"/>
          <p:nvPr/>
        </p:nvSpPr>
        <p:spPr>
          <a:xfrm>
            <a:off x="3002271" y="3184546"/>
            <a:ext cx="1833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Enterprise </a:t>
            </a:r>
            <a:r>
              <a:rPr lang="tr-TR" sz="1100" dirty="0" err="1"/>
              <a:t>Datamart</a:t>
            </a:r>
            <a:r>
              <a:rPr lang="tr-TR" sz="1100" dirty="0"/>
              <a:t> Bot</a:t>
            </a:r>
          </a:p>
          <a:p>
            <a:pPr marL="171450" indent="-1714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 err="1"/>
              <a:t>Sectoral</a:t>
            </a:r>
            <a:r>
              <a:rPr lang="tr-TR" sz="1100" dirty="0"/>
              <a:t> </a:t>
            </a:r>
            <a:r>
              <a:rPr lang="tr-TR" sz="1100" dirty="0" err="1"/>
              <a:t>Insights</a:t>
            </a:r>
            <a:endParaRPr lang="tr-TR" sz="1100" dirty="0"/>
          </a:p>
        </p:txBody>
      </p:sp>
      <p:pic>
        <p:nvPicPr>
          <p:cNvPr id="24" name="Picture 23" descr="A blue check mark on a black background&#10;&#10;AI-generated content may be incorrect.">
            <a:extLst>
              <a:ext uri="{FF2B5EF4-FFF2-40B4-BE49-F238E27FC236}">
                <a16:creationId xmlns:a16="http://schemas.microsoft.com/office/drawing/2014/main" id="{9175F8B3-B5AF-7E79-4BED-F3C04F477D6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991435" y="3152348"/>
            <a:ext cx="274318" cy="27431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B9DC6D2-0477-EBDB-F1A4-DEA5265FB8EC}"/>
              </a:ext>
            </a:extLst>
          </p:cNvPr>
          <p:cNvSpPr txBox="1"/>
          <p:nvPr/>
        </p:nvSpPr>
        <p:spPr>
          <a:xfrm>
            <a:off x="3002271" y="4128319"/>
            <a:ext cx="1833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Enterprise </a:t>
            </a:r>
            <a:r>
              <a:rPr lang="tr-TR" sz="1100" dirty="0" err="1"/>
              <a:t>Datamart</a:t>
            </a:r>
            <a:r>
              <a:rPr lang="tr-TR" sz="1100" dirty="0"/>
              <a:t> Bot</a:t>
            </a:r>
          </a:p>
          <a:p>
            <a:pPr marL="171450" indent="-1714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Chat </a:t>
            </a:r>
            <a:r>
              <a:rPr lang="tr-TR" sz="1100" dirty="0" err="1"/>
              <a:t>with</a:t>
            </a:r>
            <a:r>
              <a:rPr lang="tr-TR" sz="1100" dirty="0"/>
              <a:t> </a:t>
            </a:r>
            <a:r>
              <a:rPr lang="tr-TR" sz="1100" dirty="0" err="1"/>
              <a:t>Documents</a:t>
            </a:r>
            <a:r>
              <a:rPr lang="tr-TR" sz="1100" dirty="0"/>
              <a:t> &amp; </a:t>
            </a:r>
            <a:r>
              <a:rPr lang="tr-TR" sz="1100" dirty="0" err="1"/>
              <a:t>Products</a:t>
            </a:r>
            <a:endParaRPr lang="tr-TR" sz="1100" dirty="0"/>
          </a:p>
          <a:p>
            <a:pPr marL="171450" indent="-1714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Chat </a:t>
            </a:r>
            <a:r>
              <a:rPr lang="tr-TR" sz="1100" dirty="0" err="1"/>
              <a:t>with</a:t>
            </a:r>
            <a:r>
              <a:rPr lang="tr-TR" sz="1100" dirty="0"/>
              <a:t> </a:t>
            </a:r>
            <a:r>
              <a:rPr lang="tr-TR" sz="1100" dirty="0" err="1"/>
              <a:t>Processes</a:t>
            </a:r>
            <a:endParaRPr lang="tr-TR" sz="110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D77288D-F378-034D-2B3E-AE2F859D78F6}"/>
              </a:ext>
            </a:extLst>
          </p:cNvPr>
          <p:cNvGrpSpPr/>
          <p:nvPr/>
        </p:nvGrpSpPr>
        <p:grpSpPr>
          <a:xfrm>
            <a:off x="2688622" y="3829603"/>
            <a:ext cx="1922072" cy="343296"/>
            <a:chOff x="2688622" y="3515706"/>
            <a:chExt cx="1922072" cy="34329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67DE15D-BD6C-4B8F-0722-3F4AF74F6FD3}"/>
                </a:ext>
              </a:extLst>
            </p:cNvPr>
            <p:cNvSpPr txBox="1"/>
            <p:nvPr/>
          </p:nvSpPr>
          <p:spPr>
            <a:xfrm>
              <a:off x="2896185" y="3515706"/>
              <a:ext cx="17145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1050" b="1" dirty="0">
                  <a:solidFill>
                    <a:schemeClr val="tx2"/>
                  </a:solidFill>
                </a:rPr>
                <a:t>RM </a:t>
              </a:r>
              <a:r>
                <a:rPr lang="tr-TR" sz="1050" b="1" dirty="0" err="1">
                  <a:solidFill>
                    <a:schemeClr val="tx2"/>
                  </a:solidFill>
                </a:rPr>
                <a:t>Chatbots</a:t>
              </a:r>
              <a:endParaRPr lang="tr-TR" sz="1050" b="1" dirty="0">
                <a:solidFill>
                  <a:schemeClr val="tx2"/>
                </a:solidFill>
              </a:endParaRPr>
            </a:p>
          </p:txBody>
        </p:sp>
        <p:sp>
          <p:nvSpPr>
            <p:cNvPr id="30" name="Right Triangle 29">
              <a:extLst>
                <a:ext uri="{FF2B5EF4-FFF2-40B4-BE49-F238E27FC236}">
                  <a16:creationId xmlns:a16="http://schemas.microsoft.com/office/drawing/2014/main" id="{5A8EB875-3124-81C3-36B6-67C224F55180}"/>
                </a:ext>
              </a:extLst>
            </p:cNvPr>
            <p:cNvSpPr/>
            <p:nvPr/>
          </p:nvSpPr>
          <p:spPr>
            <a:xfrm rot="12771288">
              <a:off x="2688622" y="3591297"/>
              <a:ext cx="157853" cy="267705"/>
            </a:xfrm>
            <a:prstGeom prst="rtTriangle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rgbClr val="DE3B5D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B070BA8-7FD8-4C45-F979-4A7B569BF014}"/>
                </a:ext>
              </a:extLst>
            </p:cNvPr>
            <p:cNvCxnSpPr>
              <a:cxnSpLocks/>
            </p:cNvCxnSpPr>
            <p:nvPr/>
          </p:nvCxnSpPr>
          <p:spPr>
            <a:xfrm>
              <a:off x="3002271" y="3765971"/>
              <a:ext cx="144166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1A7844C-0A14-FD39-51DC-DA0366BFCDD0}"/>
              </a:ext>
            </a:extLst>
          </p:cNvPr>
          <p:cNvGrpSpPr/>
          <p:nvPr/>
        </p:nvGrpSpPr>
        <p:grpSpPr>
          <a:xfrm>
            <a:off x="2688622" y="5197650"/>
            <a:ext cx="1922072" cy="343296"/>
            <a:chOff x="2688622" y="3515706"/>
            <a:chExt cx="1922072" cy="343296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38E742D-D509-0C43-B253-F801A4047758}"/>
                </a:ext>
              </a:extLst>
            </p:cNvPr>
            <p:cNvSpPr txBox="1"/>
            <p:nvPr/>
          </p:nvSpPr>
          <p:spPr>
            <a:xfrm>
              <a:off x="2896185" y="3515706"/>
              <a:ext cx="17145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1050" b="1" dirty="0" err="1">
                  <a:solidFill>
                    <a:schemeClr val="tx2"/>
                  </a:solidFill>
                </a:rPr>
                <a:t>Specialized</a:t>
              </a:r>
              <a:r>
                <a:rPr lang="tr-TR" sz="1050" b="1" dirty="0">
                  <a:solidFill>
                    <a:schemeClr val="tx2"/>
                  </a:solidFill>
                </a:rPr>
                <a:t> </a:t>
              </a:r>
              <a:r>
                <a:rPr lang="tr-TR" sz="1050" b="1" dirty="0" err="1">
                  <a:solidFill>
                    <a:schemeClr val="tx2"/>
                  </a:solidFill>
                </a:rPr>
                <a:t>Advisors</a:t>
              </a:r>
              <a:endParaRPr lang="tr-TR" sz="1050" b="1" dirty="0">
                <a:solidFill>
                  <a:schemeClr val="tx2"/>
                </a:solidFill>
              </a:endParaRPr>
            </a:p>
          </p:txBody>
        </p:sp>
        <p:sp>
          <p:nvSpPr>
            <p:cNvPr id="64" name="Right Triangle 63">
              <a:extLst>
                <a:ext uri="{FF2B5EF4-FFF2-40B4-BE49-F238E27FC236}">
                  <a16:creationId xmlns:a16="http://schemas.microsoft.com/office/drawing/2014/main" id="{7B06BAE8-E8AE-479A-6AC1-A687F125EB11}"/>
                </a:ext>
              </a:extLst>
            </p:cNvPr>
            <p:cNvSpPr/>
            <p:nvPr/>
          </p:nvSpPr>
          <p:spPr>
            <a:xfrm rot="12771288">
              <a:off x="2688622" y="3591297"/>
              <a:ext cx="157853" cy="267705"/>
            </a:xfrm>
            <a:prstGeom prst="rtTriangle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rgbClr val="DE3B5D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5BDD14B-04C2-241F-20D8-65B1AEFAACEF}"/>
                </a:ext>
              </a:extLst>
            </p:cNvPr>
            <p:cNvCxnSpPr>
              <a:cxnSpLocks/>
            </p:cNvCxnSpPr>
            <p:nvPr/>
          </p:nvCxnSpPr>
          <p:spPr>
            <a:xfrm>
              <a:off x="3002271" y="3765971"/>
              <a:ext cx="144166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F3C28A14-1087-592D-36FF-9064A721CB0F}"/>
              </a:ext>
            </a:extLst>
          </p:cNvPr>
          <p:cNvSpPr txBox="1"/>
          <p:nvPr/>
        </p:nvSpPr>
        <p:spPr>
          <a:xfrm>
            <a:off x="3002271" y="5477082"/>
            <a:ext cx="183368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 err="1"/>
              <a:t>Sector</a:t>
            </a:r>
            <a:r>
              <a:rPr lang="tr-TR" sz="1100" dirty="0"/>
              <a:t> </a:t>
            </a:r>
            <a:r>
              <a:rPr lang="tr-TR" sz="1100" dirty="0" err="1"/>
              <a:t>Spec</a:t>
            </a:r>
            <a:r>
              <a:rPr lang="tr-TR" sz="1100" dirty="0"/>
              <a:t>. </a:t>
            </a:r>
            <a:r>
              <a:rPr lang="tr-TR" sz="1100" dirty="0" err="1"/>
              <a:t>Adv</a:t>
            </a:r>
            <a:r>
              <a:rPr lang="tr-TR" sz="1100" dirty="0"/>
              <a:t>.</a:t>
            </a:r>
          </a:p>
          <a:p>
            <a:pPr marL="171450" indent="-1714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 err="1"/>
              <a:t>Sustainability</a:t>
            </a:r>
            <a:r>
              <a:rPr lang="tr-TR" sz="1100" dirty="0"/>
              <a:t> </a:t>
            </a:r>
            <a:r>
              <a:rPr lang="tr-TR" sz="1100" dirty="0" err="1"/>
              <a:t>Adv</a:t>
            </a:r>
            <a:r>
              <a:rPr lang="tr-TR" sz="1100" dirty="0"/>
              <a:t>.</a:t>
            </a:r>
          </a:p>
          <a:p>
            <a:pPr marL="171450" indent="-1714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Financial </a:t>
            </a:r>
            <a:r>
              <a:rPr lang="tr-TR" sz="1100" dirty="0" err="1"/>
              <a:t>Adv</a:t>
            </a:r>
            <a:r>
              <a:rPr lang="tr-TR" sz="1100" dirty="0"/>
              <a:t>.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08C57D82-3221-3F38-D8DC-E53718FEC4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6623" y="4148474"/>
            <a:ext cx="226709" cy="226709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4C541E25-43ED-F4B7-3E2D-49F3EA40FFF7}"/>
              </a:ext>
            </a:extLst>
          </p:cNvPr>
          <p:cNvGrpSpPr/>
          <p:nvPr/>
        </p:nvGrpSpPr>
        <p:grpSpPr>
          <a:xfrm>
            <a:off x="391598" y="2819841"/>
            <a:ext cx="1922072" cy="343296"/>
            <a:chOff x="2688622" y="2344670"/>
            <a:chExt cx="1922072" cy="34329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19F47F4-6D1B-3F6F-D606-370A1F7F3D7F}"/>
                </a:ext>
              </a:extLst>
            </p:cNvPr>
            <p:cNvSpPr txBox="1"/>
            <p:nvPr/>
          </p:nvSpPr>
          <p:spPr>
            <a:xfrm>
              <a:off x="2896185" y="2344670"/>
              <a:ext cx="17145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1050" b="1" dirty="0">
                  <a:solidFill>
                    <a:schemeClr val="tx2"/>
                  </a:solidFill>
                </a:rPr>
                <a:t>Portfolio </a:t>
              </a:r>
              <a:r>
                <a:rPr lang="tr-TR" sz="1050" b="1" dirty="0" err="1">
                  <a:solidFill>
                    <a:schemeClr val="tx2"/>
                  </a:solidFill>
                </a:rPr>
                <a:t>Summarizers</a:t>
              </a:r>
              <a:endParaRPr lang="tr-TR" sz="1050" b="1" dirty="0">
                <a:solidFill>
                  <a:schemeClr val="tx2"/>
                </a:solidFill>
              </a:endParaRPr>
            </a:p>
          </p:txBody>
        </p:sp>
        <p:sp>
          <p:nvSpPr>
            <p:cNvPr id="72" name="Right Triangle 71">
              <a:extLst>
                <a:ext uri="{FF2B5EF4-FFF2-40B4-BE49-F238E27FC236}">
                  <a16:creationId xmlns:a16="http://schemas.microsoft.com/office/drawing/2014/main" id="{20B8DF12-F957-6E8B-2A1A-3043CC9628DC}"/>
                </a:ext>
              </a:extLst>
            </p:cNvPr>
            <p:cNvSpPr/>
            <p:nvPr/>
          </p:nvSpPr>
          <p:spPr>
            <a:xfrm rot="12771288">
              <a:off x="2688622" y="2420261"/>
              <a:ext cx="157853" cy="267705"/>
            </a:xfrm>
            <a:prstGeom prst="rtTriangle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rgbClr val="DE3B5D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FCDF118-42CE-3601-2CDB-5CFEE479FE89}"/>
                </a:ext>
              </a:extLst>
            </p:cNvPr>
            <p:cNvCxnSpPr>
              <a:cxnSpLocks/>
            </p:cNvCxnSpPr>
            <p:nvPr/>
          </p:nvCxnSpPr>
          <p:spPr>
            <a:xfrm>
              <a:off x="3002271" y="2591055"/>
              <a:ext cx="144166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A4921A58-C31C-B72F-F7D5-AB40B68A6D75}"/>
              </a:ext>
            </a:extLst>
          </p:cNvPr>
          <p:cNvSpPr txBox="1"/>
          <p:nvPr/>
        </p:nvSpPr>
        <p:spPr>
          <a:xfrm>
            <a:off x="694411" y="3184546"/>
            <a:ext cx="1833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KAP </a:t>
            </a:r>
            <a:r>
              <a:rPr lang="tr-TR" sz="1100" dirty="0" err="1"/>
              <a:t>Notifications</a:t>
            </a:r>
            <a:endParaRPr lang="tr-TR" sz="1100" dirty="0"/>
          </a:p>
          <a:p>
            <a:pPr marL="171450" indent="-1714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Enterprise </a:t>
            </a:r>
            <a:r>
              <a:rPr lang="tr-TR" sz="1100" dirty="0" err="1"/>
              <a:t>Datamart</a:t>
            </a:r>
            <a:r>
              <a:rPr lang="tr-TR" sz="1100" dirty="0"/>
              <a:t> Bot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F5E178ED-8436-4D24-A7FC-E31D4E097E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8226" y="3459177"/>
            <a:ext cx="206099" cy="206099"/>
          </a:xfrm>
          <a:prstGeom prst="rect">
            <a:avLst/>
          </a:prstGeom>
        </p:spPr>
      </p:pic>
      <p:sp>
        <p:nvSpPr>
          <p:cNvPr id="76" name="Diagonal Stripe 75">
            <a:extLst>
              <a:ext uri="{FF2B5EF4-FFF2-40B4-BE49-F238E27FC236}">
                <a16:creationId xmlns:a16="http://schemas.microsoft.com/office/drawing/2014/main" id="{7647E84C-61A9-4333-1189-B973ABA917EB}"/>
              </a:ext>
            </a:extLst>
          </p:cNvPr>
          <p:cNvSpPr/>
          <p:nvPr/>
        </p:nvSpPr>
        <p:spPr>
          <a:xfrm rot="5400000">
            <a:off x="10384007" y="33630"/>
            <a:ext cx="1805695" cy="1775425"/>
          </a:xfrm>
          <a:prstGeom prst="diagStripe">
            <a:avLst/>
          </a:prstGeom>
          <a:solidFill>
            <a:srgbClr val="FFFF0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6548525-6C40-01DD-C033-F575EC6C2AF1}"/>
              </a:ext>
            </a:extLst>
          </p:cNvPr>
          <p:cNvSpPr txBox="1"/>
          <p:nvPr/>
        </p:nvSpPr>
        <p:spPr>
          <a:xfrm rot="2784375">
            <a:off x="11004340" y="474392"/>
            <a:ext cx="1097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800" b="1" dirty="0">
                <a:solidFill>
                  <a:schemeClr val="accent1">
                    <a:lumMod val="75000"/>
                  </a:schemeClr>
                </a:solidFill>
              </a:rPr>
              <a:t>W.I.P.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9F01317-6D10-E275-31E7-817C58A6F1CA}"/>
              </a:ext>
            </a:extLst>
          </p:cNvPr>
          <p:cNvGrpSpPr/>
          <p:nvPr/>
        </p:nvGrpSpPr>
        <p:grpSpPr>
          <a:xfrm>
            <a:off x="427028" y="3828717"/>
            <a:ext cx="1922072" cy="343296"/>
            <a:chOff x="2688622" y="3515706"/>
            <a:chExt cx="1922072" cy="343296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2AB8ACF-3495-0A75-3D57-7250F91C9A79}"/>
                </a:ext>
              </a:extLst>
            </p:cNvPr>
            <p:cNvSpPr txBox="1"/>
            <p:nvPr/>
          </p:nvSpPr>
          <p:spPr>
            <a:xfrm>
              <a:off x="2896185" y="3515706"/>
              <a:ext cx="17145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1050" b="1" dirty="0">
                  <a:solidFill>
                    <a:schemeClr val="tx2"/>
                  </a:solidFill>
                </a:rPr>
                <a:t>Portfolio </a:t>
              </a:r>
              <a:r>
                <a:rPr lang="tr-TR" sz="1050" b="1" dirty="0" err="1">
                  <a:solidFill>
                    <a:schemeClr val="tx2"/>
                  </a:solidFill>
                </a:rPr>
                <a:t>Advisors</a:t>
              </a:r>
              <a:endParaRPr lang="tr-TR" sz="1050" b="1" dirty="0">
                <a:solidFill>
                  <a:schemeClr val="tx2"/>
                </a:solidFill>
              </a:endParaRPr>
            </a:p>
          </p:txBody>
        </p:sp>
        <p:sp>
          <p:nvSpPr>
            <p:cNvPr id="81" name="Right Triangle 80">
              <a:extLst>
                <a:ext uri="{FF2B5EF4-FFF2-40B4-BE49-F238E27FC236}">
                  <a16:creationId xmlns:a16="http://schemas.microsoft.com/office/drawing/2014/main" id="{BE59D300-EA8F-7AD0-8428-BF1D4C571C66}"/>
                </a:ext>
              </a:extLst>
            </p:cNvPr>
            <p:cNvSpPr/>
            <p:nvPr/>
          </p:nvSpPr>
          <p:spPr>
            <a:xfrm rot="12771288">
              <a:off x="2688622" y="3591297"/>
              <a:ext cx="157853" cy="267705"/>
            </a:xfrm>
            <a:prstGeom prst="rtTriangle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rgbClr val="DE3B5D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1CAF6E7-3CE1-6B98-EDCF-4503A20CC3A6}"/>
                </a:ext>
              </a:extLst>
            </p:cNvPr>
            <p:cNvCxnSpPr>
              <a:cxnSpLocks/>
            </p:cNvCxnSpPr>
            <p:nvPr/>
          </p:nvCxnSpPr>
          <p:spPr>
            <a:xfrm>
              <a:off x="3002271" y="3765971"/>
              <a:ext cx="144166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1E6DD81F-D906-9DE4-5E9F-9CBE0EBB90FB}"/>
              </a:ext>
            </a:extLst>
          </p:cNvPr>
          <p:cNvSpPr txBox="1"/>
          <p:nvPr/>
        </p:nvSpPr>
        <p:spPr>
          <a:xfrm>
            <a:off x="740677" y="4108149"/>
            <a:ext cx="1833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Product </a:t>
            </a:r>
            <a:r>
              <a:rPr lang="tr-TR" sz="1100" dirty="0" err="1"/>
              <a:t>Balance</a:t>
            </a:r>
            <a:r>
              <a:rPr lang="tr-TR" sz="1100" dirty="0"/>
              <a:t> </a:t>
            </a:r>
            <a:r>
              <a:rPr lang="tr-TR" sz="1100" dirty="0" err="1"/>
              <a:t>Adv</a:t>
            </a:r>
            <a:r>
              <a:rPr lang="tr-TR" sz="1100" dirty="0"/>
              <a:t>.</a:t>
            </a:r>
          </a:p>
          <a:p>
            <a:pPr marL="171450" indent="-1714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Pusula Bot</a:t>
            </a:r>
          </a:p>
        </p:txBody>
      </p:sp>
      <p:sp>
        <p:nvSpPr>
          <p:cNvPr id="86" name="Star: 5 Points 85">
            <a:extLst>
              <a:ext uri="{FF2B5EF4-FFF2-40B4-BE49-F238E27FC236}">
                <a16:creationId xmlns:a16="http://schemas.microsoft.com/office/drawing/2014/main" id="{DBCF65AB-FE55-1E55-F958-8A2FDEFEC4A7}"/>
              </a:ext>
            </a:extLst>
          </p:cNvPr>
          <p:cNvSpPr/>
          <p:nvPr/>
        </p:nvSpPr>
        <p:spPr>
          <a:xfrm>
            <a:off x="3044432" y="5532259"/>
            <a:ext cx="130616" cy="130616"/>
          </a:xfrm>
          <a:prstGeom prst="star5">
            <a:avLst/>
          </a:prstGeom>
          <a:solidFill>
            <a:srgbClr val="88E783">
              <a:lumMod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BVABentonSans"/>
              <a:ea typeface="+mn-ea"/>
              <a:cs typeface="+mn-cs"/>
            </a:endParaRPr>
          </a:p>
        </p:txBody>
      </p:sp>
      <p:sp>
        <p:nvSpPr>
          <p:cNvPr id="87" name="Star: 5 Points 86">
            <a:extLst>
              <a:ext uri="{FF2B5EF4-FFF2-40B4-BE49-F238E27FC236}">
                <a16:creationId xmlns:a16="http://schemas.microsoft.com/office/drawing/2014/main" id="{D21ABA66-ECC9-18B1-6AEB-F86C0921FA37}"/>
              </a:ext>
            </a:extLst>
          </p:cNvPr>
          <p:cNvSpPr/>
          <p:nvPr/>
        </p:nvSpPr>
        <p:spPr>
          <a:xfrm>
            <a:off x="3044432" y="5785276"/>
            <a:ext cx="130616" cy="130616"/>
          </a:xfrm>
          <a:prstGeom prst="star5">
            <a:avLst/>
          </a:prstGeom>
          <a:solidFill>
            <a:srgbClr val="88E783">
              <a:lumMod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BVABentonSans"/>
              <a:ea typeface="+mn-ea"/>
              <a:cs typeface="+mn-cs"/>
            </a:endParaRPr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6E41391E-45FC-DD2D-BCBF-9B6F8172F26C}"/>
              </a:ext>
            </a:extLst>
          </p:cNvPr>
          <p:cNvSpPr/>
          <p:nvPr/>
        </p:nvSpPr>
        <p:spPr>
          <a:xfrm>
            <a:off x="3044432" y="4843538"/>
            <a:ext cx="130616" cy="130616"/>
          </a:xfrm>
          <a:prstGeom prst="star5">
            <a:avLst/>
          </a:prstGeom>
          <a:solidFill>
            <a:srgbClr val="88E783">
              <a:lumMod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BVABentonSans"/>
              <a:ea typeface="+mn-ea"/>
              <a:cs typeface="+mn-cs"/>
            </a:endParaRP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18B6DCA8-01DC-1F62-C7AE-0D6537B1B6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6623" y="4403028"/>
            <a:ext cx="226709" cy="226709"/>
          </a:xfrm>
          <a:prstGeom prst="rect">
            <a:avLst/>
          </a:prstGeom>
        </p:spPr>
      </p:pic>
      <p:sp>
        <p:nvSpPr>
          <p:cNvPr id="93" name="Star: 5 Points 92">
            <a:extLst>
              <a:ext uri="{FF2B5EF4-FFF2-40B4-BE49-F238E27FC236}">
                <a16:creationId xmlns:a16="http://schemas.microsoft.com/office/drawing/2014/main" id="{5D3BAC0A-3A25-A470-DCA8-EBC210C2A52D}"/>
              </a:ext>
            </a:extLst>
          </p:cNvPr>
          <p:cNvSpPr/>
          <p:nvPr/>
        </p:nvSpPr>
        <p:spPr>
          <a:xfrm>
            <a:off x="3044432" y="6013920"/>
            <a:ext cx="130616" cy="130616"/>
          </a:xfrm>
          <a:prstGeom prst="star5">
            <a:avLst/>
          </a:prstGeom>
          <a:solidFill>
            <a:srgbClr val="88E783">
              <a:lumMod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BVABentonSans"/>
              <a:ea typeface="+mn-ea"/>
              <a:cs typeface="+mn-cs"/>
            </a:endParaRPr>
          </a:p>
        </p:txBody>
      </p:sp>
      <p:sp>
        <p:nvSpPr>
          <p:cNvPr id="96" name="Star: 5 Points 95">
            <a:extLst>
              <a:ext uri="{FF2B5EF4-FFF2-40B4-BE49-F238E27FC236}">
                <a16:creationId xmlns:a16="http://schemas.microsoft.com/office/drawing/2014/main" id="{F882E513-75A3-EF58-CC5F-163B948DF8F4}"/>
              </a:ext>
            </a:extLst>
          </p:cNvPr>
          <p:cNvSpPr/>
          <p:nvPr/>
        </p:nvSpPr>
        <p:spPr>
          <a:xfrm>
            <a:off x="3044432" y="3505636"/>
            <a:ext cx="130616" cy="130616"/>
          </a:xfrm>
          <a:prstGeom prst="star5">
            <a:avLst/>
          </a:prstGeom>
          <a:solidFill>
            <a:srgbClr val="88E783">
              <a:lumMod val="5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BVABentonSans"/>
              <a:ea typeface="+mn-ea"/>
              <a:cs typeface="+mn-cs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25D676F-FF32-8B68-CF47-6D69B6C55BFE}"/>
              </a:ext>
            </a:extLst>
          </p:cNvPr>
          <p:cNvGrpSpPr/>
          <p:nvPr/>
        </p:nvGrpSpPr>
        <p:grpSpPr>
          <a:xfrm>
            <a:off x="5008114" y="2819841"/>
            <a:ext cx="1922072" cy="343296"/>
            <a:chOff x="2688622" y="2344670"/>
            <a:chExt cx="1922072" cy="343296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3A24CC6-6B27-01E2-3E7D-233DFF985266}"/>
                </a:ext>
              </a:extLst>
            </p:cNvPr>
            <p:cNvSpPr txBox="1"/>
            <p:nvPr/>
          </p:nvSpPr>
          <p:spPr>
            <a:xfrm>
              <a:off x="2896185" y="2344670"/>
              <a:ext cx="17145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1050" b="1" dirty="0">
                  <a:solidFill>
                    <a:schemeClr val="tx2"/>
                  </a:solidFill>
                </a:rPr>
                <a:t>Action </a:t>
              </a:r>
              <a:r>
                <a:rPr lang="tr-TR" sz="1050" b="1" dirty="0" err="1">
                  <a:solidFill>
                    <a:schemeClr val="tx2"/>
                  </a:solidFill>
                </a:rPr>
                <a:t>Summarizers</a:t>
              </a:r>
              <a:endParaRPr lang="tr-TR" sz="1050" b="1" dirty="0">
                <a:solidFill>
                  <a:schemeClr val="tx2"/>
                </a:solidFill>
              </a:endParaRPr>
            </a:p>
          </p:txBody>
        </p:sp>
        <p:sp>
          <p:nvSpPr>
            <p:cNvPr id="101" name="Right Triangle 100">
              <a:extLst>
                <a:ext uri="{FF2B5EF4-FFF2-40B4-BE49-F238E27FC236}">
                  <a16:creationId xmlns:a16="http://schemas.microsoft.com/office/drawing/2014/main" id="{C6A6F0BF-B3AF-A838-9906-5D853C1BB1EB}"/>
                </a:ext>
              </a:extLst>
            </p:cNvPr>
            <p:cNvSpPr/>
            <p:nvPr/>
          </p:nvSpPr>
          <p:spPr>
            <a:xfrm rot="12771288">
              <a:off x="2688622" y="2420261"/>
              <a:ext cx="157853" cy="267705"/>
            </a:xfrm>
            <a:prstGeom prst="rtTriangle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rgbClr val="DE3B5D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B20B800-2546-14F0-9651-9529CEE6EFF1}"/>
                </a:ext>
              </a:extLst>
            </p:cNvPr>
            <p:cNvCxnSpPr>
              <a:cxnSpLocks/>
            </p:cNvCxnSpPr>
            <p:nvPr/>
          </p:nvCxnSpPr>
          <p:spPr>
            <a:xfrm>
              <a:off x="3002271" y="2591055"/>
              <a:ext cx="144166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7F4B0F03-5C20-B067-3BBB-D3ACCBECEF28}"/>
              </a:ext>
            </a:extLst>
          </p:cNvPr>
          <p:cNvSpPr txBox="1"/>
          <p:nvPr/>
        </p:nvSpPr>
        <p:spPr>
          <a:xfrm>
            <a:off x="5310927" y="3184546"/>
            <a:ext cx="1833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Portfolio Action </a:t>
            </a:r>
            <a:r>
              <a:rPr lang="tr-TR" sz="1100" dirty="0" err="1"/>
              <a:t>Analyst</a:t>
            </a:r>
            <a:endParaRPr lang="tr-TR" sz="1100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E7376D5-B8BC-00A7-1484-79801C4BEF53}"/>
              </a:ext>
            </a:extLst>
          </p:cNvPr>
          <p:cNvGrpSpPr/>
          <p:nvPr/>
        </p:nvGrpSpPr>
        <p:grpSpPr>
          <a:xfrm>
            <a:off x="5043544" y="3828717"/>
            <a:ext cx="1922072" cy="343296"/>
            <a:chOff x="2688622" y="3515706"/>
            <a:chExt cx="1922072" cy="343296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9B47895-F9C1-DEFC-39F2-06EF1A70AAC0}"/>
                </a:ext>
              </a:extLst>
            </p:cNvPr>
            <p:cNvSpPr txBox="1"/>
            <p:nvPr/>
          </p:nvSpPr>
          <p:spPr>
            <a:xfrm>
              <a:off x="2896185" y="3515706"/>
              <a:ext cx="17145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1050" b="1" dirty="0">
                  <a:solidFill>
                    <a:schemeClr val="tx2"/>
                  </a:solidFill>
                </a:rPr>
                <a:t>Portfolio </a:t>
              </a:r>
              <a:r>
                <a:rPr lang="tr-TR" sz="1050" b="1" dirty="0" err="1">
                  <a:solidFill>
                    <a:schemeClr val="tx2"/>
                  </a:solidFill>
                </a:rPr>
                <a:t>Advisors</a:t>
              </a:r>
              <a:endParaRPr lang="tr-TR" sz="1050" b="1" dirty="0">
                <a:solidFill>
                  <a:schemeClr val="tx2"/>
                </a:solidFill>
              </a:endParaRPr>
            </a:p>
          </p:txBody>
        </p:sp>
        <p:sp>
          <p:nvSpPr>
            <p:cNvPr id="111" name="Right Triangle 110">
              <a:extLst>
                <a:ext uri="{FF2B5EF4-FFF2-40B4-BE49-F238E27FC236}">
                  <a16:creationId xmlns:a16="http://schemas.microsoft.com/office/drawing/2014/main" id="{79319ECF-136D-785F-1A69-F6CF26807C14}"/>
                </a:ext>
              </a:extLst>
            </p:cNvPr>
            <p:cNvSpPr/>
            <p:nvPr/>
          </p:nvSpPr>
          <p:spPr>
            <a:xfrm rot="12771288">
              <a:off x="2688622" y="3591297"/>
              <a:ext cx="157853" cy="267705"/>
            </a:xfrm>
            <a:prstGeom prst="rtTriangle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rgbClr val="DE3B5D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37B73502-FCDF-22C9-6856-D1949EED7E83}"/>
                </a:ext>
              </a:extLst>
            </p:cNvPr>
            <p:cNvCxnSpPr>
              <a:cxnSpLocks/>
            </p:cNvCxnSpPr>
            <p:nvPr/>
          </p:nvCxnSpPr>
          <p:spPr>
            <a:xfrm>
              <a:off x="3002271" y="3765971"/>
              <a:ext cx="144166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B0F1550B-16E2-5864-2168-5BCE5FE3C377}"/>
              </a:ext>
            </a:extLst>
          </p:cNvPr>
          <p:cNvSpPr txBox="1"/>
          <p:nvPr/>
        </p:nvSpPr>
        <p:spPr>
          <a:xfrm>
            <a:off x="5357193" y="4108149"/>
            <a:ext cx="183368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 err="1"/>
              <a:t>Customer</a:t>
            </a:r>
            <a:r>
              <a:rPr lang="tr-TR" sz="1100" dirty="0"/>
              <a:t>-Action </a:t>
            </a:r>
            <a:r>
              <a:rPr lang="tr-TR" sz="1100" dirty="0" err="1"/>
              <a:t>Conformity</a:t>
            </a:r>
            <a:endParaRPr lang="tr-TR" sz="1100" dirty="0"/>
          </a:p>
          <a:p>
            <a:pPr marL="171450" indent="-1714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Action Presentation Advisor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335E25B-ABB3-0B9F-2971-3E10FCE33001}"/>
              </a:ext>
            </a:extLst>
          </p:cNvPr>
          <p:cNvGrpSpPr/>
          <p:nvPr/>
        </p:nvGrpSpPr>
        <p:grpSpPr>
          <a:xfrm>
            <a:off x="7322163" y="2819841"/>
            <a:ext cx="1922072" cy="343296"/>
            <a:chOff x="2688622" y="2344670"/>
            <a:chExt cx="1922072" cy="343296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897AAC3-C0FB-9491-336E-7759438204FC}"/>
                </a:ext>
              </a:extLst>
            </p:cNvPr>
            <p:cNvSpPr txBox="1"/>
            <p:nvPr/>
          </p:nvSpPr>
          <p:spPr>
            <a:xfrm>
              <a:off x="2896185" y="2344670"/>
              <a:ext cx="17145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1050" b="1" dirty="0">
                  <a:solidFill>
                    <a:schemeClr val="tx2"/>
                  </a:solidFill>
                </a:rPr>
                <a:t>API Integration</a:t>
              </a:r>
            </a:p>
          </p:txBody>
        </p:sp>
        <p:sp>
          <p:nvSpPr>
            <p:cNvPr id="116" name="Right Triangle 115">
              <a:extLst>
                <a:ext uri="{FF2B5EF4-FFF2-40B4-BE49-F238E27FC236}">
                  <a16:creationId xmlns:a16="http://schemas.microsoft.com/office/drawing/2014/main" id="{9EA2BE41-82DA-FA40-7754-90B4930D9A9E}"/>
                </a:ext>
              </a:extLst>
            </p:cNvPr>
            <p:cNvSpPr/>
            <p:nvPr/>
          </p:nvSpPr>
          <p:spPr>
            <a:xfrm rot="12771288">
              <a:off x="2688622" y="2420261"/>
              <a:ext cx="157853" cy="267705"/>
            </a:xfrm>
            <a:prstGeom prst="rtTriangle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rgbClr val="DE3B5D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77DA1B4-844F-7E03-B708-00CB9150986E}"/>
                </a:ext>
              </a:extLst>
            </p:cNvPr>
            <p:cNvCxnSpPr>
              <a:cxnSpLocks/>
            </p:cNvCxnSpPr>
            <p:nvPr/>
          </p:nvCxnSpPr>
          <p:spPr>
            <a:xfrm>
              <a:off x="3002271" y="2591055"/>
              <a:ext cx="144166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59A7F11F-D68A-74B3-1935-292242FDBEEF}"/>
              </a:ext>
            </a:extLst>
          </p:cNvPr>
          <p:cNvSpPr txBox="1"/>
          <p:nvPr/>
        </p:nvSpPr>
        <p:spPr>
          <a:xfrm>
            <a:off x="7624976" y="3184546"/>
            <a:ext cx="1833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 err="1"/>
              <a:t>Multistep</a:t>
            </a:r>
            <a:r>
              <a:rPr lang="tr-TR" sz="1100" dirty="0"/>
              <a:t> Action </a:t>
            </a:r>
            <a:r>
              <a:rPr lang="tr-TR" sz="1100" dirty="0" err="1"/>
              <a:t>Tracking</a:t>
            </a:r>
            <a:endParaRPr lang="tr-TR" sz="1100" dirty="0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E8C8F08-5167-A22A-0B02-72DEF5F6324B}"/>
              </a:ext>
            </a:extLst>
          </p:cNvPr>
          <p:cNvGrpSpPr/>
          <p:nvPr/>
        </p:nvGrpSpPr>
        <p:grpSpPr>
          <a:xfrm>
            <a:off x="7322163" y="3828717"/>
            <a:ext cx="1922072" cy="343296"/>
            <a:chOff x="2688622" y="2344670"/>
            <a:chExt cx="1922072" cy="343296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3CABC17-7C34-8DE6-B31C-59C39B6D3FE1}"/>
                </a:ext>
              </a:extLst>
            </p:cNvPr>
            <p:cNvSpPr txBox="1"/>
            <p:nvPr/>
          </p:nvSpPr>
          <p:spPr>
            <a:xfrm>
              <a:off x="2896185" y="2344670"/>
              <a:ext cx="17145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1050" b="1" dirty="0" err="1">
                  <a:solidFill>
                    <a:schemeClr val="tx2"/>
                  </a:solidFill>
                </a:rPr>
                <a:t>Agentic</a:t>
              </a:r>
              <a:r>
                <a:rPr lang="tr-TR" sz="1050" b="1" dirty="0">
                  <a:solidFill>
                    <a:schemeClr val="tx2"/>
                  </a:solidFill>
                </a:rPr>
                <a:t> Integration</a:t>
              </a:r>
            </a:p>
          </p:txBody>
        </p:sp>
        <p:sp>
          <p:nvSpPr>
            <p:cNvPr id="121" name="Right Triangle 120">
              <a:extLst>
                <a:ext uri="{FF2B5EF4-FFF2-40B4-BE49-F238E27FC236}">
                  <a16:creationId xmlns:a16="http://schemas.microsoft.com/office/drawing/2014/main" id="{8C4B8C89-24E8-5BCE-1AEA-F6C089C3DEDF}"/>
                </a:ext>
              </a:extLst>
            </p:cNvPr>
            <p:cNvSpPr/>
            <p:nvPr/>
          </p:nvSpPr>
          <p:spPr>
            <a:xfrm rot="12771288">
              <a:off x="2688622" y="2420261"/>
              <a:ext cx="157853" cy="267705"/>
            </a:xfrm>
            <a:prstGeom prst="rtTriangle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rgbClr val="DE3B5D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6E2BA6E-968B-B26D-E7B2-39A042A12F26}"/>
                </a:ext>
              </a:extLst>
            </p:cNvPr>
            <p:cNvCxnSpPr>
              <a:cxnSpLocks/>
            </p:cNvCxnSpPr>
            <p:nvPr/>
          </p:nvCxnSpPr>
          <p:spPr>
            <a:xfrm>
              <a:off x="3002271" y="2591055"/>
              <a:ext cx="144166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BB843410-ACD1-B9B8-9CE7-CA38942EC314}"/>
              </a:ext>
            </a:extLst>
          </p:cNvPr>
          <p:cNvSpPr txBox="1"/>
          <p:nvPr/>
        </p:nvSpPr>
        <p:spPr>
          <a:xfrm>
            <a:off x="7624976" y="4193422"/>
            <a:ext cx="1833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 err="1"/>
              <a:t>Multistep</a:t>
            </a:r>
            <a:r>
              <a:rPr lang="tr-TR" sz="1100" dirty="0"/>
              <a:t> </a:t>
            </a:r>
            <a:r>
              <a:rPr lang="tr-TR" sz="1100" dirty="0" err="1"/>
              <a:t>Actions</a:t>
            </a:r>
            <a:r>
              <a:rPr lang="tr-TR" sz="1100" dirty="0"/>
              <a:t> </a:t>
            </a:r>
            <a:r>
              <a:rPr lang="tr-TR" sz="1100" dirty="0" err="1"/>
              <a:t>Agentic</a:t>
            </a:r>
            <a:r>
              <a:rPr lang="tr-TR" sz="1100" dirty="0"/>
              <a:t> </a:t>
            </a:r>
            <a:r>
              <a:rPr lang="tr-TR" sz="1100" dirty="0" err="1"/>
              <a:t>Pipeline</a:t>
            </a:r>
            <a:endParaRPr lang="tr-TR" sz="1100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7EBE1FB-0D61-47A8-136B-C191AFF81BDF}"/>
              </a:ext>
            </a:extLst>
          </p:cNvPr>
          <p:cNvGrpSpPr/>
          <p:nvPr/>
        </p:nvGrpSpPr>
        <p:grpSpPr>
          <a:xfrm>
            <a:off x="9622121" y="2819841"/>
            <a:ext cx="1922072" cy="343296"/>
            <a:chOff x="2688622" y="2344670"/>
            <a:chExt cx="1922072" cy="343296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4AAE725-8C60-233E-F249-91AB87CA774F}"/>
                </a:ext>
              </a:extLst>
            </p:cNvPr>
            <p:cNvSpPr txBox="1"/>
            <p:nvPr/>
          </p:nvSpPr>
          <p:spPr>
            <a:xfrm>
              <a:off x="2896185" y="2344670"/>
              <a:ext cx="17145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1050" b="1" dirty="0">
                  <a:solidFill>
                    <a:schemeClr val="tx2"/>
                  </a:solidFill>
                </a:rPr>
                <a:t>RM Assistant </a:t>
              </a:r>
              <a:r>
                <a:rPr lang="tr-TR" sz="1050" b="1" dirty="0" err="1">
                  <a:solidFill>
                    <a:schemeClr val="tx2"/>
                  </a:solidFill>
                </a:rPr>
                <a:t>Agents</a:t>
              </a:r>
              <a:endParaRPr lang="tr-TR" sz="1050" b="1" dirty="0">
                <a:solidFill>
                  <a:schemeClr val="tx2"/>
                </a:solidFill>
              </a:endParaRPr>
            </a:p>
          </p:txBody>
        </p:sp>
        <p:sp>
          <p:nvSpPr>
            <p:cNvPr id="1051" name="Right Triangle 1050">
              <a:extLst>
                <a:ext uri="{FF2B5EF4-FFF2-40B4-BE49-F238E27FC236}">
                  <a16:creationId xmlns:a16="http://schemas.microsoft.com/office/drawing/2014/main" id="{87C1CAED-95ED-D73E-DCA3-54E81D5BFBB2}"/>
                </a:ext>
              </a:extLst>
            </p:cNvPr>
            <p:cNvSpPr/>
            <p:nvPr/>
          </p:nvSpPr>
          <p:spPr>
            <a:xfrm rot="12771288">
              <a:off x="2688622" y="2420261"/>
              <a:ext cx="157853" cy="267705"/>
            </a:xfrm>
            <a:prstGeom prst="rtTriangle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rgbClr val="DE3B5D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9EA2BD3E-BF32-FD5C-9544-B173F7E3188D}"/>
                </a:ext>
              </a:extLst>
            </p:cNvPr>
            <p:cNvCxnSpPr>
              <a:cxnSpLocks/>
            </p:cNvCxnSpPr>
            <p:nvPr/>
          </p:nvCxnSpPr>
          <p:spPr>
            <a:xfrm>
              <a:off x="3002271" y="2591055"/>
              <a:ext cx="144166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3" name="TextBox 1052">
            <a:extLst>
              <a:ext uri="{FF2B5EF4-FFF2-40B4-BE49-F238E27FC236}">
                <a16:creationId xmlns:a16="http://schemas.microsoft.com/office/drawing/2014/main" id="{95976A85-D57C-1D8D-2166-E409A6EE43BC}"/>
              </a:ext>
            </a:extLst>
          </p:cNvPr>
          <p:cNvSpPr txBox="1"/>
          <p:nvPr/>
        </p:nvSpPr>
        <p:spPr>
          <a:xfrm>
            <a:off x="9924934" y="3184546"/>
            <a:ext cx="183368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 err="1"/>
              <a:t>Agenda</a:t>
            </a:r>
            <a:r>
              <a:rPr lang="tr-TR" sz="1100" dirty="0"/>
              <a:t> Planner</a:t>
            </a:r>
          </a:p>
          <a:p>
            <a:pPr marL="171450" indent="-1714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Meeting </a:t>
            </a:r>
            <a:r>
              <a:rPr lang="tr-TR" sz="1100" dirty="0" err="1"/>
              <a:t>Prep</a:t>
            </a:r>
            <a:endParaRPr lang="tr-TR" sz="1100" dirty="0"/>
          </a:p>
          <a:p>
            <a:pPr marL="171450" indent="-1714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Voice </a:t>
            </a:r>
            <a:r>
              <a:rPr lang="tr-TR" sz="1100" dirty="0" err="1"/>
              <a:t>Notes</a:t>
            </a:r>
            <a:endParaRPr lang="tr-TR" sz="1100" dirty="0"/>
          </a:p>
          <a:p>
            <a:pPr marL="171450" indent="-1714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/>
              <a:t>Remote RM Assistant.</a:t>
            </a:r>
          </a:p>
          <a:p>
            <a:pPr marL="171450" indent="-1714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tr-TR" sz="1100" dirty="0" err="1"/>
              <a:t>Complaint</a:t>
            </a:r>
            <a:r>
              <a:rPr lang="tr-TR" sz="1100" dirty="0"/>
              <a:t> </a:t>
            </a:r>
            <a:r>
              <a:rPr lang="tr-TR" sz="1100" dirty="0" err="1"/>
              <a:t>Prevention</a:t>
            </a:r>
            <a:r>
              <a:rPr lang="tr-TR" sz="1100" dirty="0"/>
              <a:t> &amp; </a:t>
            </a:r>
            <a:r>
              <a:rPr lang="tr-TR" sz="1100" dirty="0" err="1"/>
              <a:t>Solver</a:t>
            </a:r>
            <a:endParaRPr lang="tr-TR" sz="1100" dirty="0"/>
          </a:p>
          <a:p>
            <a:pPr marL="171450" indent="-1714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tr-TR" sz="1100" dirty="0"/>
          </a:p>
        </p:txBody>
      </p:sp>
      <p:pic>
        <p:nvPicPr>
          <p:cNvPr id="1056" name="Picture 1055">
            <a:extLst>
              <a:ext uri="{FF2B5EF4-FFF2-40B4-BE49-F238E27FC236}">
                <a16:creationId xmlns:a16="http://schemas.microsoft.com/office/drawing/2014/main" id="{C5524C97-A088-999F-BFA9-CD7D5A38E3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24934" y="3468604"/>
            <a:ext cx="206099" cy="206099"/>
          </a:xfrm>
          <a:prstGeom prst="rect">
            <a:avLst/>
          </a:prstGeom>
        </p:spPr>
      </p:pic>
      <p:pic>
        <p:nvPicPr>
          <p:cNvPr id="1060" name="Picture 1059" descr="A blue check mark on a black background&#10;&#10;AI-generated content may be incorrect.">
            <a:extLst>
              <a:ext uri="{FF2B5EF4-FFF2-40B4-BE49-F238E27FC236}">
                <a16:creationId xmlns:a16="http://schemas.microsoft.com/office/drawing/2014/main" id="{283E3A7D-5B7D-7578-3510-A9B5AA6CEC8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4411" y="3152348"/>
            <a:ext cx="274318" cy="274318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C7676EE-DEA4-F37A-4650-560D4B8385F0}"/>
              </a:ext>
            </a:extLst>
          </p:cNvPr>
          <p:cNvGrpSpPr/>
          <p:nvPr/>
        </p:nvGrpSpPr>
        <p:grpSpPr>
          <a:xfrm>
            <a:off x="335090" y="1379367"/>
            <a:ext cx="11537576" cy="698038"/>
            <a:chOff x="327212" y="1635018"/>
            <a:chExt cx="11537576" cy="698038"/>
          </a:xfrm>
        </p:grpSpPr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B58C5864-EBEC-0898-ABF7-CD20D7B1E9A4}"/>
                </a:ext>
              </a:extLst>
            </p:cNvPr>
            <p:cNvSpPr/>
            <p:nvPr/>
          </p:nvSpPr>
          <p:spPr>
            <a:xfrm>
              <a:off x="327212" y="1635018"/>
              <a:ext cx="11537576" cy="698038"/>
            </a:xfrm>
            <a:prstGeom prst="roundRect">
              <a:avLst/>
            </a:prstGeom>
            <a:solidFill>
              <a:srgbClr val="022460"/>
            </a:solidFill>
            <a:ln w="9525">
              <a:solidFill>
                <a:schemeClr val="tx2">
                  <a:lumMod val="75000"/>
                  <a:lumOff val="2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r-T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A063F863-CA48-EAA1-1426-E55255F3E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12996" y1="33755" x2="12996" y2="33755"/>
                          <a14:foregroundMark x1="37906" y1="20217" x2="37906" y2="20217"/>
                          <a14:foregroundMark x1="50000" y1="16787" x2="50000" y2="16787"/>
                          <a14:foregroundMark x1="62094" y1="18231" x2="62094" y2="18231"/>
                          <a14:foregroundMark x1="77076" y1="12996" x2="77076" y2="12996"/>
                          <a14:foregroundMark x1="51444" y1="12455" x2="51444" y2="12455"/>
                          <a14:foregroundMark x1="23285" y1="13357" x2="23285" y2="13357"/>
                          <a14:foregroundMark x1="14079" y1="22744" x2="14079" y2="22744"/>
                          <a14:foregroundMark x1="12635" y1="31408" x2="12635" y2="31408"/>
                          <a14:foregroundMark x1="14079" y1="47473" x2="14079" y2="47473"/>
                          <a14:foregroundMark x1="19856" y1="48375" x2="19856" y2="48375"/>
                          <a14:foregroundMark x1="18412" y1="60469" x2="18412" y2="60469"/>
                          <a14:foregroundMark x1="31047" y1="86643" x2="31047" y2="86643"/>
                          <a14:foregroundMark x1="50000" y1="79422" x2="50000" y2="79422"/>
                          <a14:foregroundMark x1="62094" y1="79964" x2="62094" y2="79964"/>
                          <a14:foregroundMark x1="85921" y1="62996" x2="85921" y2="62996"/>
                          <a14:foregroundMark x1="81949" y1="49278" x2="81949" y2="49278"/>
                          <a14:foregroundMark x1="79964" y1="36823" x2="79964" y2="36823"/>
                          <a14:foregroundMark x1="88809" y1="22202" x2="88809" y2="22202"/>
                          <a14:backgroundMark x1="50542" y1="11913" x2="50542" y2="11913"/>
                          <a14:backgroundMark x1="75632" y1="11913" x2="75632" y2="11913"/>
                          <a14:backgroundMark x1="87365" y1="23646" x2="87365" y2="23646"/>
                          <a14:backgroundMark x1="87906" y1="48917" x2="87906" y2="48917"/>
                          <a14:backgroundMark x1="87365" y1="75632" x2="87365" y2="75632"/>
                          <a14:backgroundMark x1="75271" y1="87184" x2="75271" y2="87184"/>
                          <a14:backgroundMark x1="50542" y1="86643" x2="50542" y2="86643"/>
                          <a14:backgroundMark x1="25271" y1="86282" x2="25271" y2="86282"/>
                          <a14:backgroundMark x1="12635" y1="75090" x2="12635" y2="75090"/>
                          <a14:backgroundMark x1="13538" y1="49819" x2="13538" y2="49819"/>
                          <a14:backgroundMark x1="12635" y1="23646" x2="12635" y2="23646"/>
                          <a14:backgroundMark x1="24729" y1="11913" x2="24729" y2="1191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966114" y="1748277"/>
              <a:ext cx="490701" cy="490701"/>
            </a:xfrm>
            <a:prstGeom prst="rect">
              <a:avLst/>
            </a:prstGeom>
            <a:effectLst/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3B01971C-A9F0-DBF9-B208-23DF23D6E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4524" y="1724492"/>
              <a:ext cx="628738" cy="543001"/>
            </a:xfrm>
            <a:prstGeom prst="rect">
              <a:avLst/>
            </a:prstGeom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831ECA5D-195D-6801-D696-E1B09006B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664244" y="1734106"/>
              <a:ext cx="490903" cy="485843"/>
            </a:xfrm>
            <a:prstGeom prst="rect">
              <a:avLst/>
            </a:prstGeom>
            <a:effectLst/>
          </p:spPr>
        </p:pic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15D6FD4-A525-B8FF-E900-3997A5D0BE1E}"/>
                </a:ext>
              </a:extLst>
            </p:cNvPr>
            <p:cNvCxnSpPr/>
            <p:nvPr/>
          </p:nvCxnSpPr>
          <p:spPr>
            <a:xfrm>
              <a:off x="3848976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18D9A18B-147E-B10C-E7FE-91ECDFA4C485}"/>
                </a:ext>
              </a:extLst>
            </p:cNvPr>
            <p:cNvCxnSpPr/>
            <p:nvPr/>
          </p:nvCxnSpPr>
          <p:spPr>
            <a:xfrm>
              <a:off x="8184965" y="1780617"/>
              <a:ext cx="0" cy="428685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D56886F7-2CBD-A089-9B29-AD5A6CE8D0A6}"/>
                </a:ext>
              </a:extLst>
            </p:cNvPr>
            <p:cNvSpPr txBox="1"/>
            <p:nvPr/>
          </p:nvSpPr>
          <p:spPr>
            <a:xfrm>
              <a:off x="5489995" y="1754185"/>
              <a:ext cx="13567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Backend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tr-TR" sz="1200" dirty="0">
                  <a:solidFill>
                    <a:prstClr val="whit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&amp; API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Distinct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Signals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4E0C49F-85DE-9A83-96B0-8742BC6531FA}"/>
                </a:ext>
              </a:extLst>
            </p:cNvPr>
            <p:cNvSpPr txBox="1"/>
            <p:nvPr/>
          </p:nvSpPr>
          <p:spPr>
            <a:xfrm>
              <a:off x="1079830" y="1766254"/>
              <a:ext cx="158673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Frontend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Developments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099BAFE8-EAD3-C620-2840-BC0A5F164793}"/>
                </a:ext>
              </a:extLst>
            </p:cNvPr>
            <p:cNvSpPr txBox="1"/>
            <p:nvPr/>
          </p:nvSpPr>
          <p:spPr>
            <a:xfrm>
              <a:off x="9207395" y="1766131"/>
              <a:ext cx="95211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AI / </a:t>
              </a: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Agents</a:t>
              </a:r>
              <a:r>
                <a:rPr kumimoji="0" lang="tr-T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0" lang="tr-T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Integrations</a:t>
              </a:r>
              <a:endParaRPr kumimoji="0" lang="tr-T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2423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7AB81D-19BC-6716-597A-3BAC60749C9E}"/>
              </a:ext>
            </a:extLst>
          </p:cNvPr>
          <p:cNvSpPr txBox="1"/>
          <p:nvPr/>
        </p:nvSpPr>
        <p:spPr>
          <a:xfrm>
            <a:off x="1955464" y="2090188"/>
            <a:ext cx="828107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Teşekkürler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4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" panose="02110004020202020204"/>
              </a:rPr>
              <a:t>Account</a:t>
            </a:r>
            <a:r>
              <a:rPr lang="tr-TR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110004020202020204"/>
              </a:rPr>
              <a:t> Planning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</a:t>
            </a:r>
            <a:r>
              <a:rPr lang="tr-TR" sz="2000" dirty="0">
                <a:solidFill>
                  <a:schemeClr val="bg2">
                    <a:lumMod val="50000"/>
                  </a:schemeClr>
                </a:solidFill>
                <a:latin typeface="Aptos" panose="02110004020202020204"/>
              </a:rPr>
              <a:t>-</a:t>
            </a:r>
            <a:r>
              <a:rPr lang="tr-TR" sz="2000" dirty="0" err="1">
                <a:solidFill>
                  <a:schemeClr val="bg2">
                    <a:lumMod val="50000"/>
                  </a:schemeClr>
                </a:solidFill>
                <a:latin typeface="Aptos" panose="02110004020202020204"/>
              </a:rPr>
              <a:t>Native</a:t>
            </a:r>
            <a:r>
              <a:rPr lang="tr-TR" sz="2000" dirty="0">
                <a:solidFill>
                  <a:schemeClr val="bg2">
                    <a:lumMod val="50000"/>
                  </a:schemeClr>
                </a:solidFill>
                <a:latin typeface="Aptos" panose="02110004020202020204"/>
              </a:rPr>
              <a:t> Portfolio Management Platform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07AC3B-2DDA-D53D-C305-E849C97C2E8F}"/>
              </a:ext>
            </a:extLst>
          </p:cNvPr>
          <p:cNvCxnSpPr/>
          <p:nvPr/>
        </p:nvCxnSpPr>
        <p:spPr>
          <a:xfrm>
            <a:off x="2978870" y="3167406"/>
            <a:ext cx="602372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3425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TUSGUID" val="b8d2b10d-9518-4c47-bc9c-5eb82bfa64bf"/>
  <p:tag name="CLASSIFICATION" val="K-6f0bc80f"/>
  <p:tag name="KVKK" val="N-c5b93c79"/>
  <p:tag name="VISUALMARKING" val="NoTa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b8d2b10d-9518-4c47-bc9c-5eb82bfa64bf</TitusGUID>
  <TitusMetadata xmlns="">eyJucyI6Imh0dHBzOlwvXC90aXR1cy5jb20iLCJwcm9wcyI6W3sibiI6IkNsYXNzaWZpY2F0aW9uIiwidmFscyI6W3sidmFsdWUiOiJLLTZmMGJjODBmIn1dfSx7Im4iOiJZYXJkaW0iLCJ2YWxzIjpbXX0seyJuIjoiS1ZLSyIsInZhbHMiOlt7InZhbHVlIjoiTi1jNWI5M2M3OSJ9XX0seyJuIjoiWWFyZGltMiIsInZhbHMiOltdfSx7Im4iOiJWaXN1YWxNYXJraW5nIiwidmFscyI6W3sidmFsdWUiOiJOb1RhZyJ9XX1dfQ==</TitusMetadata>
</titus>
</file>

<file path=customXml/itemProps1.xml><?xml version="1.0" encoding="utf-8"?>
<ds:datastoreItem xmlns:ds="http://schemas.openxmlformats.org/officeDocument/2006/customXml" ds:itemID="{DCB7005D-61C8-486A-9E46-DBE6C06231E9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12739</TotalTime>
  <Words>2011</Words>
  <Application>Microsoft Office PowerPoint</Application>
  <PresentationFormat>Widescreen</PresentationFormat>
  <Paragraphs>632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Display</vt:lpstr>
      <vt:lpstr>Arial</vt:lpstr>
      <vt:lpstr>BBVABentonSans</vt:lpstr>
      <vt:lpstr>Calibri</vt:lpstr>
      <vt:lpstr>Cascadia Code</vt:lpstr>
      <vt:lpstr>Lato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GarantiBBVA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Alper Aydin (Tuzel Musteri Cozumleri)</dc:creator>
  <cp:keywords>K-6f0bc80f, N-c5b93c79</cp:keywords>
  <cp:lastModifiedBy>Alper Aydin (Tuzel Musteri Cozumleri)</cp:lastModifiedBy>
  <cp:revision>48</cp:revision>
  <dcterms:created xsi:type="dcterms:W3CDTF">2026-01-16T06:34:17Z</dcterms:created>
  <dcterms:modified xsi:type="dcterms:W3CDTF">2026-08-28T16:04:47Z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b8d2b10d-9518-4c47-bc9c-5eb82bfa64bf</vt:lpwstr>
  </property>
  <property fmtid="{D5CDD505-2E9C-101B-9397-08002B2CF9AE}" pid="3" name="Classification">
    <vt:lpwstr>K-6f0bc80f</vt:lpwstr>
  </property>
  <property fmtid="{D5CDD505-2E9C-101B-9397-08002B2CF9AE}" pid="4" name="KVKK">
    <vt:lpwstr>N-c5b93c79</vt:lpwstr>
  </property>
  <property fmtid="{D5CDD505-2E9C-101B-9397-08002B2CF9AE}" pid="5" name="VisualMarking">
    <vt:lpwstr>NoTag</vt:lpwstr>
  </property>
</Properties>
</file>